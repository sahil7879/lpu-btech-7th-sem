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029" r:id="rId2"/>
    <p:sldId id="4030" r:id="rId3"/>
    <p:sldId id="4056" r:id="rId4"/>
    <p:sldId id="4031" r:id="rId5"/>
    <p:sldId id="4032" r:id="rId6"/>
    <p:sldId id="4033" r:id="rId7"/>
    <p:sldId id="4058" r:id="rId8"/>
    <p:sldId id="4034" r:id="rId9"/>
    <p:sldId id="4084" r:id="rId10"/>
    <p:sldId id="4035" r:id="rId11"/>
    <p:sldId id="4059" r:id="rId12"/>
    <p:sldId id="4037" r:id="rId13"/>
    <p:sldId id="4051" r:id="rId14"/>
    <p:sldId id="4039" r:id="rId15"/>
    <p:sldId id="4078" r:id="rId16"/>
    <p:sldId id="4060" r:id="rId17"/>
    <p:sldId id="4061" r:id="rId18"/>
    <p:sldId id="4085" r:id="rId19"/>
    <p:sldId id="4086" r:id="rId20"/>
    <p:sldId id="4087" r:id="rId21"/>
    <p:sldId id="4088" r:id="rId22"/>
    <p:sldId id="4062" r:id="rId23"/>
    <p:sldId id="4063" r:id="rId24"/>
    <p:sldId id="4079" r:id="rId25"/>
    <p:sldId id="4081" r:id="rId26"/>
    <p:sldId id="4082" r:id="rId27"/>
    <p:sldId id="4080" r:id="rId28"/>
    <p:sldId id="4083" r:id="rId29"/>
    <p:sldId id="4069" r:id="rId30"/>
    <p:sldId id="4077" r:id="rId31"/>
    <p:sldId id="405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03BD"/>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8F71B5-97DC-420B-986D-B726B01849D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948BFF8-4935-4FA8-B857-B0CA31772F3A}">
      <dgm:prSet/>
      <dgm:spPr/>
      <dgm:t>
        <a:bodyPr/>
        <a:lstStyle/>
        <a:p>
          <a:r>
            <a:rPr lang="en-IN" dirty="0">
              <a:latin typeface="Times New Roman" panose="02020603050405020304" pitchFamily="18" charset="0"/>
              <a:cs typeface="Times New Roman" panose="02020603050405020304" pitchFamily="18" charset="0"/>
            </a:rPr>
            <a:t>Learning by doing, </a:t>
          </a:r>
          <a:endParaRPr lang="en-US" dirty="0">
            <a:latin typeface="Times New Roman" panose="02020603050405020304" pitchFamily="18" charset="0"/>
            <a:cs typeface="Times New Roman" panose="02020603050405020304" pitchFamily="18" charset="0"/>
          </a:endParaRPr>
        </a:p>
      </dgm:t>
    </dgm:pt>
    <dgm:pt modelId="{C5F13682-7EEF-4DF1-BE53-0D5E6E12197B}" type="parTrans" cxnId="{4C059B84-BAC6-43B2-8726-AF4A6807F54E}">
      <dgm:prSet/>
      <dgm:spPr/>
      <dgm:t>
        <a:bodyPr/>
        <a:lstStyle/>
        <a:p>
          <a:endParaRPr lang="en-US"/>
        </a:p>
      </dgm:t>
    </dgm:pt>
    <dgm:pt modelId="{C1B3A9A6-5FCC-4C89-9193-BD872FBF08B3}" type="sibTrans" cxnId="{4C059B84-BAC6-43B2-8726-AF4A6807F54E}">
      <dgm:prSet/>
      <dgm:spPr/>
      <dgm:t>
        <a:bodyPr/>
        <a:lstStyle/>
        <a:p>
          <a:endParaRPr lang="en-US"/>
        </a:p>
      </dgm:t>
    </dgm:pt>
    <dgm:pt modelId="{E32C4748-FD7E-4D84-BFE5-4A32C191D1E0}">
      <dgm:prSet/>
      <dgm:spPr/>
      <dgm:t>
        <a:bodyPr/>
        <a:lstStyle/>
        <a:p>
          <a:r>
            <a:rPr lang="en-IN" dirty="0">
              <a:latin typeface="Times New Roman" panose="02020603050405020304" pitchFamily="18" charset="0"/>
              <a:cs typeface="Times New Roman" panose="02020603050405020304" pitchFamily="18" charset="0"/>
            </a:rPr>
            <a:t>Application-based</a:t>
          </a:r>
          <a:r>
            <a:rPr lang="en-IN" dirty="0"/>
            <a:t> concept elaboration, </a:t>
          </a:r>
          <a:endParaRPr lang="en-US" dirty="0"/>
        </a:p>
      </dgm:t>
    </dgm:pt>
    <dgm:pt modelId="{D454F91C-193A-4534-9EFB-3429F559EF7E}" type="parTrans" cxnId="{4E14E803-DD6E-4504-93F9-65036EF06001}">
      <dgm:prSet/>
      <dgm:spPr/>
      <dgm:t>
        <a:bodyPr/>
        <a:lstStyle/>
        <a:p>
          <a:endParaRPr lang="en-US"/>
        </a:p>
      </dgm:t>
    </dgm:pt>
    <dgm:pt modelId="{4D5BC786-280B-4AC2-A4B9-235A59A2323C}" type="sibTrans" cxnId="{4E14E803-DD6E-4504-93F9-65036EF06001}">
      <dgm:prSet/>
      <dgm:spPr/>
      <dgm:t>
        <a:bodyPr/>
        <a:lstStyle/>
        <a:p>
          <a:endParaRPr lang="en-US"/>
        </a:p>
      </dgm:t>
    </dgm:pt>
    <dgm:pt modelId="{93D1140F-75B5-4FBE-A4D9-F675247D4A30}">
      <dgm:prSet/>
      <dgm:spPr/>
      <dgm:t>
        <a:bodyPr/>
        <a:lstStyle/>
        <a:p>
          <a:r>
            <a:rPr lang="en-IN" dirty="0">
              <a:latin typeface="Times New Roman" panose="02020603050405020304" pitchFamily="18" charset="0"/>
              <a:cs typeface="Times New Roman" panose="02020603050405020304" pitchFamily="18" charset="0"/>
            </a:rPr>
            <a:t>Learning beyond classrooms, </a:t>
          </a:r>
          <a:endParaRPr lang="en-US" dirty="0">
            <a:latin typeface="Times New Roman" panose="02020603050405020304" pitchFamily="18" charset="0"/>
            <a:cs typeface="Times New Roman" panose="02020603050405020304" pitchFamily="18" charset="0"/>
          </a:endParaRPr>
        </a:p>
      </dgm:t>
    </dgm:pt>
    <dgm:pt modelId="{06F24A76-B2BA-4467-BF49-86D77C72E2F4}" type="parTrans" cxnId="{F82145BB-2FD8-41BD-82B5-1CEBA6DCE972}">
      <dgm:prSet/>
      <dgm:spPr/>
      <dgm:t>
        <a:bodyPr/>
        <a:lstStyle/>
        <a:p>
          <a:endParaRPr lang="en-US"/>
        </a:p>
      </dgm:t>
    </dgm:pt>
    <dgm:pt modelId="{634941BD-5591-4865-B2A0-8EB248A2CE63}" type="sibTrans" cxnId="{F82145BB-2FD8-41BD-82B5-1CEBA6DCE972}">
      <dgm:prSet/>
      <dgm:spPr/>
      <dgm:t>
        <a:bodyPr/>
        <a:lstStyle/>
        <a:p>
          <a:endParaRPr lang="en-US"/>
        </a:p>
      </dgm:t>
    </dgm:pt>
    <dgm:pt modelId="{7825FA92-FB37-4D49-959E-1212B693E1C0}">
      <dgm:prSet/>
      <dgm:spPr/>
      <dgm:t>
        <a:bodyPr/>
        <a:lstStyle/>
        <a:p>
          <a:r>
            <a:rPr lang="en-IN" dirty="0">
              <a:latin typeface="Times New Roman" panose="02020603050405020304" pitchFamily="18" charset="0"/>
              <a:cs typeface="Times New Roman" panose="02020603050405020304" pitchFamily="18" charset="0"/>
            </a:rPr>
            <a:t>Activity-based assessments and project driven learning</a:t>
          </a:r>
          <a:endParaRPr lang="en-US" dirty="0">
            <a:latin typeface="Times New Roman" panose="02020603050405020304" pitchFamily="18" charset="0"/>
            <a:cs typeface="Times New Roman" panose="02020603050405020304" pitchFamily="18" charset="0"/>
          </a:endParaRPr>
        </a:p>
      </dgm:t>
    </dgm:pt>
    <dgm:pt modelId="{854523FF-E26D-4A66-A22D-9795736E13C9}" type="parTrans" cxnId="{07DD7D02-B633-41E4-B1EF-ED2F014ABAD8}">
      <dgm:prSet/>
      <dgm:spPr/>
      <dgm:t>
        <a:bodyPr/>
        <a:lstStyle/>
        <a:p>
          <a:endParaRPr lang="en-US"/>
        </a:p>
      </dgm:t>
    </dgm:pt>
    <dgm:pt modelId="{6BC4BD96-A8E1-4CB8-BB96-BE8E16174456}" type="sibTrans" cxnId="{07DD7D02-B633-41E4-B1EF-ED2F014ABAD8}">
      <dgm:prSet/>
      <dgm:spPr/>
      <dgm:t>
        <a:bodyPr/>
        <a:lstStyle/>
        <a:p>
          <a:endParaRPr lang="en-US"/>
        </a:p>
      </dgm:t>
    </dgm:pt>
    <dgm:pt modelId="{99117A5A-F6B9-4F76-AC67-E07BE6C15C3B}">
      <dgm:prSet/>
      <dgm:spPr/>
      <dgm:t>
        <a:bodyPr/>
        <a:lstStyle/>
        <a:p>
          <a:r>
            <a:rPr lang="en-IN" dirty="0">
              <a:latin typeface="Times New Roman" panose="02020603050405020304" pitchFamily="18" charset="0"/>
              <a:cs typeface="Times New Roman" panose="02020603050405020304" pitchFamily="18" charset="0"/>
            </a:rPr>
            <a:t>Less Ppts and more interactive Classroom teaching</a:t>
          </a:r>
          <a:endParaRPr lang="en-US" dirty="0">
            <a:latin typeface="Times New Roman" panose="02020603050405020304" pitchFamily="18" charset="0"/>
            <a:cs typeface="Times New Roman" panose="02020603050405020304" pitchFamily="18" charset="0"/>
          </a:endParaRPr>
        </a:p>
      </dgm:t>
    </dgm:pt>
    <dgm:pt modelId="{FFA3F19B-5D35-4F91-931D-78666D812A30}" type="parTrans" cxnId="{D1F37CAC-06D5-4BC3-80A0-5297A63506EF}">
      <dgm:prSet/>
      <dgm:spPr/>
      <dgm:t>
        <a:bodyPr/>
        <a:lstStyle/>
        <a:p>
          <a:endParaRPr lang="en-US"/>
        </a:p>
      </dgm:t>
    </dgm:pt>
    <dgm:pt modelId="{6CD2F8A3-2CCD-4653-8DE3-C4B8191EC09F}" type="sibTrans" cxnId="{D1F37CAC-06D5-4BC3-80A0-5297A63506EF}">
      <dgm:prSet/>
      <dgm:spPr/>
      <dgm:t>
        <a:bodyPr/>
        <a:lstStyle/>
        <a:p>
          <a:endParaRPr lang="en-US"/>
        </a:p>
      </dgm:t>
    </dgm:pt>
    <dgm:pt modelId="{56B9C2E6-EAF0-4A32-9F7F-1DE41A56AF2F}">
      <dgm:prSet/>
      <dgm:spPr/>
      <dgm:t>
        <a:bodyPr/>
        <a:lstStyle/>
        <a:p>
          <a:r>
            <a:rPr lang="en-IN" dirty="0">
              <a:latin typeface="Times New Roman" panose="02020603050405020304" pitchFamily="18" charset="0"/>
              <a:cs typeface="Times New Roman" panose="02020603050405020304" pitchFamily="18" charset="0"/>
            </a:rPr>
            <a:t>Experiential learning and Many More Initiatives</a:t>
          </a:r>
          <a:endParaRPr lang="en-US" dirty="0">
            <a:latin typeface="Times New Roman" panose="02020603050405020304" pitchFamily="18" charset="0"/>
            <a:cs typeface="Times New Roman" panose="02020603050405020304" pitchFamily="18" charset="0"/>
          </a:endParaRPr>
        </a:p>
      </dgm:t>
    </dgm:pt>
    <dgm:pt modelId="{6E2BE5DA-E5C2-4859-B3B8-A77B8717C9B6}" type="parTrans" cxnId="{6FF19824-2F64-4797-8CE0-21471792C7CC}">
      <dgm:prSet/>
      <dgm:spPr/>
      <dgm:t>
        <a:bodyPr/>
        <a:lstStyle/>
        <a:p>
          <a:endParaRPr lang="en-US"/>
        </a:p>
      </dgm:t>
    </dgm:pt>
    <dgm:pt modelId="{18B18CC0-7ECE-437A-9B5F-64F85053846F}" type="sibTrans" cxnId="{6FF19824-2F64-4797-8CE0-21471792C7CC}">
      <dgm:prSet/>
      <dgm:spPr/>
      <dgm:t>
        <a:bodyPr/>
        <a:lstStyle/>
        <a:p>
          <a:endParaRPr lang="en-US"/>
        </a:p>
      </dgm:t>
    </dgm:pt>
    <dgm:pt modelId="{C22B1A16-9F96-45C4-AE4D-8DF3AD73379D}" type="pres">
      <dgm:prSet presAssocID="{368F71B5-97DC-420B-986D-B726B01849D5}" presName="root" presStyleCnt="0">
        <dgm:presLayoutVars>
          <dgm:dir/>
          <dgm:resizeHandles val="exact"/>
        </dgm:presLayoutVars>
      </dgm:prSet>
      <dgm:spPr/>
    </dgm:pt>
    <dgm:pt modelId="{7EF4D067-5943-4B30-A3FC-3E5BB15C46B5}" type="pres">
      <dgm:prSet presAssocID="{A948BFF8-4935-4FA8-B857-B0CA31772F3A}" presName="compNode" presStyleCnt="0"/>
      <dgm:spPr/>
    </dgm:pt>
    <dgm:pt modelId="{9B15C2EB-B4DA-4972-BF35-237325D38DAE}" type="pres">
      <dgm:prSet presAssocID="{A948BFF8-4935-4FA8-B857-B0CA31772F3A}" presName="bgRect" presStyleLbl="bgShp" presStyleIdx="0" presStyleCnt="6"/>
      <dgm:spPr/>
    </dgm:pt>
    <dgm:pt modelId="{E34122E1-572D-4FF5-A8A3-D21BB7DB93CA}" type="pres">
      <dgm:prSet presAssocID="{A948BFF8-4935-4FA8-B857-B0CA31772F3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Classroom"/>
        </a:ext>
      </dgm:extLst>
    </dgm:pt>
    <dgm:pt modelId="{6F273C39-678A-418E-A7C4-023C120F8B5E}" type="pres">
      <dgm:prSet presAssocID="{A948BFF8-4935-4FA8-B857-B0CA31772F3A}" presName="spaceRect" presStyleCnt="0"/>
      <dgm:spPr/>
    </dgm:pt>
    <dgm:pt modelId="{26D880D5-0E10-46D5-AF46-84A66347304D}" type="pres">
      <dgm:prSet presAssocID="{A948BFF8-4935-4FA8-B857-B0CA31772F3A}" presName="parTx" presStyleLbl="revTx" presStyleIdx="0" presStyleCnt="6">
        <dgm:presLayoutVars>
          <dgm:chMax val="0"/>
          <dgm:chPref val="0"/>
        </dgm:presLayoutVars>
      </dgm:prSet>
      <dgm:spPr/>
    </dgm:pt>
    <dgm:pt modelId="{01890117-9D56-4F46-BAA3-28C78A0A602B}" type="pres">
      <dgm:prSet presAssocID="{C1B3A9A6-5FCC-4C89-9193-BD872FBF08B3}" presName="sibTrans" presStyleCnt="0"/>
      <dgm:spPr/>
    </dgm:pt>
    <dgm:pt modelId="{C5798F5D-B8C6-454A-B552-1F5935CDB288}" type="pres">
      <dgm:prSet presAssocID="{E32C4748-FD7E-4D84-BFE5-4A32C191D1E0}" presName="compNode" presStyleCnt="0"/>
      <dgm:spPr/>
    </dgm:pt>
    <dgm:pt modelId="{140436F3-8E64-4312-8A56-C7094AC1B220}" type="pres">
      <dgm:prSet presAssocID="{E32C4748-FD7E-4D84-BFE5-4A32C191D1E0}" presName="bgRect" presStyleLbl="bgShp" presStyleIdx="1" presStyleCnt="6"/>
      <dgm:spPr/>
    </dgm:pt>
    <dgm:pt modelId="{0185FC2F-AAB7-4702-AAE9-99426835EEC1}" type="pres">
      <dgm:prSet presAssocID="{E32C4748-FD7E-4D84-BFE5-4A32C191D1E0}" presName="iconRect" presStyleLbl="node1" presStyleIdx="1" presStyleCnt="6"/>
      <dgm:spPr>
        <a:blipFill>
          <a:blip xmlns:r="http://schemas.openxmlformats.org/officeDocument/2006/relationships" r:embed="rId2">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Person with Idea"/>
        </a:ext>
      </dgm:extLst>
    </dgm:pt>
    <dgm:pt modelId="{7CCA869E-6E61-49CD-B241-3A3820919F17}" type="pres">
      <dgm:prSet presAssocID="{E32C4748-FD7E-4D84-BFE5-4A32C191D1E0}" presName="spaceRect" presStyleCnt="0"/>
      <dgm:spPr/>
    </dgm:pt>
    <dgm:pt modelId="{2A655994-8D58-41E6-8FA4-099DE71E8D19}" type="pres">
      <dgm:prSet presAssocID="{E32C4748-FD7E-4D84-BFE5-4A32C191D1E0}" presName="parTx" presStyleLbl="revTx" presStyleIdx="1" presStyleCnt="6">
        <dgm:presLayoutVars>
          <dgm:chMax val="0"/>
          <dgm:chPref val="0"/>
        </dgm:presLayoutVars>
      </dgm:prSet>
      <dgm:spPr/>
    </dgm:pt>
    <dgm:pt modelId="{65DC489F-8232-4726-A64D-CF8B3053666E}" type="pres">
      <dgm:prSet presAssocID="{4D5BC786-280B-4AC2-A4B9-235A59A2323C}" presName="sibTrans" presStyleCnt="0"/>
      <dgm:spPr/>
    </dgm:pt>
    <dgm:pt modelId="{9D548E29-51A1-4444-B813-64B15ECEDEC5}" type="pres">
      <dgm:prSet presAssocID="{93D1140F-75B5-4FBE-A4D9-F675247D4A30}" presName="compNode" presStyleCnt="0"/>
      <dgm:spPr/>
    </dgm:pt>
    <dgm:pt modelId="{328B41C5-7753-445C-AFBC-E21E646DC961}" type="pres">
      <dgm:prSet presAssocID="{93D1140F-75B5-4FBE-A4D9-F675247D4A30}" presName="bgRect" presStyleLbl="bgShp" presStyleIdx="2" presStyleCnt="6"/>
      <dgm:spPr/>
    </dgm:pt>
    <dgm:pt modelId="{3AF9422D-EDE6-4A4A-8204-4FB0FB404D30}" type="pres">
      <dgm:prSet presAssocID="{93D1140F-75B5-4FBE-A4D9-F675247D4A30}" presName="iconRect" presStyleLbl="node1" presStyleIdx="2" presStyleCnt="6"/>
      <dgm:spPr>
        <a:blipFill>
          <a:blip xmlns:r="http://schemas.openxmlformats.org/officeDocument/2006/relationships" r:embed="rId3">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Books"/>
        </a:ext>
      </dgm:extLst>
    </dgm:pt>
    <dgm:pt modelId="{72CC828D-ED90-4E78-8477-F0393775B29E}" type="pres">
      <dgm:prSet presAssocID="{93D1140F-75B5-4FBE-A4D9-F675247D4A30}" presName="spaceRect" presStyleCnt="0"/>
      <dgm:spPr/>
    </dgm:pt>
    <dgm:pt modelId="{DC77F95E-9E32-4E21-B279-0CD650814DF6}" type="pres">
      <dgm:prSet presAssocID="{93D1140F-75B5-4FBE-A4D9-F675247D4A30}" presName="parTx" presStyleLbl="revTx" presStyleIdx="2" presStyleCnt="6">
        <dgm:presLayoutVars>
          <dgm:chMax val="0"/>
          <dgm:chPref val="0"/>
        </dgm:presLayoutVars>
      </dgm:prSet>
      <dgm:spPr/>
    </dgm:pt>
    <dgm:pt modelId="{BD173286-C80B-4011-8979-4508F5B11F16}" type="pres">
      <dgm:prSet presAssocID="{634941BD-5591-4865-B2A0-8EB248A2CE63}" presName="sibTrans" presStyleCnt="0"/>
      <dgm:spPr/>
    </dgm:pt>
    <dgm:pt modelId="{E11CF062-027B-4C0E-8C60-D83059348288}" type="pres">
      <dgm:prSet presAssocID="{7825FA92-FB37-4D49-959E-1212B693E1C0}" presName="compNode" presStyleCnt="0"/>
      <dgm:spPr/>
    </dgm:pt>
    <dgm:pt modelId="{2083A08C-9E8C-4420-899B-0FD7762F4AC0}" type="pres">
      <dgm:prSet presAssocID="{7825FA92-FB37-4D49-959E-1212B693E1C0}" presName="bgRect" presStyleLbl="bgShp" presStyleIdx="3" presStyleCnt="6"/>
      <dgm:spPr/>
    </dgm:pt>
    <dgm:pt modelId="{2438ACB6-C481-49C0-BF7A-61F749D70B20}" type="pres">
      <dgm:prSet presAssocID="{7825FA92-FB37-4D49-959E-1212B693E1C0}" presName="iconRect" presStyleLbl="node1" presStyleIdx="3" presStyleCnt="6"/>
      <dgm:spPr>
        <a:blipFill>
          <a:blip xmlns:r="http://schemas.openxmlformats.org/officeDocument/2006/relationships" r:embed="rId4">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Check List"/>
        </a:ext>
      </dgm:extLst>
    </dgm:pt>
    <dgm:pt modelId="{2DE913EF-6181-48C3-8D35-E004CCBC18AB}" type="pres">
      <dgm:prSet presAssocID="{7825FA92-FB37-4D49-959E-1212B693E1C0}" presName="spaceRect" presStyleCnt="0"/>
      <dgm:spPr/>
    </dgm:pt>
    <dgm:pt modelId="{3FC5D117-1BDD-4B5C-8079-A76DB1CD92CF}" type="pres">
      <dgm:prSet presAssocID="{7825FA92-FB37-4D49-959E-1212B693E1C0}" presName="parTx" presStyleLbl="revTx" presStyleIdx="3" presStyleCnt="6">
        <dgm:presLayoutVars>
          <dgm:chMax val="0"/>
          <dgm:chPref val="0"/>
        </dgm:presLayoutVars>
      </dgm:prSet>
      <dgm:spPr/>
    </dgm:pt>
    <dgm:pt modelId="{76A28F0D-63E2-42F1-8DDF-04A38A6687A4}" type="pres">
      <dgm:prSet presAssocID="{6BC4BD96-A8E1-4CB8-BB96-BE8E16174456}" presName="sibTrans" presStyleCnt="0"/>
      <dgm:spPr/>
    </dgm:pt>
    <dgm:pt modelId="{11B18146-0382-41FF-84F4-0ED14A2C6899}" type="pres">
      <dgm:prSet presAssocID="{99117A5A-F6B9-4F76-AC67-E07BE6C15C3B}" presName="compNode" presStyleCnt="0"/>
      <dgm:spPr/>
    </dgm:pt>
    <dgm:pt modelId="{A27C687C-652E-41E2-B1DD-8EBCF909F86B}" type="pres">
      <dgm:prSet presAssocID="{99117A5A-F6B9-4F76-AC67-E07BE6C15C3B}" presName="bgRect" presStyleLbl="bgShp" presStyleIdx="4" presStyleCnt="6"/>
      <dgm:spPr/>
    </dgm:pt>
    <dgm:pt modelId="{D9368F99-5C7B-4772-8A81-1A034BA3CB68}" type="pres">
      <dgm:prSet presAssocID="{99117A5A-F6B9-4F76-AC67-E07BE6C15C3B}" presName="iconRect" presStyleLbl="node1" presStyleIdx="4" presStyleCnt="6"/>
      <dgm:spPr>
        <a:blipFill>
          <a:blip xmlns:r="http://schemas.openxmlformats.org/officeDocument/2006/relationships" r:embed="rId5">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Teacher"/>
        </a:ext>
      </dgm:extLst>
    </dgm:pt>
    <dgm:pt modelId="{8F86CB5E-ED01-4D25-A8FF-954227673CD0}" type="pres">
      <dgm:prSet presAssocID="{99117A5A-F6B9-4F76-AC67-E07BE6C15C3B}" presName="spaceRect" presStyleCnt="0"/>
      <dgm:spPr/>
    </dgm:pt>
    <dgm:pt modelId="{AC2FFC2E-06AE-4508-9BD3-350237B1F560}" type="pres">
      <dgm:prSet presAssocID="{99117A5A-F6B9-4F76-AC67-E07BE6C15C3B}" presName="parTx" presStyleLbl="revTx" presStyleIdx="4" presStyleCnt="6">
        <dgm:presLayoutVars>
          <dgm:chMax val="0"/>
          <dgm:chPref val="0"/>
        </dgm:presLayoutVars>
      </dgm:prSet>
      <dgm:spPr/>
    </dgm:pt>
    <dgm:pt modelId="{12C06922-646C-4FD9-B218-EAA69309CE72}" type="pres">
      <dgm:prSet presAssocID="{6CD2F8A3-2CCD-4653-8DE3-C4B8191EC09F}" presName="sibTrans" presStyleCnt="0"/>
      <dgm:spPr/>
    </dgm:pt>
    <dgm:pt modelId="{91EF8921-658A-4185-B1E2-D7D8CC705404}" type="pres">
      <dgm:prSet presAssocID="{56B9C2E6-EAF0-4A32-9F7F-1DE41A56AF2F}" presName="compNode" presStyleCnt="0"/>
      <dgm:spPr/>
    </dgm:pt>
    <dgm:pt modelId="{C87A0861-635A-4812-9573-E79341186156}" type="pres">
      <dgm:prSet presAssocID="{56B9C2E6-EAF0-4A32-9F7F-1DE41A56AF2F}" presName="bgRect" presStyleLbl="bgShp" presStyleIdx="5" presStyleCnt="6"/>
      <dgm:spPr/>
    </dgm:pt>
    <dgm:pt modelId="{7C1F3F9F-6C66-4706-864B-A02A7BE71A23}" type="pres">
      <dgm:prSet presAssocID="{56B9C2E6-EAF0-4A32-9F7F-1DE41A56AF2F}" presName="iconRect" presStyleLbl="node1" presStyleIdx="5" presStyleCnt="6"/>
      <dgm:spPr>
        <a:blipFill>
          <a:blip xmlns:r="http://schemas.openxmlformats.org/officeDocument/2006/relationships" r:embed="rId6">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Head with Gears"/>
        </a:ext>
      </dgm:extLst>
    </dgm:pt>
    <dgm:pt modelId="{AE7E486F-422A-4D4C-9417-DD394607FCC0}" type="pres">
      <dgm:prSet presAssocID="{56B9C2E6-EAF0-4A32-9F7F-1DE41A56AF2F}" presName="spaceRect" presStyleCnt="0"/>
      <dgm:spPr/>
    </dgm:pt>
    <dgm:pt modelId="{D58A1907-4DE9-4B76-AC50-30EF43FEB2F1}" type="pres">
      <dgm:prSet presAssocID="{56B9C2E6-EAF0-4A32-9F7F-1DE41A56AF2F}" presName="parTx" presStyleLbl="revTx" presStyleIdx="5" presStyleCnt="6">
        <dgm:presLayoutVars>
          <dgm:chMax val="0"/>
          <dgm:chPref val="0"/>
        </dgm:presLayoutVars>
      </dgm:prSet>
      <dgm:spPr/>
    </dgm:pt>
  </dgm:ptLst>
  <dgm:cxnLst>
    <dgm:cxn modelId="{07DD7D02-B633-41E4-B1EF-ED2F014ABAD8}" srcId="{368F71B5-97DC-420B-986D-B726B01849D5}" destId="{7825FA92-FB37-4D49-959E-1212B693E1C0}" srcOrd="3" destOrd="0" parTransId="{854523FF-E26D-4A66-A22D-9795736E13C9}" sibTransId="{6BC4BD96-A8E1-4CB8-BB96-BE8E16174456}"/>
    <dgm:cxn modelId="{4E14E803-DD6E-4504-93F9-65036EF06001}" srcId="{368F71B5-97DC-420B-986D-B726B01849D5}" destId="{E32C4748-FD7E-4D84-BFE5-4A32C191D1E0}" srcOrd="1" destOrd="0" parTransId="{D454F91C-193A-4534-9EFB-3429F559EF7E}" sibTransId="{4D5BC786-280B-4AC2-A4B9-235A59A2323C}"/>
    <dgm:cxn modelId="{23192006-2791-4530-BDAF-818DE06F7224}" type="presOf" srcId="{A948BFF8-4935-4FA8-B857-B0CA31772F3A}" destId="{26D880D5-0E10-46D5-AF46-84A66347304D}" srcOrd="0" destOrd="0" presId="urn:microsoft.com/office/officeart/2018/2/layout/IconVerticalSolidList"/>
    <dgm:cxn modelId="{6FF19824-2F64-4797-8CE0-21471792C7CC}" srcId="{368F71B5-97DC-420B-986D-B726B01849D5}" destId="{56B9C2E6-EAF0-4A32-9F7F-1DE41A56AF2F}" srcOrd="5" destOrd="0" parTransId="{6E2BE5DA-E5C2-4859-B3B8-A77B8717C9B6}" sibTransId="{18B18CC0-7ECE-437A-9B5F-64F85053846F}"/>
    <dgm:cxn modelId="{75BE0C2B-A910-48FF-B640-E64640054E21}" type="presOf" srcId="{368F71B5-97DC-420B-986D-B726B01849D5}" destId="{C22B1A16-9F96-45C4-AE4D-8DF3AD73379D}" srcOrd="0" destOrd="0" presId="urn:microsoft.com/office/officeart/2018/2/layout/IconVerticalSolidList"/>
    <dgm:cxn modelId="{AF9AFA2D-C4C9-4985-9EDB-03F71091E20A}" type="presOf" srcId="{99117A5A-F6B9-4F76-AC67-E07BE6C15C3B}" destId="{AC2FFC2E-06AE-4508-9BD3-350237B1F560}" srcOrd="0" destOrd="0" presId="urn:microsoft.com/office/officeart/2018/2/layout/IconVerticalSolidList"/>
    <dgm:cxn modelId="{B5127B3D-4A06-4430-8E1A-9989A718EE53}" type="presOf" srcId="{7825FA92-FB37-4D49-959E-1212B693E1C0}" destId="{3FC5D117-1BDD-4B5C-8079-A76DB1CD92CF}" srcOrd="0" destOrd="0" presId="urn:microsoft.com/office/officeart/2018/2/layout/IconVerticalSolidList"/>
    <dgm:cxn modelId="{B63AC543-D06A-4FBF-87D7-617AEAA609A7}" type="presOf" srcId="{56B9C2E6-EAF0-4A32-9F7F-1DE41A56AF2F}" destId="{D58A1907-4DE9-4B76-AC50-30EF43FEB2F1}" srcOrd="0" destOrd="0" presId="urn:microsoft.com/office/officeart/2018/2/layout/IconVerticalSolidList"/>
    <dgm:cxn modelId="{4C059B84-BAC6-43B2-8726-AF4A6807F54E}" srcId="{368F71B5-97DC-420B-986D-B726B01849D5}" destId="{A948BFF8-4935-4FA8-B857-B0CA31772F3A}" srcOrd="0" destOrd="0" parTransId="{C5F13682-7EEF-4DF1-BE53-0D5E6E12197B}" sibTransId="{C1B3A9A6-5FCC-4C89-9193-BD872FBF08B3}"/>
    <dgm:cxn modelId="{CC8F859C-82E8-4BED-8BA4-3C2AC798FDB6}" type="presOf" srcId="{E32C4748-FD7E-4D84-BFE5-4A32C191D1E0}" destId="{2A655994-8D58-41E6-8FA4-099DE71E8D19}" srcOrd="0" destOrd="0" presId="urn:microsoft.com/office/officeart/2018/2/layout/IconVerticalSolidList"/>
    <dgm:cxn modelId="{D1F37CAC-06D5-4BC3-80A0-5297A63506EF}" srcId="{368F71B5-97DC-420B-986D-B726B01849D5}" destId="{99117A5A-F6B9-4F76-AC67-E07BE6C15C3B}" srcOrd="4" destOrd="0" parTransId="{FFA3F19B-5D35-4F91-931D-78666D812A30}" sibTransId="{6CD2F8A3-2CCD-4653-8DE3-C4B8191EC09F}"/>
    <dgm:cxn modelId="{77427BAF-2B5F-4AC1-9FE2-1B89A8831F79}" type="presOf" srcId="{93D1140F-75B5-4FBE-A4D9-F675247D4A30}" destId="{DC77F95E-9E32-4E21-B279-0CD650814DF6}" srcOrd="0" destOrd="0" presId="urn:microsoft.com/office/officeart/2018/2/layout/IconVerticalSolidList"/>
    <dgm:cxn modelId="{F82145BB-2FD8-41BD-82B5-1CEBA6DCE972}" srcId="{368F71B5-97DC-420B-986D-B726B01849D5}" destId="{93D1140F-75B5-4FBE-A4D9-F675247D4A30}" srcOrd="2" destOrd="0" parTransId="{06F24A76-B2BA-4467-BF49-86D77C72E2F4}" sibTransId="{634941BD-5591-4865-B2A0-8EB248A2CE63}"/>
    <dgm:cxn modelId="{FEABDEB7-410B-478C-A04D-DFB42A13D6D5}" type="presParOf" srcId="{C22B1A16-9F96-45C4-AE4D-8DF3AD73379D}" destId="{7EF4D067-5943-4B30-A3FC-3E5BB15C46B5}" srcOrd="0" destOrd="0" presId="urn:microsoft.com/office/officeart/2018/2/layout/IconVerticalSolidList"/>
    <dgm:cxn modelId="{68C9DCED-9865-4E5E-AA3F-6C8E11866A48}" type="presParOf" srcId="{7EF4D067-5943-4B30-A3FC-3E5BB15C46B5}" destId="{9B15C2EB-B4DA-4972-BF35-237325D38DAE}" srcOrd="0" destOrd="0" presId="urn:microsoft.com/office/officeart/2018/2/layout/IconVerticalSolidList"/>
    <dgm:cxn modelId="{1D857E2A-DE7F-4F87-8085-3DA8B2180234}" type="presParOf" srcId="{7EF4D067-5943-4B30-A3FC-3E5BB15C46B5}" destId="{E34122E1-572D-4FF5-A8A3-D21BB7DB93CA}" srcOrd="1" destOrd="0" presId="urn:microsoft.com/office/officeart/2018/2/layout/IconVerticalSolidList"/>
    <dgm:cxn modelId="{012CB039-5CCC-4699-A44F-F928582EB255}" type="presParOf" srcId="{7EF4D067-5943-4B30-A3FC-3E5BB15C46B5}" destId="{6F273C39-678A-418E-A7C4-023C120F8B5E}" srcOrd="2" destOrd="0" presId="urn:microsoft.com/office/officeart/2018/2/layout/IconVerticalSolidList"/>
    <dgm:cxn modelId="{EC76BDB3-623B-42B9-8C20-15EB403A6D5A}" type="presParOf" srcId="{7EF4D067-5943-4B30-A3FC-3E5BB15C46B5}" destId="{26D880D5-0E10-46D5-AF46-84A66347304D}" srcOrd="3" destOrd="0" presId="urn:microsoft.com/office/officeart/2018/2/layout/IconVerticalSolidList"/>
    <dgm:cxn modelId="{3D94E2D0-D750-414F-9D3B-41D2E2F49693}" type="presParOf" srcId="{C22B1A16-9F96-45C4-AE4D-8DF3AD73379D}" destId="{01890117-9D56-4F46-BAA3-28C78A0A602B}" srcOrd="1" destOrd="0" presId="urn:microsoft.com/office/officeart/2018/2/layout/IconVerticalSolidList"/>
    <dgm:cxn modelId="{CA130F56-2EC2-4501-868E-DAA17DF0D25E}" type="presParOf" srcId="{C22B1A16-9F96-45C4-AE4D-8DF3AD73379D}" destId="{C5798F5D-B8C6-454A-B552-1F5935CDB288}" srcOrd="2" destOrd="0" presId="urn:microsoft.com/office/officeart/2018/2/layout/IconVerticalSolidList"/>
    <dgm:cxn modelId="{CB4CD22E-3116-4E1F-9DE4-1955CFBCC45C}" type="presParOf" srcId="{C5798F5D-B8C6-454A-B552-1F5935CDB288}" destId="{140436F3-8E64-4312-8A56-C7094AC1B220}" srcOrd="0" destOrd="0" presId="urn:microsoft.com/office/officeart/2018/2/layout/IconVerticalSolidList"/>
    <dgm:cxn modelId="{1B53ECD2-331B-4329-95DF-BF4C8B8F9AD0}" type="presParOf" srcId="{C5798F5D-B8C6-454A-B552-1F5935CDB288}" destId="{0185FC2F-AAB7-4702-AAE9-99426835EEC1}" srcOrd="1" destOrd="0" presId="urn:microsoft.com/office/officeart/2018/2/layout/IconVerticalSolidList"/>
    <dgm:cxn modelId="{0ED9831A-0150-4075-B19D-B9BE6D891FCC}" type="presParOf" srcId="{C5798F5D-B8C6-454A-B552-1F5935CDB288}" destId="{7CCA869E-6E61-49CD-B241-3A3820919F17}" srcOrd="2" destOrd="0" presId="urn:microsoft.com/office/officeart/2018/2/layout/IconVerticalSolidList"/>
    <dgm:cxn modelId="{39FA0603-EBC7-4B5C-8BF3-F2014D6DA615}" type="presParOf" srcId="{C5798F5D-B8C6-454A-B552-1F5935CDB288}" destId="{2A655994-8D58-41E6-8FA4-099DE71E8D19}" srcOrd="3" destOrd="0" presId="urn:microsoft.com/office/officeart/2018/2/layout/IconVerticalSolidList"/>
    <dgm:cxn modelId="{6BFA7AC8-4C33-489C-9927-38BE862F41FB}" type="presParOf" srcId="{C22B1A16-9F96-45C4-AE4D-8DF3AD73379D}" destId="{65DC489F-8232-4726-A64D-CF8B3053666E}" srcOrd="3" destOrd="0" presId="urn:microsoft.com/office/officeart/2018/2/layout/IconVerticalSolidList"/>
    <dgm:cxn modelId="{9D3CEE65-CB11-41D1-9C6F-9DA475081319}" type="presParOf" srcId="{C22B1A16-9F96-45C4-AE4D-8DF3AD73379D}" destId="{9D548E29-51A1-4444-B813-64B15ECEDEC5}" srcOrd="4" destOrd="0" presId="urn:microsoft.com/office/officeart/2018/2/layout/IconVerticalSolidList"/>
    <dgm:cxn modelId="{78EA7337-5030-46AD-A6C4-3241D3A33ED3}" type="presParOf" srcId="{9D548E29-51A1-4444-B813-64B15ECEDEC5}" destId="{328B41C5-7753-445C-AFBC-E21E646DC961}" srcOrd="0" destOrd="0" presId="urn:microsoft.com/office/officeart/2018/2/layout/IconVerticalSolidList"/>
    <dgm:cxn modelId="{94E05B45-4A23-47CF-BF17-5F604553473A}" type="presParOf" srcId="{9D548E29-51A1-4444-B813-64B15ECEDEC5}" destId="{3AF9422D-EDE6-4A4A-8204-4FB0FB404D30}" srcOrd="1" destOrd="0" presId="urn:microsoft.com/office/officeart/2018/2/layout/IconVerticalSolidList"/>
    <dgm:cxn modelId="{92CAFEE1-F393-4ADC-90D8-ADBA6DF90322}" type="presParOf" srcId="{9D548E29-51A1-4444-B813-64B15ECEDEC5}" destId="{72CC828D-ED90-4E78-8477-F0393775B29E}" srcOrd="2" destOrd="0" presId="urn:microsoft.com/office/officeart/2018/2/layout/IconVerticalSolidList"/>
    <dgm:cxn modelId="{78B40C09-94AC-45D6-8399-AC165EF2D386}" type="presParOf" srcId="{9D548E29-51A1-4444-B813-64B15ECEDEC5}" destId="{DC77F95E-9E32-4E21-B279-0CD650814DF6}" srcOrd="3" destOrd="0" presId="urn:microsoft.com/office/officeart/2018/2/layout/IconVerticalSolidList"/>
    <dgm:cxn modelId="{1B40B0F1-D68F-4DE6-881F-FADAE25DF15A}" type="presParOf" srcId="{C22B1A16-9F96-45C4-AE4D-8DF3AD73379D}" destId="{BD173286-C80B-4011-8979-4508F5B11F16}" srcOrd="5" destOrd="0" presId="urn:microsoft.com/office/officeart/2018/2/layout/IconVerticalSolidList"/>
    <dgm:cxn modelId="{DAA6CAC9-74A7-479D-A1BC-6343BF99CA14}" type="presParOf" srcId="{C22B1A16-9F96-45C4-AE4D-8DF3AD73379D}" destId="{E11CF062-027B-4C0E-8C60-D83059348288}" srcOrd="6" destOrd="0" presId="urn:microsoft.com/office/officeart/2018/2/layout/IconVerticalSolidList"/>
    <dgm:cxn modelId="{D7D89009-F959-482D-8B73-8703BED2E1A4}" type="presParOf" srcId="{E11CF062-027B-4C0E-8C60-D83059348288}" destId="{2083A08C-9E8C-4420-899B-0FD7762F4AC0}" srcOrd="0" destOrd="0" presId="urn:microsoft.com/office/officeart/2018/2/layout/IconVerticalSolidList"/>
    <dgm:cxn modelId="{5E38B6A3-9E95-429E-ABBE-FBFD0125E281}" type="presParOf" srcId="{E11CF062-027B-4C0E-8C60-D83059348288}" destId="{2438ACB6-C481-49C0-BF7A-61F749D70B20}" srcOrd="1" destOrd="0" presId="urn:microsoft.com/office/officeart/2018/2/layout/IconVerticalSolidList"/>
    <dgm:cxn modelId="{69601E80-E0E2-4BBA-A51A-179A19B552BA}" type="presParOf" srcId="{E11CF062-027B-4C0E-8C60-D83059348288}" destId="{2DE913EF-6181-48C3-8D35-E004CCBC18AB}" srcOrd="2" destOrd="0" presId="urn:microsoft.com/office/officeart/2018/2/layout/IconVerticalSolidList"/>
    <dgm:cxn modelId="{06DE0652-0BF7-4D57-A0F7-C8BC20C5D8AA}" type="presParOf" srcId="{E11CF062-027B-4C0E-8C60-D83059348288}" destId="{3FC5D117-1BDD-4B5C-8079-A76DB1CD92CF}" srcOrd="3" destOrd="0" presId="urn:microsoft.com/office/officeart/2018/2/layout/IconVerticalSolidList"/>
    <dgm:cxn modelId="{4B6DAA5B-0F9A-4A20-84DE-1EFAAB0D60DD}" type="presParOf" srcId="{C22B1A16-9F96-45C4-AE4D-8DF3AD73379D}" destId="{76A28F0D-63E2-42F1-8DDF-04A38A6687A4}" srcOrd="7" destOrd="0" presId="urn:microsoft.com/office/officeart/2018/2/layout/IconVerticalSolidList"/>
    <dgm:cxn modelId="{E832C929-23F8-41A8-BFF0-26B1D6588FE4}" type="presParOf" srcId="{C22B1A16-9F96-45C4-AE4D-8DF3AD73379D}" destId="{11B18146-0382-41FF-84F4-0ED14A2C6899}" srcOrd="8" destOrd="0" presId="urn:microsoft.com/office/officeart/2018/2/layout/IconVerticalSolidList"/>
    <dgm:cxn modelId="{DB72A3DC-D23F-413A-BEB6-2CC59C2FDEDB}" type="presParOf" srcId="{11B18146-0382-41FF-84F4-0ED14A2C6899}" destId="{A27C687C-652E-41E2-B1DD-8EBCF909F86B}" srcOrd="0" destOrd="0" presId="urn:microsoft.com/office/officeart/2018/2/layout/IconVerticalSolidList"/>
    <dgm:cxn modelId="{C1FEF5D9-E260-41CD-ACFD-77C60C98803D}" type="presParOf" srcId="{11B18146-0382-41FF-84F4-0ED14A2C6899}" destId="{D9368F99-5C7B-4772-8A81-1A034BA3CB68}" srcOrd="1" destOrd="0" presId="urn:microsoft.com/office/officeart/2018/2/layout/IconVerticalSolidList"/>
    <dgm:cxn modelId="{AB61249A-738E-4638-8327-387F46803303}" type="presParOf" srcId="{11B18146-0382-41FF-84F4-0ED14A2C6899}" destId="{8F86CB5E-ED01-4D25-A8FF-954227673CD0}" srcOrd="2" destOrd="0" presId="urn:microsoft.com/office/officeart/2018/2/layout/IconVerticalSolidList"/>
    <dgm:cxn modelId="{A99AF929-1994-4597-8A21-EFDF5A611FC8}" type="presParOf" srcId="{11B18146-0382-41FF-84F4-0ED14A2C6899}" destId="{AC2FFC2E-06AE-4508-9BD3-350237B1F560}" srcOrd="3" destOrd="0" presId="urn:microsoft.com/office/officeart/2018/2/layout/IconVerticalSolidList"/>
    <dgm:cxn modelId="{A1ED006A-9665-4395-9278-9FF650F4DB3B}" type="presParOf" srcId="{C22B1A16-9F96-45C4-AE4D-8DF3AD73379D}" destId="{12C06922-646C-4FD9-B218-EAA69309CE72}" srcOrd="9" destOrd="0" presId="urn:microsoft.com/office/officeart/2018/2/layout/IconVerticalSolidList"/>
    <dgm:cxn modelId="{701A2C38-9595-4A9F-A296-87BBF25E6737}" type="presParOf" srcId="{C22B1A16-9F96-45C4-AE4D-8DF3AD73379D}" destId="{91EF8921-658A-4185-B1E2-D7D8CC705404}" srcOrd="10" destOrd="0" presId="urn:microsoft.com/office/officeart/2018/2/layout/IconVerticalSolidList"/>
    <dgm:cxn modelId="{693B4CFE-FDD6-46AA-9C60-611E655939AB}" type="presParOf" srcId="{91EF8921-658A-4185-B1E2-D7D8CC705404}" destId="{C87A0861-635A-4812-9573-E79341186156}" srcOrd="0" destOrd="0" presId="urn:microsoft.com/office/officeart/2018/2/layout/IconVerticalSolidList"/>
    <dgm:cxn modelId="{98E2C98B-B6EF-4B08-9B68-39F8035D1369}" type="presParOf" srcId="{91EF8921-658A-4185-B1E2-D7D8CC705404}" destId="{7C1F3F9F-6C66-4706-864B-A02A7BE71A23}" srcOrd="1" destOrd="0" presId="urn:microsoft.com/office/officeart/2018/2/layout/IconVerticalSolidList"/>
    <dgm:cxn modelId="{31703C3C-16A3-4CC0-894E-5013CD9D3DD9}" type="presParOf" srcId="{91EF8921-658A-4185-B1E2-D7D8CC705404}" destId="{AE7E486F-422A-4D4C-9417-DD394607FCC0}" srcOrd="2" destOrd="0" presId="urn:microsoft.com/office/officeart/2018/2/layout/IconVerticalSolidList"/>
    <dgm:cxn modelId="{F1E937D9-169D-400E-9269-D5AE44675C57}" type="presParOf" srcId="{91EF8921-658A-4185-B1E2-D7D8CC705404}" destId="{D58A1907-4DE9-4B76-AC50-30EF43FEB2F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B3E95C-D98F-45E4-979F-13F2EE6EB5EB}"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5F86770-652B-4C3C-88D9-9D9274490915}">
      <dgm:prSet custT="1">
        <dgm:style>
          <a:lnRef idx="2">
            <a:schemeClr val="accent2"/>
          </a:lnRef>
          <a:fillRef idx="1">
            <a:schemeClr val="lt1"/>
          </a:fillRef>
          <a:effectRef idx="0">
            <a:schemeClr val="accent2"/>
          </a:effectRef>
          <a:fontRef idx="minor">
            <a:schemeClr val="dk1"/>
          </a:fontRef>
        </dgm:style>
      </dgm:prSet>
      <dgm:spPr/>
      <dgm:t>
        <a:bodyPr/>
        <a:lstStyle/>
        <a:p>
          <a:pPr algn="ctr"/>
          <a:r>
            <a:rPr lang="en-IN" sz="2700" dirty="0">
              <a:latin typeface="Times New Roman" panose="02020603050405020304" pitchFamily="18" charset="0"/>
              <a:cs typeface="Times New Roman" panose="02020603050405020304" pitchFamily="18" charset="0"/>
            </a:rPr>
            <a:t>Students apply through UMS/LMS</a:t>
          </a:r>
        </a:p>
      </dgm:t>
    </dgm:pt>
    <dgm:pt modelId="{3ABE9412-6CA1-4947-BFA8-18359DF64CFC}" type="parTrans" cxnId="{99FA4380-8F5D-4DAE-8D0C-687B9B045346}">
      <dgm:prSet/>
      <dgm:spPr/>
      <dgm:t>
        <a:bodyPr/>
        <a:lstStyle/>
        <a:p>
          <a:endParaRPr lang="en-IN"/>
        </a:p>
      </dgm:t>
    </dgm:pt>
    <dgm:pt modelId="{E2EBA6B0-8EBE-4FAB-A4CB-A0F2CFBC8F78}" type="sibTrans" cxnId="{99FA4380-8F5D-4DAE-8D0C-687B9B045346}">
      <dgm:prSet/>
      <dgm:spPr/>
      <dgm:t>
        <a:bodyPr/>
        <a:lstStyle/>
        <a:p>
          <a:endParaRPr lang="en-IN"/>
        </a:p>
      </dgm:t>
    </dgm:pt>
    <dgm:pt modelId="{573A1A33-B447-4490-B812-FA87290FE3CA}" type="pres">
      <dgm:prSet presAssocID="{63B3E95C-D98F-45E4-979F-13F2EE6EB5EB}" presName="linear" presStyleCnt="0">
        <dgm:presLayoutVars>
          <dgm:animLvl val="lvl"/>
          <dgm:resizeHandles val="exact"/>
        </dgm:presLayoutVars>
      </dgm:prSet>
      <dgm:spPr/>
    </dgm:pt>
    <dgm:pt modelId="{D0C262B1-4527-4945-94F5-6BCABAA4D21F}" type="pres">
      <dgm:prSet presAssocID="{95F86770-652B-4C3C-88D9-9D9274490915}" presName="parentText" presStyleLbl="node1" presStyleIdx="0" presStyleCnt="1" custLinFactNeighborX="-2147" custLinFactNeighborY="-9738">
        <dgm:presLayoutVars>
          <dgm:chMax val="0"/>
          <dgm:bulletEnabled val="1"/>
        </dgm:presLayoutVars>
      </dgm:prSet>
      <dgm:spPr/>
    </dgm:pt>
  </dgm:ptLst>
  <dgm:cxnLst>
    <dgm:cxn modelId="{578AB97B-B51F-4F6F-93AF-AE92E203BCC3}" type="presOf" srcId="{95F86770-652B-4C3C-88D9-9D9274490915}" destId="{D0C262B1-4527-4945-94F5-6BCABAA4D21F}" srcOrd="0" destOrd="0" presId="urn:microsoft.com/office/officeart/2005/8/layout/vList2"/>
    <dgm:cxn modelId="{99FA4380-8F5D-4DAE-8D0C-687B9B045346}" srcId="{63B3E95C-D98F-45E4-979F-13F2EE6EB5EB}" destId="{95F86770-652B-4C3C-88D9-9D9274490915}" srcOrd="0" destOrd="0" parTransId="{3ABE9412-6CA1-4947-BFA8-18359DF64CFC}" sibTransId="{E2EBA6B0-8EBE-4FAB-A4CB-A0F2CFBC8F78}"/>
    <dgm:cxn modelId="{5C877FFA-75FC-4FB8-92E4-2376C7007115}" type="presOf" srcId="{63B3E95C-D98F-45E4-979F-13F2EE6EB5EB}" destId="{573A1A33-B447-4490-B812-FA87290FE3CA}" srcOrd="0" destOrd="0" presId="urn:microsoft.com/office/officeart/2005/8/layout/vList2"/>
    <dgm:cxn modelId="{CA7C17C4-163A-4705-AE7B-3748365B690C}" type="presParOf" srcId="{573A1A33-B447-4490-B812-FA87290FE3CA}" destId="{D0C262B1-4527-4945-94F5-6BCABAA4D21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6CADBC-FDE4-4CFC-9D4F-09C7FACDA0D5}"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28BA5503-C2A8-4666-BD85-998EAEDA2E69}">
      <dgm:prSet custT="1">
        <dgm:style>
          <a:lnRef idx="2">
            <a:schemeClr val="accent2"/>
          </a:lnRef>
          <a:fillRef idx="1">
            <a:schemeClr val="lt1"/>
          </a:fillRef>
          <a:effectRef idx="0">
            <a:schemeClr val="accent2"/>
          </a:effectRef>
          <a:fontRef idx="minor">
            <a:schemeClr val="dk1"/>
          </a:fontRef>
        </dgm:style>
      </dgm:prSet>
      <dgm:spPr/>
      <dgm:t>
        <a:bodyPr/>
        <a:lstStyle/>
        <a:p>
          <a:pPr algn="ctr"/>
          <a:r>
            <a:rPr lang="en-IN" sz="2700" dirty="0">
              <a:latin typeface="Times New Roman" panose="02020603050405020304" pitchFamily="18" charset="0"/>
              <a:cs typeface="Times New Roman" panose="02020603050405020304" pitchFamily="18" charset="0"/>
            </a:rPr>
            <a:t>Standing Committee verifies eligibility and supporting documents</a:t>
          </a:r>
        </a:p>
      </dgm:t>
    </dgm:pt>
    <dgm:pt modelId="{6B5714E0-954B-438B-8BEF-4A14080EC45D}" type="parTrans" cxnId="{D1648F8A-C698-45C2-89E0-9D9108304F73}">
      <dgm:prSet/>
      <dgm:spPr/>
      <dgm:t>
        <a:bodyPr/>
        <a:lstStyle/>
        <a:p>
          <a:endParaRPr lang="en-IN"/>
        </a:p>
      </dgm:t>
    </dgm:pt>
    <dgm:pt modelId="{6DF08AAA-4E23-4B48-8FBB-000C8883062F}" type="sibTrans" cxnId="{D1648F8A-C698-45C2-89E0-9D9108304F73}">
      <dgm:prSet/>
      <dgm:spPr/>
      <dgm:t>
        <a:bodyPr/>
        <a:lstStyle/>
        <a:p>
          <a:endParaRPr lang="en-IN"/>
        </a:p>
      </dgm:t>
    </dgm:pt>
    <dgm:pt modelId="{CB892914-EDDF-439C-979F-3C63F45FCB44}" type="pres">
      <dgm:prSet presAssocID="{836CADBC-FDE4-4CFC-9D4F-09C7FACDA0D5}" presName="linear" presStyleCnt="0">
        <dgm:presLayoutVars>
          <dgm:animLvl val="lvl"/>
          <dgm:resizeHandles val="exact"/>
        </dgm:presLayoutVars>
      </dgm:prSet>
      <dgm:spPr/>
    </dgm:pt>
    <dgm:pt modelId="{66BEC4D7-F27D-481B-AEAA-CF36AEC2E1DE}" type="pres">
      <dgm:prSet presAssocID="{28BA5503-C2A8-4666-BD85-998EAEDA2E69}" presName="parentText" presStyleLbl="node1" presStyleIdx="0" presStyleCnt="1" custScaleY="308760" custLinFactNeighborX="-7765" custLinFactNeighborY="-55843">
        <dgm:presLayoutVars>
          <dgm:chMax val="0"/>
          <dgm:bulletEnabled val="1"/>
        </dgm:presLayoutVars>
      </dgm:prSet>
      <dgm:spPr/>
    </dgm:pt>
  </dgm:ptLst>
  <dgm:cxnLst>
    <dgm:cxn modelId="{1E69B94C-B5BF-425D-A412-300CAF429FED}" type="presOf" srcId="{28BA5503-C2A8-4666-BD85-998EAEDA2E69}" destId="{66BEC4D7-F27D-481B-AEAA-CF36AEC2E1DE}" srcOrd="0" destOrd="0" presId="urn:microsoft.com/office/officeart/2005/8/layout/vList2"/>
    <dgm:cxn modelId="{D1648F8A-C698-45C2-89E0-9D9108304F73}" srcId="{836CADBC-FDE4-4CFC-9D4F-09C7FACDA0D5}" destId="{28BA5503-C2A8-4666-BD85-998EAEDA2E69}" srcOrd="0" destOrd="0" parTransId="{6B5714E0-954B-438B-8BEF-4A14080EC45D}" sibTransId="{6DF08AAA-4E23-4B48-8FBB-000C8883062F}"/>
    <dgm:cxn modelId="{6B8D83EB-C0BD-4307-9B67-1BC0C0018782}" type="presOf" srcId="{836CADBC-FDE4-4CFC-9D4F-09C7FACDA0D5}" destId="{CB892914-EDDF-439C-979F-3C63F45FCB44}" srcOrd="0" destOrd="0" presId="urn:microsoft.com/office/officeart/2005/8/layout/vList2"/>
    <dgm:cxn modelId="{C5996148-C803-4E05-BF3A-7F97D97F8377}" type="presParOf" srcId="{CB892914-EDDF-439C-979F-3C63F45FCB44}" destId="{66BEC4D7-F27D-481B-AEAA-CF36AEC2E1DE}"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2333ED-89B8-413D-980E-00CEF2C5FF1D}"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D8404AD0-3E5A-417E-B7FA-8368D2AAC102}">
      <dgm:prSet custT="1">
        <dgm:style>
          <a:lnRef idx="2">
            <a:schemeClr val="accent2"/>
          </a:lnRef>
          <a:fillRef idx="1">
            <a:schemeClr val="lt1"/>
          </a:fillRef>
          <a:effectRef idx="0">
            <a:schemeClr val="accent2"/>
          </a:effectRef>
          <a:fontRef idx="minor">
            <a:schemeClr val="dk1"/>
          </a:fontRef>
        </dgm:style>
      </dgm:prSet>
      <dgm:spPr/>
      <dgm:t>
        <a:bodyPr/>
        <a:lstStyle/>
        <a:p>
          <a:pPr algn="ctr"/>
          <a:r>
            <a:rPr lang="en-IN" sz="2700" dirty="0">
              <a:latin typeface="Times New Roman" panose="02020603050405020304" pitchFamily="18" charset="0"/>
              <a:cs typeface="Times New Roman" panose="02020603050405020304" pitchFamily="18" charset="0"/>
            </a:rPr>
            <a:t>Head of School approves course mapping and academic benefits</a:t>
          </a:r>
        </a:p>
      </dgm:t>
    </dgm:pt>
    <dgm:pt modelId="{DD8F1012-1BD6-4032-AFC8-C25B350B118E}" type="parTrans" cxnId="{38413CE1-BC9B-4431-9F9A-304322016287}">
      <dgm:prSet/>
      <dgm:spPr/>
      <dgm:t>
        <a:bodyPr/>
        <a:lstStyle/>
        <a:p>
          <a:endParaRPr lang="en-IN"/>
        </a:p>
      </dgm:t>
    </dgm:pt>
    <dgm:pt modelId="{E81C893D-82AE-4D05-BA81-7A44C43A8FF5}" type="sibTrans" cxnId="{38413CE1-BC9B-4431-9F9A-304322016287}">
      <dgm:prSet/>
      <dgm:spPr/>
      <dgm:t>
        <a:bodyPr/>
        <a:lstStyle/>
        <a:p>
          <a:endParaRPr lang="en-IN"/>
        </a:p>
      </dgm:t>
    </dgm:pt>
    <dgm:pt modelId="{48F1FCE7-55C6-475B-9D1A-7FDA7E338652}" type="pres">
      <dgm:prSet presAssocID="{DA2333ED-89B8-413D-980E-00CEF2C5FF1D}" presName="linear" presStyleCnt="0">
        <dgm:presLayoutVars>
          <dgm:animLvl val="lvl"/>
          <dgm:resizeHandles val="exact"/>
        </dgm:presLayoutVars>
      </dgm:prSet>
      <dgm:spPr/>
    </dgm:pt>
    <dgm:pt modelId="{411018F6-EDAA-46F8-8781-8C129F37088E}" type="pres">
      <dgm:prSet presAssocID="{D8404AD0-3E5A-417E-B7FA-8368D2AAC102}" presName="parentText" presStyleLbl="node1" presStyleIdx="0" presStyleCnt="1" custScaleY="267462" custLinFactNeighborX="-3328" custLinFactNeighborY="-45711">
        <dgm:presLayoutVars>
          <dgm:chMax val="0"/>
          <dgm:bulletEnabled val="1"/>
        </dgm:presLayoutVars>
      </dgm:prSet>
      <dgm:spPr/>
    </dgm:pt>
  </dgm:ptLst>
  <dgm:cxnLst>
    <dgm:cxn modelId="{8CB4FAAE-4B66-4825-8163-F5CC05BAB0E4}" type="presOf" srcId="{DA2333ED-89B8-413D-980E-00CEF2C5FF1D}" destId="{48F1FCE7-55C6-475B-9D1A-7FDA7E338652}" srcOrd="0" destOrd="0" presId="urn:microsoft.com/office/officeart/2005/8/layout/vList2"/>
    <dgm:cxn modelId="{38413CE1-BC9B-4431-9F9A-304322016287}" srcId="{DA2333ED-89B8-413D-980E-00CEF2C5FF1D}" destId="{D8404AD0-3E5A-417E-B7FA-8368D2AAC102}" srcOrd="0" destOrd="0" parTransId="{DD8F1012-1BD6-4032-AFC8-C25B350B118E}" sibTransId="{E81C893D-82AE-4D05-BA81-7A44C43A8FF5}"/>
    <dgm:cxn modelId="{3059E6EB-49A2-4C49-AF0E-A3A899D93744}" type="presOf" srcId="{D8404AD0-3E5A-417E-B7FA-8368D2AAC102}" destId="{411018F6-EDAA-46F8-8781-8C129F37088E}" srcOrd="0" destOrd="0" presId="urn:microsoft.com/office/officeart/2005/8/layout/vList2"/>
    <dgm:cxn modelId="{BA175E4D-E740-4A9A-B21A-3EE536E5AB09}" type="presParOf" srcId="{48F1FCE7-55C6-475B-9D1A-7FDA7E338652}" destId="{411018F6-EDAA-46F8-8781-8C129F37088E}"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6B3C9D-F695-41CB-9875-C7ABFE7FAC61}"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6EB4F3E2-7D2E-4B2B-AC83-F1764C56FF5B}">
      <dgm:prSet custT="1">
        <dgm:style>
          <a:lnRef idx="2">
            <a:schemeClr val="accent2"/>
          </a:lnRef>
          <a:fillRef idx="1">
            <a:schemeClr val="lt1"/>
          </a:fillRef>
          <a:effectRef idx="0">
            <a:schemeClr val="accent2"/>
          </a:effectRef>
          <a:fontRef idx="minor">
            <a:schemeClr val="dk1"/>
          </a:fontRef>
        </dgm:style>
      </dgm:prSet>
      <dgm:spPr/>
      <dgm:t>
        <a:bodyPr/>
        <a:lstStyle/>
        <a:p>
          <a:pPr algn="ctr"/>
          <a:r>
            <a:rPr lang="en-IN" sz="2700" dirty="0">
              <a:latin typeface="Times New Roman" panose="02020603050405020304" pitchFamily="18" charset="0"/>
              <a:cs typeface="Times New Roman" panose="02020603050405020304" pitchFamily="18" charset="0"/>
            </a:rPr>
            <a:t>Transparent, standardized and timely decision-making</a:t>
          </a:r>
        </a:p>
      </dgm:t>
    </dgm:pt>
    <dgm:pt modelId="{85F9E443-7C84-437B-9F9F-A5FE4E23AD75}" type="parTrans" cxnId="{E1577B53-E0B5-417D-B06B-05A67BD6DDC5}">
      <dgm:prSet/>
      <dgm:spPr/>
      <dgm:t>
        <a:bodyPr/>
        <a:lstStyle/>
        <a:p>
          <a:endParaRPr lang="en-IN" sz="2800">
            <a:latin typeface="Aptos" panose="020B0004020202020204" pitchFamily="34" charset="0"/>
          </a:endParaRPr>
        </a:p>
      </dgm:t>
    </dgm:pt>
    <dgm:pt modelId="{4AA6B2AC-EB2C-4D04-98F4-B7A17399CDBA}" type="sibTrans" cxnId="{E1577B53-E0B5-417D-B06B-05A67BD6DDC5}">
      <dgm:prSet/>
      <dgm:spPr/>
      <dgm:t>
        <a:bodyPr/>
        <a:lstStyle/>
        <a:p>
          <a:endParaRPr lang="en-IN" sz="2800">
            <a:latin typeface="Aptos" panose="020B0004020202020204" pitchFamily="34" charset="0"/>
          </a:endParaRPr>
        </a:p>
      </dgm:t>
    </dgm:pt>
    <dgm:pt modelId="{49AE3D0D-1C43-4541-ABD2-533B525DFEE3}" type="pres">
      <dgm:prSet presAssocID="{746B3C9D-F695-41CB-9875-C7ABFE7FAC61}" presName="linear" presStyleCnt="0">
        <dgm:presLayoutVars>
          <dgm:animLvl val="lvl"/>
          <dgm:resizeHandles val="exact"/>
        </dgm:presLayoutVars>
      </dgm:prSet>
      <dgm:spPr/>
    </dgm:pt>
    <dgm:pt modelId="{011196B6-9C68-457C-951C-79C3F09583B2}" type="pres">
      <dgm:prSet presAssocID="{6EB4F3E2-7D2E-4B2B-AC83-F1764C56FF5B}" presName="parentText" presStyleLbl="node1" presStyleIdx="0" presStyleCnt="1" custLinFactNeighborX="-11479" custLinFactNeighborY="-2323">
        <dgm:presLayoutVars>
          <dgm:chMax val="0"/>
          <dgm:bulletEnabled val="1"/>
        </dgm:presLayoutVars>
      </dgm:prSet>
      <dgm:spPr/>
    </dgm:pt>
  </dgm:ptLst>
  <dgm:cxnLst>
    <dgm:cxn modelId="{E1577B53-E0B5-417D-B06B-05A67BD6DDC5}" srcId="{746B3C9D-F695-41CB-9875-C7ABFE7FAC61}" destId="{6EB4F3E2-7D2E-4B2B-AC83-F1764C56FF5B}" srcOrd="0" destOrd="0" parTransId="{85F9E443-7C84-437B-9F9F-A5FE4E23AD75}" sibTransId="{4AA6B2AC-EB2C-4D04-98F4-B7A17399CDBA}"/>
    <dgm:cxn modelId="{D811619C-CC57-4395-A7AC-AFBA21557A9B}" type="presOf" srcId="{6EB4F3E2-7D2E-4B2B-AC83-F1764C56FF5B}" destId="{011196B6-9C68-457C-951C-79C3F09583B2}" srcOrd="0" destOrd="0" presId="urn:microsoft.com/office/officeart/2005/8/layout/vList2"/>
    <dgm:cxn modelId="{773353FE-317E-4B48-B580-6B39BEDFA588}" type="presOf" srcId="{746B3C9D-F695-41CB-9875-C7ABFE7FAC61}" destId="{49AE3D0D-1C43-4541-ABD2-533B525DFEE3}" srcOrd="0" destOrd="0" presId="urn:microsoft.com/office/officeart/2005/8/layout/vList2"/>
    <dgm:cxn modelId="{34983269-E78A-48AB-BF4C-7A7AF69E4A7D}" type="presParOf" srcId="{49AE3D0D-1C43-4541-ABD2-533B525DFEE3}" destId="{011196B6-9C68-457C-951C-79C3F09583B2}"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5C2EB-B4DA-4972-BF35-237325D38DAE}">
      <dsp:nvSpPr>
        <dsp:cNvPr id="0" name=""/>
        <dsp:cNvSpPr/>
      </dsp:nvSpPr>
      <dsp:spPr>
        <a:xfrm>
          <a:off x="0" y="1681"/>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122E1-572D-4FF5-A8A3-D21BB7DB93CA}">
      <dsp:nvSpPr>
        <dsp:cNvPr id="0" name=""/>
        <dsp:cNvSpPr/>
      </dsp:nvSpPr>
      <dsp:spPr>
        <a:xfrm>
          <a:off x="216704" y="162866"/>
          <a:ext cx="394007" cy="39400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D880D5-0E10-46D5-AF46-84A66347304D}">
      <dsp:nvSpPr>
        <dsp:cNvPr id="0" name=""/>
        <dsp:cNvSpPr/>
      </dsp:nvSpPr>
      <dsp:spPr>
        <a:xfrm>
          <a:off x="827416" y="1681"/>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Learning by doing, </a:t>
          </a:r>
          <a:endParaRPr lang="en-US" sz="1900" kern="1200" dirty="0">
            <a:latin typeface="Times New Roman" panose="02020603050405020304" pitchFamily="18" charset="0"/>
            <a:cs typeface="Times New Roman" panose="02020603050405020304" pitchFamily="18" charset="0"/>
          </a:endParaRPr>
        </a:p>
      </dsp:txBody>
      <dsp:txXfrm>
        <a:off x="827416" y="1681"/>
        <a:ext cx="5417848" cy="716378"/>
      </dsp:txXfrm>
    </dsp:sp>
    <dsp:sp modelId="{140436F3-8E64-4312-8A56-C7094AC1B220}">
      <dsp:nvSpPr>
        <dsp:cNvPr id="0" name=""/>
        <dsp:cNvSpPr/>
      </dsp:nvSpPr>
      <dsp:spPr>
        <a:xfrm>
          <a:off x="0" y="897153"/>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85FC2F-AAB7-4702-AAE9-99426835EEC1}">
      <dsp:nvSpPr>
        <dsp:cNvPr id="0" name=""/>
        <dsp:cNvSpPr/>
      </dsp:nvSpPr>
      <dsp:spPr>
        <a:xfrm>
          <a:off x="216704" y="1058338"/>
          <a:ext cx="394007" cy="39400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655994-8D58-41E6-8FA4-099DE71E8D19}">
      <dsp:nvSpPr>
        <dsp:cNvPr id="0" name=""/>
        <dsp:cNvSpPr/>
      </dsp:nvSpPr>
      <dsp:spPr>
        <a:xfrm>
          <a:off x="827416" y="897153"/>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Application-based</a:t>
          </a:r>
          <a:r>
            <a:rPr lang="en-IN" sz="1900" kern="1200" dirty="0"/>
            <a:t> concept elaboration, </a:t>
          </a:r>
          <a:endParaRPr lang="en-US" sz="1900" kern="1200" dirty="0"/>
        </a:p>
      </dsp:txBody>
      <dsp:txXfrm>
        <a:off x="827416" y="897153"/>
        <a:ext cx="5417848" cy="716378"/>
      </dsp:txXfrm>
    </dsp:sp>
    <dsp:sp modelId="{328B41C5-7753-445C-AFBC-E21E646DC961}">
      <dsp:nvSpPr>
        <dsp:cNvPr id="0" name=""/>
        <dsp:cNvSpPr/>
      </dsp:nvSpPr>
      <dsp:spPr>
        <a:xfrm>
          <a:off x="0" y="1792626"/>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F9422D-EDE6-4A4A-8204-4FB0FB404D30}">
      <dsp:nvSpPr>
        <dsp:cNvPr id="0" name=""/>
        <dsp:cNvSpPr/>
      </dsp:nvSpPr>
      <dsp:spPr>
        <a:xfrm>
          <a:off x="216704" y="1953811"/>
          <a:ext cx="394007" cy="39400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77F95E-9E32-4E21-B279-0CD650814DF6}">
      <dsp:nvSpPr>
        <dsp:cNvPr id="0" name=""/>
        <dsp:cNvSpPr/>
      </dsp:nvSpPr>
      <dsp:spPr>
        <a:xfrm>
          <a:off x="827416" y="1792626"/>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Learning beyond classrooms, </a:t>
          </a:r>
          <a:endParaRPr lang="en-US" sz="1900" kern="1200" dirty="0">
            <a:latin typeface="Times New Roman" panose="02020603050405020304" pitchFamily="18" charset="0"/>
            <a:cs typeface="Times New Roman" panose="02020603050405020304" pitchFamily="18" charset="0"/>
          </a:endParaRPr>
        </a:p>
      </dsp:txBody>
      <dsp:txXfrm>
        <a:off x="827416" y="1792626"/>
        <a:ext cx="5417848" cy="716378"/>
      </dsp:txXfrm>
    </dsp:sp>
    <dsp:sp modelId="{2083A08C-9E8C-4420-899B-0FD7762F4AC0}">
      <dsp:nvSpPr>
        <dsp:cNvPr id="0" name=""/>
        <dsp:cNvSpPr/>
      </dsp:nvSpPr>
      <dsp:spPr>
        <a:xfrm>
          <a:off x="0" y="2688098"/>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38ACB6-C481-49C0-BF7A-61F749D70B20}">
      <dsp:nvSpPr>
        <dsp:cNvPr id="0" name=""/>
        <dsp:cNvSpPr/>
      </dsp:nvSpPr>
      <dsp:spPr>
        <a:xfrm>
          <a:off x="216704" y="2849283"/>
          <a:ext cx="394007" cy="394007"/>
        </a:xfrm>
        <a:prstGeom prst="rect">
          <a:avLst/>
        </a:prstGeom>
        <a:blipFill>
          <a:blip xmlns:r="http://schemas.openxmlformats.org/officeDocument/2006/relationships" r:embed="rId4">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C5D117-1BDD-4B5C-8079-A76DB1CD92CF}">
      <dsp:nvSpPr>
        <dsp:cNvPr id="0" name=""/>
        <dsp:cNvSpPr/>
      </dsp:nvSpPr>
      <dsp:spPr>
        <a:xfrm>
          <a:off x="827416" y="2688098"/>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Activity-based assessments and project driven learning</a:t>
          </a:r>
          <a:endParaRPr lang="en-US" sz="1900" kern="1200" dirty="0">
            <a:latin typeface="Times New Roman" panose="02020603050405020304" pitchFamily="18" charset="0"/>
            <a:cs typeface="Times New Roman" panose="02020603050405020304" pitchFamily="18" charset="0"/>
          </a:endParaRPr>
        </a:p>
      </dsp:txBody>
      <dsp:txXfrm>
        <a:off x="827416" y="2688098"/>
        <a:ext cx="5417848" cy="716378"/>
      </dsp:txXfrm>
    </dsp:sp>
    <dsp:sp modelId="{A27C687C-652E-41E2-B1DD-8EBCF909F86B}">
      <dsp:nvSpPr>
        <dsp:cNvPr id="0" name=""/>
        <dsp:cNvSpPr/>
      </dsp:nvSpPr>
      <dsp:spPr>
        <a:xfrm>
          <a:off x="0" y="3583571"/>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368F99-5C7B-4772-8A81-1A034BA3CB68}">
      <dsp:nvSpPr>
        <dsp:cNvPr id="0" name=""/>
        <dsp:cNvSpPr/>
      </dsp:nvSpPr>
      <dsp:spPr>
        <a:xfrm>
          <a:off x="216704" y="3744756"/>
          <a:ext cx="394007" cy="394007"/>
        </a:xfrm>
        <a:prstGeom prst="rect">
          <a:avLst/>
        </a:prstGeom>
        <a:blipFill>
          <a:blip xmlns:r="http://schemas.openxmlformats.org/officeDocument/2006/relationships" r:embed="rId5">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2FFC2E-06AE-4508-9BD3-350237B1F560}">
      <dsp:nvSpPr>
        <dsp:cNvPr id="0" name=""/>
        <dsp:cNvSpPr/>
      </dsp:nvSpPr>
      <dsp:spPr>
        <a:xfrm>
          <a:off x="827416" y="3583571"/>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Less Ppts and more interactive Classroom teaching</a:t>
          </a:r>
          <a:endParaRPr lang="en-US" sz="1900" kern="1200" dirty="0">
            <a:latin typeface="Times New Roman" panose="02020603050405020304" pitchFamily="18" charset="0"/>
            <a:cs typeface="Times New Roman" panose="02020603050405020304" pitchFamily="18" charset="0"/>
          </a:endParaRPr>
        </a:p>
      </dsp:txBody>
      <dsp:txXfrm>
        <a:off x="827416" y="3583571"/>
        <a:ext cx="5417848" cy="716378"/>
      </dsp:txXfrm>
    </dsp:sp>
    <dsp:sp modelId="{C87A0861-635A-4812-9573-E79341186156}">
      <dsp:nvSpPr>
        <dsp:cNvPr id="0" name=""/>
        <dsp:cNvSpPr/>
      </dsp:nvSpPr>
      <dsp:spPr>
        <a:xfrm>
          <a:off x="0" y="4479043"/>
          <a:ext cx="6245265" cy="71637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F3F9F-6C66-4706-864B-A02A7BE71A23}">
      <dsp:nvSpPr>
        <dsp:cNvPr id="0" name=""/>
        <dsp:cNvSpPr/>
      </dsp:nvSpPr>
      <dsp:spPr>
        <a:xfrm>
          <a:off x="216704" y="4640228"/>
          <a:ext cx="394007" cy="394007"/>
        </a:xfrm>
        <a:prstGeom prst="rect">
          <a:avLst/>
        </a:prstGeom>
        <a:blipFill>
          <a:blip xmlns:r="http://schemas.openxmlformats.org/officeDocument/2006/relationships" r:embed="rId6">
            <a:extLst>
              <a:ext uri="{28A0092B-C50C-407E-A947-70E740481C1C}">
                <a14:useLocalDpi xmlns:a14="http://schemas.microsoft.com/office/drawing/2010/main" val="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8A1907-4DE9-4B76-AC50-30EF43FEB2F1}">
      <dsp:nvSpPr>
        <dsp:cNvPr id="0" name=""/>
        <dsp:cNvSpPr/>
      </dsp:nvSpPr>
      <dsp:spPr>
        <a:xfrm>
          <a:off x="827416" y="4479043"/>
          <a:ext cx="5417848" cy="7163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817" tIns="75817" rIns="75817" bIns="75817" numCol="1" spcCol="1270" anchor="ctr" anchorCtr="0">
          <a:noAutofit/>
        </a:bodyPr>
        <a:lstStyle/>
        <a:p>
          <a:pPr marL="0" lvl="0" indent="0" algn="l" defTabSz="844550">
            <a:lnSpc>
              <a:spcPct val="90000"/>
            </a:lnSpc>
            <a:spcBef>
              <a:spcPct val="0"/>
            </a:spcBef>
            <a:spcAft>
              <a:spcPct val="35000"/>
            </a:spcAft>
            <a:buNone/>
          </a:pPr>
          <a:r>
            <a:rPr lang="en-IN" sz="1900" kern="1200" dirty="0">
              <a:latin typeface="Times New Roman" panose="02020603050405020304" pitchFamily="18" charset="0"/>
              <a:cs typeface="Times New Roman" panose="02020603050405020304" pitchFamily="18" charset="0"/>
            </a:rPr>
            <a:t>Experiential learning and Many More Initiatives</a:t>
          </a:r>
          <a:endParaRPr lang="en-US" sz="1900" kern="1200" dirty="0">
            <a:latin typeface="Times New Roman" panose="02020603050405020304" pitchFamily="18" charset="0"/>
            <a:cs typeface="Times New Roman" panose="02020603050405020304" pitchFamily="18" charset="0"/>
          </a:endParaRPr>
        </a:p>
      </dsp:txBody>
      <dsp:txXfrm>
        <a:off x="827416" y="4479043"/>
        <a:ext cx="5417848" cy="7163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C262B1-4527-4945-94F5-6BCABAA4D21F}">
      <dsp:nvSpPr>
        <dsp:cNvPr id="0" name=""/>
        <dsp:cNvSpPr/>
      </dsp:nvSpPr>
      <dsp:spPr>
        <a:xfrm>
          <a:off x="0" y="0"/>
          <a:ext cx="8577222" cy="879840"/>
        </a:xfrm>
        <a:prstGeom prst="roundRect">
          <a:avLst/>
        </a:prstGeom>
        <a:solidFill>
          <a:schemeClr val="lt1"/>
        </a:solidFill>
        <a:ln w="1905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dirty="0">
              <a:latin typeface="Times New Roman" panose="02020603050405020304" pitchFamily="18" charset="0"/>
              <a:cs typeface="Times New Roman" panose="02020603050405020304" pitchFamily="18" charset="0"/>
            </a:rPr>
            <a:t>Students apply through UMS/LMS</a:t>
          </a:r>
        </a:p>
      </dsp:txBody>
      <dsp:txXfrm>
        <a:off x="42950" y="42950"/>
        <a:ext cx="8491322" cy="7939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EC4D7-F27D-481B-AEAA-CF36AEC2E1DE}">
      <dsp:nvSpPr>
        <dsp:cNvPr id="0" name=""/>
        <dsp:cNvSpPr/>
      </dsp:nvSpPr>
      <dsp:spPr>
        <a:xfrm>
          <a:off x="0" y="0"/>
          <a:ext cx="8678822" cy="938330"/>
        </a:xfrm>
        <a:prstGeom prst="roundRect">
          <a:avLst/>
        </a:prstGeom>
        <a:solidFill>
          <a:schemeClr val="lt1"/>
        </a:solidFill>
        <a:ln w="1905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dirty="0">
              <a:latin typeface="Times New Roman" panose="02020603050405020304" pitchFamily="18" charset="0"/>
              <a:cs typeface="Times New Roman" panose="02020603050405020304" pitchFamily="18" charset="0"/>
            </a:rPr>
            <a:t>Standing Committee verifies eligibility and supporting documents</a:t>
          </a:r>
        </a:p>
      </dsp:txBody>
      <dsp:txXfrm>
        <a:off x="45805" y="45805"/>
        <a:ext cx="8587212" cy="8467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1018F6-EDAA-46F8-8781-8C129F37088E}">
      <dsp:nvSpPr>
        <dsp:cNvPr id="0" name=""/>
        <dsp:cNvSpPr/>
      </dsp:nvSpPr>
      <dsp:spPr>
        <a:xfrm>
          <a:off x="0" y="0"/>
          <a:ext cx="8678821" cy="812824"/>
        </a:xfrm>
        <a:prstGeom prst="roundRect">
          <a:avLst/>
        </a:prstGeom>
        <a:solidFill>
          <a:schemeClr val="lt1"/>
        </a:solidFill>
        <a:ln w="1905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dirty="0">
              <a:latin typeface="Times New Roman" panose="02020603050405020304" pitchFamily="18" charset="0"/>
              <a:cs typeface="Times New Roman" panose="02020603050405020304" pitchFamily="18" charset="0"/>
            </a:rPr>
            <a:t>Head of School approves course mapping and academic benefits</a:t>
          </a:r>
        </a:p>
      </dsp:txBody>
      <dsp:txXfrm>
        <a:off x="39679" y="39679"/>
        <a:ext cx="8599463" cy="7334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196B6-9C68-457C-951C-79C3F09583B2}">
      <dsp:nvSpPr>
        <dsp:cNvPr id="0" name=""/>
        <dsp:cNvSpPr/>
      </dsp:nvSpPr>
      <dsp:spPr>
        <a:xfrm>
          <a:off x="0" y="0"/>
          <a:ext cx="8667939" cy="842400"/>
        </a:xfrm>
        <a:prstGeom prst="roundRect">
          <a:avLst/>
        </a:prstGeom>
        <a:solidFill>
          <a:schemeClr val="lt1"/>
        </a:solidFill>
        <a:ln w="19050" cap="flat" cmpd="sng" algn="ctr">
          <a:solidFill>
            <a:schemeClr val="accent2"/>
          </a:solidFill>
          <a:prstDash val="solid"/>
          <a:miter lim="800000"/>
        </a:ln>
        <a:effectLst/>
        <a:scene3d>
          <a:camera prst="orthographicFront"/>
          <a:lightRig rig="flat" dir="t"/>
        </a:scene3d>
        <a:sp3d/>
      </dsp:spPr>
      <dsp:style>
        <a:lnRef idx="2">
          <a:schemeClr val="accent2"/>
        </a:lnRef>
        <a:fillRef idx="1">
          <a:schemeClr val="lt1"/>
        </a:fillRef>
        <a:effectRef idx="0">
          <a:schemeClr val="accent2"/>
        </a:effectRef>
        <a:fontRef idx="minor">
          <a:schemeClr val="dk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IN" sz="2700" kern="1200" dirty="0">
              <a:latin typeface="Times New Roman" panose="02020603050405020304" pitchFamily="18" charset="0"/>
              <a:cs typeface="Times New Roman" panose="02020603050405020304" pitchFamily="18" charset="0"/>
            </a:rPr>
            <a:t>Transparent, standardized and timely decision-making</a:t>
          </a:r>
        </a:p>
      </dsp:txBody>
      <dsp:txXfrm>
        <a:off x="41123" y="41123"/>
        <a:ext cx="8585693" cy="76015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34659-0ED1-4E51-86A0-9BBF4E66109E}"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35501-1542-45B6-9AF4-9929E24FB64D}" type="slidenum">
              <a:rPr lang="en-US" smtClean="0"/>
              <a:t>‹#›</a:t>
            </a:fld>
            <a:endParaRPr lang="en-US"/>
          </a:p>
        </p:txBody>
      </p:sp>
    </p:spTree>
    <p:extLst>
      <p:ext uri="{BB962C8B-B14F-4D97-AF65-F5344CB8AC3E}">
        <p14:creationId xmlns:p14="http://schemas.microsoft.com/office/powerpoint/2010/main" val="360957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454A-B50B-99CF-5F2C-9914471B25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E906C5-4742-264F-78E1-18B014E03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A54A67-BCE4-0B38-9F85-498463408FE3}"/>
              </a:ext>
            </a:extLst>
          </p:cNvPr>
          <p:cNvSpPr>
            <a:spLocks noGrp="1"/>
          </p:cNvSpPr>
          <p:nvPr>
            <p:ph type="dt" sz="half" idx="10"/>
          </p:nvPr>
        </p:nvSpPr>
        <p:spPr/>
        <p:txBody>
          <a:bodyPr/>
          <a:lstStyle/>
          <a:p>
            <a:fld id="{DA35C035-66C3-4887-AFB5-741198C05989}" type="datetime1">
              <a:rPr lang="en-IN" smtClean="0"/>
              <a:t>15-07-2026</a:t>
            </a:fld>
            <a:endParaRPr lang="en-IN"/>
          </a:p>
        </p:txBody>
      </p:sp>
      <p:sp>
        <p:nvSpPr>
          <p:cNvPr id="5" name="Footer Placeholder 4">
            <a:extLst>
              <a:ext uri="{FF2B5EF4-FFF2-40B4-BE49-F238E27FC236}">
                <a16:creationId xmlns:a16="http://schemas.microsoft.com/office/drawing/2014/main" id="{77E1F8AC-443C-1ECA-AB44-6EBF6FD03635}"/>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72ADF0F3-AEC5-C9B9-7171-1B6A033D088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67484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A43DA-CBC5-58B5-65B8-9D38B353F9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6B5CF5-59AF-DD83-C89A-DF31B5195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84E04A-0F9D-BFA3-1170-4193E83A918B}"/>
              </a:ext>
            </a:extLst>
          </p:cNvPr>
          <p:cNvSpPr>
            <a:spLocks noGrp="1"/>
          </p:cNvSpPr>
          <p:nvPr>
            <p:ph type="dt" sz="half" idx="10"/>
          </p:nvPr>
        </p:nvSpPr>
        <p:spPr/>
        <p:txBody>
          <a:bodyPr/>
          <a:lstStyle/>
          <a:p>
            <a:fld id="{21A5DD95-F8C8-4514-86FA-F689F6E88E95}" type="datetime1">
              <a:rPr lang="en-IN" smtClean="0"/>
              <a:t>15-07-2026</a:t>
            </a:fld>
            <a:endParaRPr lang="en-IN"/>
          </a:p>
        </p:txBody>
      </p:sp>
      <p:sp>
        <p:nvSpPr>
          <p:cNvPr id="5" name="Footer Placeholder 4">
            <a:extLst>
              <a:ext uri="{FF2B5EF4-FFF2-40B4-BE49-F238E27FC236}">
                <a16:creationId xmlns:a16="http://schemas.microsoft.com/office/drawing/2014/main" id="{D9E989B7-C73D-98DA-3AF0-70E1DF6AB947}"/>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0EC4C7C3-2C9F-8A2C-CC92-9224B93D4E61}"/>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245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F116C-C79E-55DD-9F00-FFDBCF607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4E630C-B948-FAC9-6274-CA2DCE44C2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3E107-FDF9-7A65-56F5-E97F0661FA39}"/>
              </a:ext>
            </a:extLst>
          </p:cNvPr>
          <p:cNvSpPr>
            <a:spLocks noGrp="1"/>
          </p:cNvSpPr>
          <p:nvPr>
            <p:ph type="dt" sz="half" idx="10"/>
          </p:nvPr>
        </p:nvSpPr>
        <p:spPr/>
        <p:txBody>
          <a:bodyPr/>
          <a:lstStyle/>
          <a:p>
            <a:fld id="{ECF81670-6007-4C62-8F59-41E1CC4F9BDC}" type="datetime1">
              <a:rPr lang="en-IN" smtClean="0"/>
              <a:t>15-07-2026</a:t>
            </a:fld>
            <a:endParaRPr lang="en-IN"/>
          </a:p>
        </p:txBody>
      </p:sp>
      <p:sp>
        <p:nvSpPr>
          <p:cNvPr id="5" name="Footer Placeholder 4">
            <a:extLst>
              <a:ext uri="{FF2B5EF4-FFF2-40B4-BE49-F238E27FC236}">
                <a16:creationId xmlns:a16="http://schemas.microsoft.com/office/drawing/2014/main" id="{3B65382A-4979-C9DC-A38D-71EEC2F21C7D}"/>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4354B501-66BB-E071-2D45-786A50329E6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750733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5DFD8-0D14-BAF4-B9E1-9E8435A7ED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64BAE9-DB1F-171F-6D48-3F467841FF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8CAD39-A292-B30E-5E61-53E6C13EC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CF5A39-F187-8FE8-5DEB-F71006593467}"/>
              </a:ext>
            </a:extLst>
          </p:cNvPr>
          <p:cNvSpPr>
            <a:spLocks noGrp="1"/>
          </p:cNvSpPr>
          <p:nvPr>
            <p:ph type="dt" sz="half" idx="10"/>
          </p:nvPr>
        </p:nvSpPr>
        <p:spPr/>
        <p:txBody>
          <a:bodyPr/>
          <a:lstStyle/>
          <a:p>
            <a:fld id="{3A0E668A-9FCB-47AB-ACD6-07FD44555D1C}" type="datetime1">
              <a:rPr lang="en-IN" smtClean="0"/>
              <a:t>15-07-2026</a:t>
            </a:fld>
            <a:endParaRPr lang="en-IN"/>
          </a:p>
        </p:txBody>
      </p:sp>
      <p:sp>
        <p:nvSpPr>
          <p:cNvPr id="6" name="Footer Placeholder 5">
            <a:extLst>
              <a:ext uri="{FF2B5EF4-FFF2-40B4-BE49-F238E27FC236}">
                <a16:creationId xmlns:a16="http://schemas.microsoft.com/office/drawing/2014/main" id="{36E0DC70-1010-1A04-FE7B-7DB3E6713E45}"/>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3AE68834-3EFD-4C90-DC78-7AB1AA3B02EE}"/>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82013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73B6E-AAAA-C190-F84C-C7A9E54BFE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9E850B-3436-7B73-9CAF-6857749DD1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440929-494D-74D0-7921-2D938A372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B3974FE-72C9-137E-0265-73F50D8D7A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C57EA2-CA11-4B56-861E-239081BE50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3161D1-E209-E17B-7F43-1EA7214E3B65}"/>
              </a:ext>
            </a:extLst>
          </p:cNvPr>
          <p:cNvSpPr>
            <a:spLocks noGrp="1"/>
          </p:cNvSpPr>
          <p:nvPr>
            <p:ph type="dt" sz="half" idx="10"/>
          </p:nvPr>
        </p:nvSpPr>
        <p:spPr/>
        <p:txBody>
          <a:bodyPr/>
          <a:lstStyle/>
          <a:p>
            <a:fld id="{53EC513F-6A83-4B3A-BB09-049F4E61F634}" type="datetime1">
              <a:rPr lang="en-IN" smtClean="0"/>
              <a:t>15-07-2026</a:t>
            </a:fld>
            <a:endParaRPr lang="en-IN"/>
          </a:p>
        </p:txBody>
      </p:sp>
      <p:sp>
        <p:nvSpPr>
          <p:cNvPr id="8" name="Footer Placeholder 7">
            <a:extLst>
              <a:ext uri="{FF2B5EF4-FFF2-40B4-BE49-F238E27FC236}">
                <a16:creationId xmlns:a16="http://schemas.microsoft.com/office/drawing/2014/main" id="{053D1B75-14EF-E88A-5B4F-ECF203D09371}"/>
              </a:ext>
            </a:extLst>
          </p:cNvPr>
          <p:cNvSpPr>
            <a:spLocks noGrp="1"/>
          </p:cNvSpPr>
          <p:nvPr>
            <p:ph type="ftr" sz="quarter" idx="11"/>
          </p:nvPr>
        </p:nvSpPr>
        <p:spPr/>
        <p:txBody>
          <a:bodyPr/>
          <a:lstStyle/>
          <a:p>
            <a:r>
              <a:rPr lang="en-IN"/>
              <a:t>1/15</a:t>
            </a:r>
          </a:p>
        </p:txBody>
      </p:sp>
      <p:sp>
        <p:nvSpPr>
          <p:cNvPr id="9" name="Slide Number Placeholder 8">
            <a:extLst>
              <a:ext uri="{FF2B5EF4-FFF2-40B4-BE49-F238E27FC236}">
                <a16:creationId xmlns:a16="http://schemas.microsoft.com/office/drawing/2014/main" id="{079406F7-C76D-E3CE-11A0-2DF7C798A3C0}"/>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2582817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C6511-9AF4-26A2-B0E0-2904E16E7D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C37283-2B3B-38B3-2541-367195BBA1C2}"/>
              </a:ext>
            </a:extLst>
          </p:cNvPr>
          <p:cNvSpPr>
            <a:spLocks noGrp="1"/>
          </p:cNvSpPr>
          <p:nvPr>
            <p:ph type="dt" sz="half" idx="10"/>
          </p:nvPr>
        </p:nvSpPr>
        <p:spPr/>
        <p:txBody>
          <a:bodyPr/>
          <a:lstStyle/>
          <a:p>
            <a:fld id="{E799FEFD-3C69-4305-A7B6-834AA69834DB}" type="datetime1">
              <a:rPr lang="en-IN" smtClean="0"/>
              <a:t>15-07-2026</a:t>
            </a:fld>
            <a:endParaRPr lang="en-IN"/>
          </a:p>
        </p:txBody>
      </p:sp>
      <p:sp>
        <p:nvSpPr>
          <p:cNvPr id="4" name="Footer Placeholder 3">
            <a:extLst>
              <a:ext uri="{FF2B5EF4-FFF2-40B4-BE49-F238E27FC236}">
                <a16:creationId xmlns:a16="http://schemas.microsoft.com/office/drawing/2014/main" id="{361109F2-D873-FF79-0EAD-7BB606B35B12}"/>
              </a:ext>
            </a:extLst>
          </p:cNvPr>
          <p:cNvSpPr>
            <a:spLocks noGrp="1"/>
          </p:cNvSpPr>
          <p:nvPr>
            <p:ph type="ftr" sz="quarter" idx="11"/>
          </p:nvPr>
        </p:nvSpPr>
        <p:spPr/>
        <p:txBody>
          <a:bodyPr/>
          <a:lstStyle/>
          <a:p>
            <a:r>
              <a:rPr lang="en-IN"/>
              <a:t>1/15</a:t>
            </a:r>
          </a:p>
        </p:txBody>
      </p:sp>
      <p:sp>
        <p:nvSpPr>
          <p:cNvPr id="5" name="Slide Number Placeholder 4">
            <a:extLst>
              <a:ext uri="{FF2B5EF4-FFF2-40B4-BE49-F238E27FC236}">
                <a16:creationId xmlns:a16="http://schemas.microsoft.com/office/drawing/2014/main" id="{8E1DAC8C-10EC-B45D-546A-403F5F417D47}"/>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182505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1B28-282D-9541-5396-99E0DEE598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9FACF6-3696-BA79-A674-7B2FB7D6C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8AE520-B0BD-9957-B156-89F4DEFC7A44}"/>
              </a:ext>
            </a:extLst>
          </p:cNvPr>
          <p:cNvSpPr>
            <a:spLocks noGrp="1"/>
          </p:cNvSpPr>
          <p:nvPr>
            <p:ph type="dt" sz="half" idx="10"/>
          </p:nvPr>
        </p:nvSpPr>
        <p:spPr/>
        <p:txBody>
          <a:bodyPr/>
          <a:lstStyle/>
          <a:p>
            <a:fld id="{78CAC8DF-4781-438A-A2D9-AAF8FD8F57EF}" type="datetime1">
              <a:rPr lang="en-IN" smtClean="0"/>
              <a:t>15-07-2026</a:t>
            </a:fld>
            <a:endParaRPr lang="en-IN"/>
          </a:p>
        </p:txBody>
      </p:sp>
      <p:sp>
        <p:nvSpPr>
          <p:cNvPr id="5" name="Footer Placeholder 4">
            <a:extLst>
              <a:ext uri="{FF2B5EF4-FFF2-40B4-BE49-F238E27FC236}">
                <a16:creationId xmlns:a16="http://schemas.microsoft.com/office/drawing/2014/main" id="{E78C5B5D-0A2A-D9E7-19E8-E963CF0D8E6F}"/>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F7985D3D-8D58-9A45-B29D-22587F406C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963551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B756CC-275B-5F05-BC12-BB1376D4041B}"/>
              </a:ext>
            </a:extLst>
          </p:cNvPr>
          <p:cNvSpPr>
            <a:spLocks noGrp="1"/>
          </p:cNvSpPr>
          <p:nvPr>
            <p:ph type="dt" sz="half" idx="10"/>
          </p:nvPr>
        </p:nvSpPr>
        <p:spPr/>
        <p:txBody>
          <a:bodyPr/>
          <a:lstStyle/>
          <a:p>
            <a:fld id="{2D72B8A8-40AC-4BD4-B073-C21DF81FB59C}" type="datetime1">
              <a:rPr lang="en-IN" smtClean="0"/>
              <a:t>15-07-2026</a:t>
            </a:fld>
            <a:endParaRPr lang="en-IN"/>
          </a:p>
        </p:txBody>
      </p:sp>
      <p:sp>
        <p:nvSpPr>
          <p:cNvPr id="3" name="Footer Placeholder 2">
            <a:extLst>
              <a:ext uri="{FF2B5EF4-FFF2-40B4-BE49-F238E27FC236}">
                <a16:creationId xmlns:a16="http://schemas.microsoft.com/office/drawing/2014/main" id="{A64A5A5C-6A14-6463-9263-E1C97FDEBED3}"/>
              </a:ext>
            </a:extLst>
          </p:cNvPr>
          <p:cNvSpPr>
            <a:spLocks noGrp="1"/>
          </p:cNvSpPr>
          <p:nvPr>
            <p:ph type="ftr" sz="quarter" idx="11"/>
          </p:nvPr>
        </p:nvSpPr>
        <p:spPr/>
        <p:txBody>
          <a:bodyPr/>
          <a:lstStyle/>
          <a:p>
            <a:r>
              <a:rPr lang="en-IN"/>
              <a:t>1/15</a:t>
            </a:r>
          </a:p>
        </p:txBody>
      </p:sp>
      <p:sp>
        <p:nvSpPr>
          <p:cNvPr id="4" name="Slide Number Placeholder 3">
            <a:extLst>
              <a:ext uri="{FF2B5EF4-FFF2-40B4-BE49-F238E27FC236}">
                <a16:creationId xmlns:a16="http://schemas.microsoft.com/office/drawing/2014/main" id="{9728AB0B-4F9E-B3E8-F5BE-48D1A7FC09CD}"/>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613060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790F-A78E-F728-A554-7D4A7AF1C4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6C0024-81A1-24AC-3552-CA9CEA7E4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D68CF34-E943-6E55-F9DC-69271DB3A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3B6FBF-46A8-C3B9-7C32-FF6F9D37EA35}"/>
              </a:ext>
            </a:extLst>
          </p:cNvPr>
          <p:cNvSpPr>
            <a:spLocks noGrp="1"/>
          </p:cNvSpPr>
          <p:nvPr>
            <p:ph type="dt" sz="half" idx="10"/>
          </p:nvPr>
        </p:nvSpPr>
        <p:spPr/>
        <p:txBody>
          <a:bodyPr/>
          <a:lstStyle/>
          <a:p>
            <a:fld id="{25279324-6718-4C38-A249-E09CAC183CDE}" type="datetime1">
              <a:rPr lang="en-IN" smtClean="0"/>
              <a:t>15-07-2026</a:t>
            </a:fld>
            <a:endParaRPr lang="en-IN"/>
          </a:p>
        </p:txBody>
      </p:sp>
      <p:sp>
        <p:nvSpPr>
          <p:cNvPr id="6" name="Footer Placeholder 5">
            <a:extLst>
              <a:ext uri="{FF2B5EF4-FFF2-40B4-BE49-F238E27FC236}">
                <a16:creationId xmlns:a16="http://schemas.microsoft.com/office/drawing/2014/main" id="{5A84E712-4476-5F97-67B0-BBB596A0CC17}"/>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B30A3B25-9720-6577-0395-9103E7757406}"/>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72320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83F6F-8F6C-7195-27A7-50671BA45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FE7027-CB64-2D79-C450-A50A1A1A5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CA3577A-646B-877F-ACC8-447532FEA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ABA6D9-4ADB-E95F-6717-B7292C01F6B7}"/>
              </a:ext>
            </a:extLst>
          </p:cNvPr>
          <p:cNvSpPr>
            <a:spLocks noGrp="1"/>
          </p:cNvSpPr>
          <p:nvPr>
            <p:ph type="dt" sz="half" idx="10"/>
          </p:nvPr>
        </p:nvSpPr>
        <p:spPr/>
        <p:txBody>
          <a:bodyPr/>
          <a:lstStyle/>
          <a:p>
            <a:fld id="{E59F1BC8-94F8-45FC-B95B-8E7D82B4A049}" type="datetime1">
              <a:rPr lang="en-IN" smtClean="0"/>
              <a:t>15-07-2026</a:t>
            </a:fld>
            <a:endParaRPr lang="en-IN"/>
          </a:p>
        </p:txBody>
      </p:sp>
      <p:sp>
        <p:nvSpPr>
          <p:cNvPr id="6" name="Footer Placeholder 5">
            <a:extLst>
              <a:ext uri="{FF2B5EF4-FFF2-40B4-BE49-F238E27FC236}">
                <a16:creationId xmlns:a16="http://schemas.microsoft.com/office/drawing/2014/main" id="{6660814B-405F-B37D-4F5F-B70E8488DE97}"/>
              </a:ext>
            </a:extLst>
          </p:cNvPr>
          <p:cNvSpPr>
            <a:spLocks noGrp="1"/>
          </p:cNvSpPr>
          <p:nvPr>
            <p:ph type="ftr" sz="quarter" idx="11"/>
          </p:nvPr>
        </p:nvSpPr>
        <p:spPr/>
        <p:txBody>
          <a:bodyPr/>
          <a:lstStyle/>
          <a:p>
            <a:r>
              <a:rPr lang="en-IN"/>
              <a:t>1/15</a:t>
            </a:r>
          </a:p>
        </p:txBody>
      </p:sp>
      <p:sp>
        <p:nvSpPr>
          <p:cNvPr id="7" name="Slide Number Placeholder 6">
            <a:extLst>
              <a:ext uri="{FF2B5EF4-FFF2-40B4-BE49-F238E27FC236}">
                <a16:creationId xmlns:a16="http://schemas.microsoft.com/office/drawing/2014/main" id="{0CD74CF4-2834-8D90-41B2-3FFB1D4BB5A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330224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2A8B3-3C5F-769E-BE44-7FCB772A83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DCE24B-7910-B2E8-C9C8-E2F93AFB81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0D1D4F-E585-8CF2-AC0F-F3EA4F0C4BE5}"/>
              </a:ext>
            </a:extLst>
          </p:cNvPr>
          <p:cNvSpPr>
            <a:spLocks noGrp="1"/>
          </p:cNvSpPr>
          <p:nvPr>
            <p:ph type="dt" sz="half" idx="10"/>
          </p:nvPr>
        </p:nvSpPr>
        <p:spPr/>
        <p:txBody>
          <a:bodyPr/>
          <a:lstStyle/>
          <a:p>
            <a:fld id="{C05F1F87-1041-451E-898C-31740E1620AA}" type="datetime1">
              <a:rPr lang="en-IN" smtClean="0"/>
              <a:t>15-07-2026</a:t>
            </a:fld>
            <a:endParaRPr lang="en-IN"/>
          </a:p>
        </p:txBody>
      </p:sp>
      <p:sp>
        <p:nvSpPr>
          <p:cNvPr id="5" name="Footer Placeholder 4">
            <a:extLst>
              <a:ext uri="{FF2B5EF4-FFF2-40B4-BE49-F238E27FC236}">
                <a16:creationId xmlns:a16="http://schemas.microsoft.com/office/drawing/2014/main" id="{B91C96A0-30C4-BF0C-B817-DF0BA33BBDAB}"/>
              </a:ext>
            </a:extLst>
          </p:cNvPr>
          <p:cNvSpPr>
            <a:spLocks noGrp="1"/>
          </p:cNvSpPr>
          <p:nvPr>
            <p:ph type="ftr" sz="quarter" idx="11"/>
          </p:nvPr>
        </p:nvSpPr>
        <p:spPr/>
        <p:txBody>
          <a:bodyPr/>
          <a:lstStyle/>
          <a:p>
            <a:r>
              <a:rPr lang="en-IN"/>
              <a:t>1/15</a:t>
            </a:r>
          </a:p>
        </p:txBody>
      </p:sp>
      <p:sp>
        <p:nvSpPr>
          <p:cNvPr id="6" name="Slide Number Placeholder 5">
            <a:extLst>
              <a:ext uri="{FF2B5EF4-FFF2-40B4-BE49-F238E27FC236}">
                <a16:creationId xmlns:a16="http://schemas.microsoft.com/office/drawing/2014/main" id="{75C19994-D6D6-8277-D64E-72F4CB96CB0A}"/>
              </a:ext>
            </a:extLst>
          </p:cNvPr>
          <p:cNvSpPr>
            <a:spLocks noGrp="1"/>
          </p:cNvSpPr>
          <p:nvPr>
            <p:ph type="sldNum" sz="quarter" idx="12"/>
          </p:nvPr>
        </p:nvSpPr>
        <p:spPr/>
        <p:txBody>
          <a:bodyPr/>
          <a:lstStyle/>
          <a:p>
            <a:fld id="{1005F464-475C-44AD-B39D-86A1D68B524E}" type="slidenum">
              <a:rPr lang="en-IN" smtClean="0"/>
              <a:t>‹#›</a:t>
            </a:fld>
            <a:endParaRPr lang="en-IN"/>
          </a:p>
        </p:txBody>
      </p:sp>
    </p:spTree>
    <p:extLst>
      <p:ext uri="{BB962C8B-B14F-4D97-AF65-F5344CB8AC3E}">
        <p14:creationId xmlns:p14="http://schemas.microsoft.com/office/powerpoint/2010/main" val="1549937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a:extLst>
              <a:ext uri="{FF2B5EF4-FFF2-40B4-BE49-F238E27FC236}">
                <a16:creationId xmlns:a16="http://schemas.microsoft.com/office/drawing/2014/main" id="{7E43606C-9B53-79F1-02DD-16BC50BEB5CE}"/>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1E07FF37-7309-52C1-8095-3F729737C23E}"/>
              </a:ext>
            </a:extLst>
          </p:cNvPr>
          <p:cNvPicPr>
            <a:picLocks noChangeAspect="1"/>
          </p:cNvPicPr>
          <p:nvPr userDrawn="1"/>
        </p:nvPicPr>
        <p:blipFill>
          <a:blip r:embed="rId2"/>
          <a:stretch>
            <a:fillRect/>
          </a:stretch>
        </p:blipFill>
        <p:spPr>
          <a:xfrm>
            <a:off x="10355072" y="178307"/>
            <a:ext cx="1547520" cy="418630"/>
          </a:xfrm>
          <a:prstGeom prst="rect">
            <a:avLst/>
          </a:prstGeom>
        </p:spPr>
      </p:pic>
      <p:pic>
        <p:nvPicPr>
          <p:cNvPr id="4" name="Picture 3">
            <a:extLst>
              <a:ext uri="{FF2B5EF4-FFF2-40B4-BE49-F238E27FC236}">
                <a16:creationId xmlns:a16="http://schemas.microsoft.com/office/drawing/2014/main" id="{C148388E-C341-A5AF-55B7-4442EC1A9BDB}"/>
              </a:ext>
            </a:extLst>
          </p:cNvPr>
          <p:cNvPicPr>
            <a:picLocks noChangeAspect="1"/>
          </p:cNvPicPr>
          <p:nvPr userDrawn="1"/>
        </p:nvPicPr>
        <p:blipFill>
          <a:blip r:embed="rId3"/>
          <a:stretch>
            <a:fillRect/>
          </a:stretch>
        </p:blipFill>
        <p:spPr>
          <a:xfrm>
            <a:off x="328281" y="178308"/>
            <a:ext cx="1581202" cy="505420"/>
          </a:xfrm>
          <a:prstGeom prst="rect">
            <a:avLst/>
          </a:prstGeom>
        </p:spPr>
      </p:pic>
    </p:spTree>
    <p:extLst>
      <p:ext uri="{BB962C8B-B14F-4D97-AF65-F5344CB8AC3E}">
        <p14:creationId xmlns:p14="http://schemas.microsoft.com/office/powerpoint/2010/main" val="1765631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8891486"/>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9BC712-3CD6-D18D-1483-CAFF2130AE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7F309-DEC2-2A35-6A1B-36732AEA34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0BBC8F-5AA1-6A5F-813E-EC818CB3A0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B74D95-0A6A-4FF0-A602-FE349279ABDC}" type="datetime1">
              <a:rPr lang="en-IN" smtClean="0"/>
              <a:t>15-07-2026</a:t>
            </a:fld>
            <a:endParaRPr lang="en-IN"/>
          </a:p>
        </p:txBody>
      </p:sp>
      <p:sp>
        <p:nvSpPr>
          <p:cNvPr id="5" name="Footer Placeholder 4">
            <a:extLst>
              <a:ext uri="{FF2B5EF4-FFF2-40B4-BE49-F238E27FC236}">
                <a16:creationId xmlns:a16="http://schemas.microsoft.com/office/drawing/2014/main" id="{ECD0EE63-802B-29AB-6E8E-2336CA6B49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1/15</a:t>
            </a:r>
          </a:p>
        </p:txBody>
      </p:sp>
      <p:sp>
        <p:nvSpPr>
          <p:cNvPr id="6" name="Slide Number Placeholder 5">
            <a:extLst>
              <a:ext uri="{FF2B5EF4-FFF2-40B4-BE49-F238E27FC236}">
                <a16:creationId xmlns:a16="http://schemas.microsoft.com/office/drawing/2014/main" id="{FF485C65-30CE-BE4C-6597-F76452533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05F464-475C-44AD-B39D-86A1D68B524E}" type="slidenum">
              <a:rPr lang="en-IN" smtClean="0"/>
              <a:t>‹#›</a:t>
            </a:fld>
            <a:endParaRPr lang="en-IN"/>
          </a:p>
        </p:txBody>
      </p:sp>
      <p:sp>
        <p:nvSpPr>
          <p:cNvPr id="7" name="Rectangle 6">
            <a:extLst>
              <a:ext uri="{FF2B5EF4-FFF2-40B4-BE49-F238E27FC236}">
                <a16:creationId xmlns:a16="http://schemas.microsoft.com/office/drawing/2014/main" id="{A3E00DB2-1B79-F076-988B-189E25D268A4}"/>
              </a:ext>
            </a:extLst>
          </p:cNvPr>
          <p:cNvSpPr/>
          <p:nvPr userDrawn="1"/>
        </p:nvSpPr>
        <p:spPr>
          <a:xfrm>
            <a:off x="2078655" y="431018"/>
            <a:ext cx="8107244"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49E6FB77-67DC-C0AD-16FE-6E68AF2B8876}"/>
              </a:ext>
            </a:extLst>
          </p:cNvPr>
          <p:cNvPicPr>
            <a:picLocks noChangeAspect="1"/>
          </p:cNvPicPr>
          <p:nvPr userDrawn="1"/>
        </p:nvPicPr>
        <p:blipFill>
          <a:blip r:embed="rId15"/>
          <a:stretch>
            <a:fillRect/>
          </a:stretch>
        </p:blipFill>
        <p:spPr>
          <a:xfrm>
            <a:off x="10355072" y="178307"/>
            <a:ext cx="1547520" cy="418630"/>
          </a:xfrm>
          <a:prstGeom prst="rect">
            <a:avLst/>
          </a:prstGeom>
        </p:spPr>
      </p:pic>
      <p:pic>
        <p:nvPicPr>
          <p:cNvPr id="9" name="Picture 8">
            <a:extLst>
              <a:ext uri="{FF2B5EF4-FFF2-40B4-BE49-F238E27FC236}">
                <a16:creationId xmlns:a16="http://schemas.microsoft.com/office/drawing/2014/main" id="{D9ED9CD6-CADD-7BD4-3F8E-872DFDE3128D}"/>
              </a:ext>
            </a:extLst>
          </p:cNvPr>
          <p:cNvPicPr>
            <a:picLocks noChangeAspect="1"/>
          </p:cNvPicPr>
          <p:nvPr userDrawn="1"/>
        </p:nvPicPr>
        <p:blipFill>
          <a:blip r:embed="rId16"/>
          <a:stretch>
            <a:fillRect/>
          </a:stretch>
        </p:blipFill>
        <p:spPr>
          <a:xfrm>
            <a:off x="328281" y="178308"/>
            <a:ext cx="1581202" cy="505420"/>
          </a:xfrm>
          <a:prstGeom prst="rect">
            <a:avLst/>
          </a:prstGeom>
        </p:spPr>
      </p:pic>
      <p:sp>
        <p:nvSpPr>
          <p:cNvPr id="10" name="Rectangle 9">
            <a:extLst>
              <a:ext uri="{FF2B5EF4-FFF2-40B4-BE49-F238E27FC236}">
                <a16:creationId xmlns:a16="http://schemas.microsoft.com/office/drawing/2014/main" id="{F318C861-1BD5-B856-A0FD-4B28D1D8BE11}"/>
              </a:ext>
            </a:extLst>
          </p:cNvPr>
          <p:cNvSpPr/>
          <p:nvPr userDrawn="1"/>
        </p:nvSpPr>
        <p:spPr>
          <a:xfrm>
            <a:off x="1" y="6778868"/>
            <a:ext cx="12191997"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2396112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hyperlink" Target="https://developer.hashicorp.com/terraform/language/meta-arguments/depends_on" TargetMode="External"/><Relationship Id="rId13" Type="http://schemas.openxmlformats.org/officeDocument/2006/relationships/hyperlink" Target="https://developer.hashicorp.com/terraform/tutorials/modules/module" TargetMode="External"/><Relationship Id="rId3" Type="http://schemas.openxmlformats.org/officeDocument/2006/relationships/hyperlink" Target="https://developer.hashicorp.com/terraform/intro" TargetMode="External"/><Relationship Id="rId7" Type="http://schemas.openxmlformats.org/officeDocument/2006/relationships/hyperlink" Target="https://developer.hashicorp.com/terraform/language/values/variables" TargetMode="External"/><Relationship Id="rId12" Type="http://schemas.openxmlformats.org/officeDocument/2006/relationships/hyperlink" Target="https://registry.terraform.io/namespaces/GoogleCloudPlatform" TargetMode="External"/><Relationship Id="rId2" Type="http://schemas.openxmlformats.org/officeDocument/2006/relationships/hyperlink" Target="https://cloud.google.com/docs/terraform" TargetMode="External"/><Relationship Id="rId1" Type="http://schemas.openxmlformats.org/officeDocument/2006/relationships/slideLayout" Target="../slideLayouts/slideLayout8.xml"/><Relationship Id="rId6" Type="http://schemas.openxmlformats.org/officeDocument/2006/relationships/hyperlink" Target="https://developer.hashicorp.com/terraform/language/resources" TargetMode="External"/><Relationship Id="rId11" Type="http://schemas.openxmlformats.org/officeDocument/2006/relationships/hyperlink" Target="https://developer.hashicorp.com/terraform/language/modules" TargetMode="External"/><Relationship Id="rId5" Type="http://schemas.openxmlformats.org/officeDocument/2006/relationships/hyperlink" Target="https://www.cloudskillsboost.google/paths/36" TargetMode="External"/><Relationship Id="rId15" Type="http://schemas.openxmlformats.org/officeDocument/2006/relationships/hyperlink" Target="https://cloud.google.com/docs/terraform/best-practices-for-terraform#modules" TargetMode="External"/><Relationship Id="rId10" Type="http://schemas.openxmlformats.org/officeDocument/2006/relationships/hyperlink" Target="https://cloud.google.com/docs/terraform/best-practices-for-terraform" TargetMode="External"/><Relationship Id="rId4" Type="http://schemas.openxmlformats.org/officeDocument/2006/relationships/hyperlink" Target="https://developer.hashicorp.com/terraform/tutorials/gcp-get-started" TargetMode="External"/><Relationship Id="rId9" Type="http://schemas.openxmlformats.org/officeDocument/2006/relationships/hyperlink" Target="https://developer.hashicorp.com/terraform/language/values/outputs" TargetMode="External"/><Relationship Id="rId14" Type="http://schemas.openxmlformats.org/officeDocument/2006/relationships/hyperlink" Target="https://developer.hashicorp.com/terraform/tutorials/modules/module-use"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cloud.google.com/load-balancing/docs/load-balancing-overview" TargetMode="External"/><Relationship Id="rId13" Type="http://schemas.openxmlformats.org/officeDocument/2006/relationships/hyperlink" Target="https://cloud.google.com/trace/docs/overview" TargetMode="External"/><Relationship Id="rId3" Type="http://schemas.openxmlformats.org/officeDocument/2006/relationships/hyperlink" Target="https://cloud.google.com/storage/docs/introduction" TargetMode="External"/><Relationship Id="rId7" Type="http://schemas.openxmlformats.org/officeDocument/2006/relationships/hyperlink" Target="https://cloud.google.com/vpc/docs/overview" TargetMode="External"/><Relationship Id="rId12" Type="http://schemas.openxmlformats.org/officeDocument/2006/relationships/hyperlink" Target="https://cloud.google.com/logging/docs/overview" TargetMode="External"/><Relationship Id="rId2" Type="http://schemas.openxmlformats.org/officeDocument/2006/relationships/hyperlink" Target="https://cloud.google.com/compute/docs/instances/create-start-instance" TargetMode="External"/><Relationship Id="rId1" Type="http://schemas.openxmlformats.org/officeDocument/2006/relationships/slideLayout" Target="../slideLayouts/slideLayout8.xml"/><Relationship Id="rId6" Type="http://schemas.openxmlformats.org/officeDocument/2006/relationships/hyperlink" Target="https://cloud.google.com/billing/docs/concepts" TargetMode="External"/><Relationship Id="rId11" Type="http://schemas.openxmlformats.org/officeDocument/2006/relationships/hyperlink" Target="https://cloud.google.com/vpc/docs/firewalls" TargetMode="External"/><Relationship Id="rId5" Type="http://schemas.openxmlformats.org/officeDocument/2006/relationships/hyperlink" Target="https://www.cloudskillsboost.google/course_templates/60" TargetMode="External"/><Relationship Id="rId15" Type="http://schemas.openxmlformats.org/officeDocument/2006/relationships/hyperlink" Target="https://www.cloudskillsboost.google/course_templates/99" TargetMode="External"/><Relationship Id="rId10" Type="http://schemas.openxmlformats.org/officeDocument/2006/relationships/hyperlink" Target="https://cloud.google.com/iam/docs/roles-overview" TargetMode="External"/><Relationship Id="rId4" Type="http://schemas.openxmlformats.org/officeDocument/2006/relationships/hyperlink" Target="https://cloud.google.com/iam/docs/overview" TargetMode="External"/><Relationship Id="rId9" Type="http://schemas.openxmlformats.org/officeDocument/2006/relationships/hyperlink" Target="https://cloud.google.com/iam/docs/service-accounts-create" TargetMode="External"/><Relationship Id="rId14" Type="http://schemas.openxmlformats.org/officeDocument/2006/relationships/hyperlink" Target="https://cloud.google.com/error-reporting/docs/setup/compute-engin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Academic%20benefits.pdf" TargetMode="Externa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8" Type="http://schemas.openxmlformats.org/officeDocument/2006/relationships/diagramLayout" Target="../diagrams/layout3.xml"/><Relationship Id="rId13" Type="http://schemas.openxmlformats.org/officeDocument/2006/relationships/diagramLayout" Target="../diagrams/layout4.xml"/><Relationship Id="rId18" Type="http://schemas.openxmlformats.org/officeDocument/2006/relationships/diagramLayout" Target="../diagrams/layout5.xml"/><Relationship Id="rId3" Type="http://schemas.openxmlformats.org/officeDocument/2006/relationships/diagramLayout" Target="../diagrams/layout2.xml"/><Relationship Id="rId21" Type="http://schemas.microsoft.com/office/2007/relationships/diagramDrawing" Target="../diagrams/drawing5.xml"/><Relationship Id="rId7" Type="http://schemas.openxmlformats.org/officeDocument/2006/relationships/diagramData" Target="../diagrams/data3.xml"/><Relationship Id="rId12" Type="http://schemas.openxmlformats.org/officeDocument/2006/relationships/diagramData" Target="../diagrams/data4.xml"/><Relationship Id="rId17" Type="http://schemas.openxmlformats.org/officeDocument/2006/relationships/diagramData" Target="../diagrams/data5.xml"/><Relationship Id="rId2" Type="http://schemas.openxmlformats.org/officeDocument/2006/relationships/diagramData" Target="../diagrams/data2.xml"/><Relationship Id="rId16" Type="http://schemas.microsoft.com/office/2007/relationships/diagramDrawing" Target="../diagrams/drawing4.xml"/><Relationship Id="rId20" Type="http://schemas.openxmlformats.org/officeDocument/2006/relationships/diagramColors" Target="../diagrams/colors5.xml"/><Relationship Id="rId1" Type="http://schemas.openxmlformats.org/officeDocument/2006/relationships/slideLayout" Target="../slideLayouts/slideLayout8.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5" Type="http://schemas.openxmlformats.org/officeDocument/2006/relationships/diagramColors" Target="../diagrams/colors4.xml"/><Relationship Id="rId10" Type="http://schemas.openxmlformats.org/officeDocument/2006/relationships/diagramColors" Target="../diagrams/colors3.xml"/><Relationship Id="rId19" Type="http://schemas.openxmlformats.org/officeDocument/2006/relationships/diagramQuickStyle" Target="../diagrams/quickStyle5.xml"/><Relationship Id="rId4" Type="http://schemas.openxmlformats.org/officeDocument/2006/relationships/diagramQuickStyle" Target="../diagrams/quickStyle2.xml"/><Relationship Id="rId9" Type="http://schemas.openxmlformats.org/officeDocument/2006/relationships/diagramQuickStyle" Target="../diagrams/quickStyle3.xml"/><Relationship Id="rId1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FCA6B7-70B1-BDD1-B4CE-53131AAE07C5}"/>
              </a:ext>
            </a:extLst>
          </p:cNvPr>
          <p:cNvSpPr txBox="1">
            <a:spLocks/>
          </p:cNvSpPr>
          <p:nvPr/>
        </p:nvSpPr>
        <p:spPr>
          <a:xfrm>
            <a:off x="692150" y="-209862"/>
            <a:ext cx="10807700" cy="914400"/>
          </a:xfrm>
          <a:prstGeom prst="rect">
            <a:avLst/>
          </a:prstGeom>
        </p:spPr>
        <p:txBody>
          <a:bodyPr wrap="square"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Google Shape;90;p1">
            <a:extLst>
              <a:ext uri="{FF2B5EF4-FFF2-40B4-BE49-F238E27FC236}">
                <a16:creationId xmlns:a16="http://schemas.microsoft.com/office/drawing/2014/main" id="{DB6C3FD7-20D1-A4B6-C20A-F5181ABFDDE8}"/>
              </a:ext>
            </a:extLst>
          </p:cNvPr>
          <p:cNvSpPr txBox="1">
            <a:spLocks/>
          </p:cNvSpPr>
          <p:nvPr/>
        </p:nvSpPr>
        <p:spPr>
          <a:xfrm>
            <a:off x="612068" y="1676400"/>
            <a:ext cx="10987791" cy="3416279"/>
          </a:xfrm>
          <a:prstGeom prst="rect">
            <a:avLst/>
          </a:prstGeom>
          <a:solidFill>
            <a:srgbClr val="EBF1DE"/>
          </a:solidFill>
          <a:ln>
            <a:noFill/>
          </a:ln>
        </p:spPr>
        <p:txBody>
          <a:bodyPr spcFirstLastPara="1" wrap="square" lIns="91425" tIns="45700" rIns="91425" bIns="4570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algn="ctr">
              <a:spcBef>
                <a:spcPts val="0"/>
              </a:spcBef>
              <a:buSzPts val="4000"/>
              <a:buFont typeface="Arial" panose="020B0604020202020204" pitchFamily="34" charset="0"/>
              <a:buNone/>
            </a:pP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r>
              <a:rPr lang="en-US" sz="4000" b="1" dirty="0">
                <a:latin typeface="Times New Roman"/>
                <a:cs typeface="Times New Roman"/>
                <a:sym typeface="Times New Roman"/>
              </a:rPr>
              <a:t>CSE 401</a:t>
            </a:r>
          </a:p>
          <a:p>
            <a:pPr marL="342900" algn="ctr">
              <a:spcBef>
                <a:spcPts val="0"/>
              </a:spcBef>
              <a:buSzPts val="4000"/>
              <a:buFont typeface="Arial" panose="020B0604020202020204" pitchFamily="34" charset="0"/>
              <a:buNone/>
            </a:pPr>
            <a:r>
              <a:rPr lang="en-US" sz="4000" b="1" dirty="0">
                <a:latin typeface="Times New Roman"/>
                <a:cs typeface="Times New Roman"/>
                <a:sym typeface="Times New Roman"/>
              </a:rPr>
              <a:t>ACE TRAINING</a:t>
            </a:r>
            <a:endParaRPr lang="en-US" dirty="0"/>
          </a:p>
          <a:p>
            <a:pPr marL="342900" algn="ctr">
              <a:spcBef>
                <a:spcPts val="0"/>
              </a:spcBef>
              <a:buSzPts val="4000"/>
              <a:buFont typeface="Arial" panose="020B0604020202020204" pitchFamily="34" charset="0"/>
              <a:buNone/>
            </a:pP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endParaRPr lang="en-US" sz="4000" b="1" dirty="0">
              <a:latin typeface="Times New Roman"/>
              <a:ea typeface="Times New Roman"/>
              <a:cs typeface="Times New Roman"/>
              <a:sym typeface="Times New Roman"/>
            </a:endParaRPr>
          </a:p>
          <a:p>
            <a:pPr marL="342900" algn="ctr">
              <a:spcBef>
                <a:spcPts val="0"/>
              </a:spcBef>
              <a:buSzPts val="4000"/>
              <a:buFont typeface="Arial" panose="020B0604020202020204" pitchFamily="34" charset="0"/>
              <a:buNone/>
            </a:pPr>
            <a:r>
              <a:rPr lang="en-US" sz="4000" b="1" dirty="0">
                <a:latin typeface="Times New Roman"/>
                <a:ea typeface="Times New Roman"/>
                <a:cs typeface="Times New Roman"/>
                <a:sym typeface="Times New Roman"/>
              </a:rPr>
              <a:t>L T P: 0 0 4</a:t>
            </a:r>
            <a:endParaRPr lang="en-US" dirty="0"/>
          </a:p>
        </p:txBody>
      </p:sp>
    </p:spTree>
    <p:extLst>
      <p:ext uri="{BB962C8B-B14F-4D97-AF65-F5344CB8AC3E}">
        <p14:creationId xmlns:p14="http://schemas.microsoft.com/office/powerpoint/2010/main" val="4268242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37F834-44E1-39CF-04A8-B77B0D5A839F}"/>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2" name="TextBox 1">
            <a:extLst>
              <a:ext uri="{FF2B5EF4-FFF2-40B4-BE49-F238E27FC236}">
                <a16:creationId xmlns:a16="http://schemas.microsoft.com/office/drawing/2014/main" id="{7EE90413-C556-A9B9-B6F5-2E6531553C21}"/>
              </a:ext>
            </a:extLst>
          </p:cNvPr>
          <p:cNvSpPr txBox="1"/>
          <p:nvPr/>
        </p:nvSpPr>
        <p:spPr>
          <a:xfrm>
            <a:off x="175753" y="1775871"/>
            <a:ext cx="4343400" cy="171566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7938" lvl="1" algn="just">
              <a:lnSpc>
                <a:spcPct val="150000"/>
              </a:lnSpc>
            </a:pPr>
            <a:r>
              <a:rPr lang="en-US" sz="1600" b="1" dirty="0">
                <a:solidFill>
                  <a:srgbClr val="0070C0"/>
                </a:solidFill>
                <a:latin typeface="Times New Roman" pitchFamily="18" charset="0"/>
                <a:cs typeface="Times New Roman" pitchFamily="18" charset="0"/>
              </a:rPr>
              <a:t>Course Assessment Model:</a:t>
            </a:r>
          </a:p>
          <a:p>
            <a:pPr marL="293688" lvl="1" indent="-285750" algn="just">
              <a:lnSpc>
                <a:spcPct val="150000"/>
              </a:lnSpc>
              <a:buFont typeface="Wingdings" panose="05000000000000000000" pitchFamily="2" charset="2"/>
              <a:buChar char="Ø"/>
            </a:pPr>
            <a:r>
              <a:rPr lang="en-US" sz="1400" b="1" dirty="0">
                <a:latin typeface="Times New Roman" pitchFamily="18" charset="0"/>
                <a:cs typeface="Times New Roman" pitchFamily="18" charset="0"/>
              </a:rPr>
              <a:t>Attendance		: 05 M</a:t>
            </a:r>
          </a:p>
          <a:p>
            <a:pPr marL="293688" lvl="1" indent="-285750" algn="just">
              <a:lnSpc>
                <a:spcPct val="150000"/>
              </a:lnSpc>
              <a:buFont typeface="Wingdings" panose="05000000000000000000" pitchFamily="2" charset="2"/>
              <a:buChar char="Ø"/>
            </a:pPr>
            <a:r>
              <a:rPr lang="en-US" sz="1400" b="1" dirty="0">
                <a:latin typeface="Times New Roman" pitchFamily="18" charset="0"/>
                <a:cs typeface="Times New Roman" pitchFamily="18" charset="0"/>
              </a:rPr>
              <a:t>CA 			: 45 M</a:t>
            </a:r>
          </a:p>
          <a:p>
            <a:pPr marL="293688" lvl="1" indent="-285750" algn="just">
              <a:lnSpc>
                <a:spcPct val="150000"/>
              </a:lnSpc>
              <a:buFont typeface="Wingdings" panose="05000000000000000000" pitchFamily="2" charset="2"/>
              <a:buChar char="Ø"/>
            </a:pPr>
            <a:r>
              <a:rPr lang="en-US" sz="1400" b="1" dirty="0">
                <a:latin typeface="Times New Roman" pitchFamily="18" charset="0"/>
                <a:cs typeface="Times New Roman" pitchFamily="18" charset="0"/>
              </a:rPr>
              <a:t>ETT			: 50 M</a:t>
            </a:r>
          </a:p>
          <a:p>
            <a:pPr marL="7938" lvl="1" algn="just">
              <a:lnSpc>
                <a:spcPct val="150000"/>
              </a:lnSpc>
            </a:pPr>
            <a:r>
              <a:rPr lang="en-US" sz="1400" b="1" dirty="0">
                <a:latin typeface="Times New Roman" pitchFamily="18" charset="0"/>
                <a:cs typeface="Times New Roman" pitchFamily="18" charset="0"/>
              </a:rPr>
              <a:t>       </a:t>
            </a:r>
            <a:r>
              <a:rPr lang="en-US" sz="1400" b="1" dirty="0">
                <a:solidFill>
                  <a:srgbClr val="FF0000"/>
                </a:solidFill>
                <a:latin typeface="Times New Roman" pitchFamily="18" charset="0"/>
                <a:cs typeface="Times New Roman" pitchFamily="18" charset="0"/>
              </a:rPr>
              <a:t>Total</a:t>
            </a:r>
            <a:r>
              <a:rPr lang="en-US" sz="1400" b="1" dirty="0">
                <a:latin typeface="Times New Roman" pitchFamily="18" charset="0"/>
                <a:cs typeface="Times New Roman" pitchFamily="18" charset="0"/>
              </a:rPr>
              <a:t> 			</a:t>
            </a:r>
            <a:r>
              <a:rPr lang="en-US" sz="1400" b="1" dirty="0">
                <a:solidFill>
                  <a:srgbClr val="FF0000"/>
                </a:solidFill>
                <a:latin typeface="Times New Roman" pitchFamily="18" charset="0"/>
                <a:cs typeface="Times New Roman" pitchFamily="18" charset="0"/>
              </a:rPr>
              <a:t>:</a:t>
            </a:r>
            <a:r>
              <a:rPr lang="en-US" sz="1400" b="1" dirty="0">
                <a:latin typeface="Times New Roman" pitchFamily="18" charset="0"/>
                <a:cs typeface="Times New Roman" pitchFamily="18" charset="0"/>
              </a:rPr>
              <a:t> </a:t>
            </a:r>
            <a:r>
              <a:rPr lang="en-US" sz="1400" b="1" dirty="0">
                <a:solidFill>
                  <a:srgbClr val="FF0000"/>
                </a:solidFill>
                <a:latin typeface="Times New Roman" pitchFamily="18" charset="0"/>
                <a:cs typeface="Times New Roman" pitchFamily="18" charset="0"/>
              </a:rPr>
              <a:t>100 M</a:t>
            </a:r>
            <a:endParaRPr lang="en-US" sz="1400" b="1"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2370BEDC-9D97-C58B-D07F-988FF2367C20}"/>
              </a:ext>
            </a:extLst>
          </p:cNvPr>
          <p:cNvSpPr txBox="1"/>
          <p:nvPr/>
        </p:nvSpPr>
        <p:spPr>
          <a:xfrm>
            <a:off x="175753" y="863639"/>
            <a:ext cx="4343400" cy="746166"/>
          </a:xfrm>
          <a:prstGeom prst="rect">
            <a:avLst/>
          </a:prstGeom>
          <a:noFill/>
        </p:spPr>
        <p:txBody>
          <a:bodyPr wrap="square" rtlCol="0">
            <a:spAutoFit/>
          </a:bodyPr>
          <a:lstStyle/>
          <a:p>
            <a:pPr algn="just">
              <a:lnSpc>
                <a:spcPct val="150000"/>
              </a:lnSpc>
            </a:pPr>
            <a:r>
              <a:rPr lang="en-US" sz="1600" b="1" dirty="0">
                <a:solidFill>
                  <a:srgbClr val="0070C0"/>
                </a:solidFill>
                <a:latin typeface="Times New Roman" pitchFamily="18" charset="0"/>
                <a:cs typeface="Times New Roman" pitchFamily="18" charset="0"/>
              </a:rPr>
              <a:t>L-T-P: 0-0-4 </a:t>
            </a:r>
          </a:p>
          <a:p>
            <a:pPr algn="just">
              <a:lnSpc>
                <a:spcPct val="150000"/>
              </a:lnSpc>
            </a:pPr>
            <a:r>
              <a:rPr lang="en-US" sz="1400" b="1" dirty="0">
                <a:latin typeface="Times New Roman" pitchFamily="18" charset="0"/>
                <a:cs typeface="Times New Roman" pitchFamily="18" charset="0"/>
              </a:rPr>
              <a:t>[4 Practical Sessions per week] – Credits: 03</a:t>
            </a:r>
          </a:p>
        </p:txBody>
      </p:sp>
      <p:sp>
        <p:nvSpPr>
          <p:cNvPr id="8" name="TextBox 7">
            <a:extLst>
              <a:ext uri="{FF2B5EF4-FFF2-40B4-BE49-F238E27FC236}">
                <a16:creationId xmlns:a16="http://schemas.microsoft.com/office/drawing/2014/main" id="{F7122DA5-3916-9913-D4DB-A7D407D476B2}"/>
              </a:ext>
            </a:extLst>
          </p:cNvPr>
          <p:cNvSpPr txBox="1"/>
          <p:nvPr/>
        </p:nvSpPr>
        <p:spPr>
          <a:xfrm>
            <a:off x="175753" y="3657599"/>
            <a:ext cx="7353740" cy="74616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7938" lvl="1" algn="just">
              <a:lnSpc>
                <a:spcPct val="150000"/>
              </a:lnSpc>
            </a:pPr>
            <a:r>
              <a:rPr lang="en-US" sz="1600" b="1" dirty="0">
                <a:solidFill>
                  <a:schemeClr val="tx1"/>
                </a:solidFill>
                <a:latin typeface="Times New Roman" pitchFamily="18" charset="0"/>
                <a:cs typeface="Times New Roman" pitchFamily="18" charset="0"/>
              </a:rPr>
              <a:t>Reference Books (R):</a:t>
            </a:r>
          </a:p>
          <a:p>
            <a:pPr marL="350838" lvl="1" indent="-342900" algn="just">
              <a:lnSpc>
                <a:spcPct val="150000"/>
              </a:lnSpc>
              <a:buClr>
                <a:srgbClr val="0070C0"/>
              </a:buClr>
              <a:buFont typeface="+mj-lt"/>
              <a:buAutoNum type="arabicPeriod"/>
            </a:pPr>
            <a:r>
              <a:rPr lang="en-US" sz="1400" b="1" dirty="0">
                <a:solidFill>
                  <a:srgbClr val="00B050"/>
                </a:solidFill>
                <a:latin typeface="Times New Roman" pitchFamily="18" charset="0"/>
                <a:cs typeface="Times New Roman" pitchFamily="18" charset="0"/>
              </a:rPr>
              <a:t>Google Cloud Documentation by GOOGLE</a:t>
            </a:r>
          </a:p>
        </p:txBody>
      </p:sp>
      <p:cxnSp>
        <p:nvCxnSpPr>
          <p:cNvPr id="10" name="Straight Connector 9">
            <a:extLst>
              <a:ext uri="{FF2B5EF4-FFF2-40B4-BE49-F238E27FC236}">
                <a16:creationId xmlns:a16="http://schemas.microsoft.com/office/drawing/2014/main" id="{5BD07799-7B92-7DC0-CD12-BF2834B23FFB}"/>
              </a:ext>
            </a:extLst>
          </p:cNvPr>
          <p:cNvCxnSpPr/>
          <p:nvPr/>
        </p:nvCxnSpPr>
        <p:spPr>
          <a:xfrm>
            <a:off x="428469" y="3147934"/>
            <a:ext cx="318416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575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A43A-297A-35AA-E028-68EA59FC1DC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88E90EC-F2AD-608A-82B0-C996FC496781}"/>
              </a:ext>
            </a:extLst>
          </p:cNvPr>
          <p:cNvSpPr txBox="1"/>
          <p:nvPr/>
        </p:nvSpPr>
        <p:spPr>
          <a:xfrm>
            <a:off x="1974952" y="534862"/>
            <a:ext cx="8443212" cy="369332"/>
          </a:xfrm>
          <a:prstGeom prst="rect">
            <a:avLst/>
          </a:prstGeom>
          <a:noFill/>
        </p:spPr>
        <p:txBody>
          <a:bodyPr wrap="square">
            <a:spAutoFit/>
          </a:bodyPr>
          <a:lstStyle/>
          <a:p>
            <a:pPr algn="ctr"/>
            <a:r>
              <a:rPr lang="en-US" sz="1800" b="1" dirty="0">
                <a:solidFill>
                  <a:srgbClr val="FF0000"/>
                </a:solidFill>
                <a:latin typeface="Times New Roman"/>
                <a:ea typeface="Times New Roman"/>
                <a:cs typeface="Times New Roman"/>
                <a:sym typeface="Times New Roman"/>
              </a:rPr>
              <a:t>VISION &amp; MISSION – SCHOOL</a:t>
            </a:r>
            <a:endParaRPr lang="en-IN" dirty="0"/>
          </a:p>
        </p:txBody>
      </p:sp>
      <p:sp>
        <p:nvSpPr>
          <p:cNvPr id="11" name="TextBox 10">
            <a:extLst>
              <a:ext uri="{FF2B5EF4-FFF2-40B4-BE49-F238E27FC236}">
                <a16:creationId xmlns:a16="http://schemas.microsoft.com/office/drawing/2014/main" id="{107551AB-EC9E-E92F-18CA-1FE6CFD4EC75}"/>
              </a:ext>
            </a:extLst>
          </p:cNvPr>
          <p:cNvSpPr txBox="1"/>
          <p:nvPr/>
        </p:nvSpPr>
        <p:spPr>
          <a:xfrm>
            <a:off x="195681" y="1139252"/>
            <a:ext cx="11676529" cy="1289071"/>
          </a:xfrm>
          <a:prstGeom prst="rect">
            <a:avLst/>
          </a:prstGeom>
          <a:noFill/>
        </p:spPr>
        <p:txBody>
          <a:bodyPr wrap="square" rtlCol="0">
            <a:spAutoFit/>
          </a:bodyPr>
          <a:lstStyle/>
          <a:p>
            <a:pPr algn="just">
              <a:lnSpc>
                <a:spcPct val="150000"/>
              </a:lnSpc>
            </a:pPr>
            <a:r>
              <a:rPr lang="en-IN" sz="1800" b="1" dirty="0">
                <a:solidFill>
                  <a:srgbClr val="000099"/>
                </a:solidFill>
                <a:latin typeface="Times New Roman" panose="02020603050405020304" pitchFamily="18" charset="0"/>
                <a:cs typeface="Times New Roman" panose="02020603050405020304" pitchFamily="18" charset="0"/>
              </a:rPr>
              <a:t>VISION:</a:t>
            </a:r>
          </a:p>
          <a:p>
            <a:pPr algn="just">
              <a:lnSpc>
                <a:spcPct val="150000"/>
              </a:lnSpc>
            </a:pPr>
            <a:r>
              <a:rPr lang="en-US" sz="1800" dirty="0">
                <a:effectLst/>
                <a:latin typeface="Times New Roman" panose="02020603050405020304" pitchFamily="18" charset="0"/>
                <a:ea typeface="Arial" panose="020B0604020202020204" pitchFamily="34" charset="0"/>
              </a:rPr>
              <a:t>To be a globally recognized school through excellence in teaching, learning, and research for creating Computer Science professionals, leaders, and entrepreneurs of the future contributing to society and industry for sustainable growth.</a:t>
            </a:r>
            <a:endParaRPr lang="en-IN" sz="18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9ED594A-56E3-2DE7-A8BC-2B08AB5A8592}"/>
              </a:ext>
            </a:extLst>
          </p:cNvPr>
          <p:cNvSpPr txBox="1"/>
          <p:nvPr/>
        </p:nvSpPr>
        <p:spPr>
          <a:xfrm>
            <a:off x="195681" y="2428323"/>
            <a:ext cx="11820567" cy="2535566"/>
          </a:xfrm>
          <a:prstGeom prst="rect">
            <a:avLst/>
          </a:prstGeom>
          <a:noFill/>
        </p:spPr>
        <p:txBody>
          <a:bodyPr wrap="square" rtlCol="0">
            <a:spAutoFit/>
          </a:bodyPr>
          <a:lstStyle/>
          <a:p>
            <a:pPr algn="just">
              <a:lnSpc>
                <a:spcPct val="150000"/>
              </a:lnSpc>
            </a:pPr>
            <a:r>
              <a:rPr lang="en-IN" sz="1800" b="1" dirty="0">
                <a:solidFill>
                  <a:srgbClr val="00B050"/>
                </a:solidFill>
                <a:latin typeface="Times New Roman" panose="02020603050405020304" pitchFamily="18" charset="0"/>
                <a:cs typeface="Times New Roman" panose="02020603050405020304" pitchFamily="18" charset="0"/>
              </a:rPr>
              <a:t>MISSION:</a:t>
            </a:r>
          </a:p>
          <a:p>
            <a:pPr algn="just">
              <a:lnSpc>
                <a:spcPct val="150000"/>
              </a:lnSpc>
            </a:pPr>
            <a:r>
              <a:rPr lang="en-IN" sz="1800" b="1" dirty="0">
                <a:solidFill>
                  <a:srgbClr val="FF0000"/>
                </a:solidFill>
                <a:latin typeface="Times New Roman" panose="02020603050405020304" pitchFamily="18" charset="0"/>
                <a:cs typeface="Times New Roman" panose="02020603050405020304" pitchFamily="18" charset="0"/>
              </a:rPr>
              <a:t>M1:</a:t>
            </a:r>
            <a:r>
              <a:rPr lang="en-IN" sz="18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Arial" panose="020B0604020202020204" pitchFamily="34" charset="0"/>
              </a:rPr>
              <a:t>To build computational skills through hands-on and practice-based learning with measurable outcomes.</a:t>
            </a:r>
          </a:p>
          <a:p>
            <a:pPr algn="just">
              <a:lnSpc>
                <a:spcPct val="150000"/>
              </a:lnSpc>
            </a:pPr>
            <a:r>
              <a:rPr lang="en-US" sz="1800" b="1" dirty="0">
                <a:solidFill>
                  <a:srgbClr val="3324FC"/>
                </a:solidFill>
                <a:latin typeface="Times New Roman" panose="02020603050405020304" pitchFamily="18" charset="0"/>
                <a:cs typeface="Times New Roman" panose="02020603050405020304" pitchFamily="18" charset="0"/>
              </a:rPr>
              <a:t>M2:</a:t>
            </a:r>
            <a:r>
              <a:rPr lang="en-US" sz="18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Arial" panose="020B0604020202020204" pitchFamily="34" charset="0"/>
              </a:rPr>
              <a:t>To establish a strong connection with industry for an in-demand technology-driven curriculum.</a:t>
            </a:r>
            <a:endParaRPr lang="en-US" sz="1800" dirty="0">
              <a:effectLst/>
              <a:latin typeface="Times New Roman" panose="02020603050405020304" pitchFamily="18" charset="0"/>
              <a:ea typeface="Arial" panose="020B0604020202020204" pitchFamily="34" charset="0"/>
              <a:cs typeface="Times New Roman" panose="02020603050405020304" pitchFamily="18" charset="0"/>
            </a:endParaRPr>
          </a:p>
          <a:p>
            <a:pPr algn="just">
              <a:lnSpc>
                <a:spcPct val="150000"/>
              </a:lnSpc>
            </a:pPr>
            <a:r>
              <a:rPr lang="en-US" sz="1800" b="1" dirty="0">
                <a:solidFill>
                  <a:schemeClr val="accent6">
                    <a:lumMod val="50000"/>
                  </a:schemeClr>
                </a:solidFill>
                <a:latin typeface="Times New Roman" panose="02020603050405020304" pitchFamily="18" charset="0"/>
                <a:cs typeface="Times New Roman" panose="02020603050405020304" pitchFamily="18" charset="0"/>
              </a:rPr>
              <a:t>M3:</a:t>
            </a:r>
            <a:r>
              <a:rPr lang="en-US" sz="18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Arial" panose="020B0604020202020204" pitchFamily="34" charset="0"/>
              </a:rPr>
              <a:t>To build the infrastructure for meaningful research around societal problems.</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b="1" dirty="0">
                <a:solidFill>
                  <a:srgbClr val="00B050"/>
                </a:solidFill>
                <a:latin typeface="Times New Roman" panose="02020603050405020304" pitchFamily="18" charset="0"/>
                <a:cs typeface="Times New Roman" panose="02020603050405020304" pitchFamily="18" charset="0"/>
              </a:rPr>
              <a:t>M4:</a:t>
            </a:r>
            <a:r>
              <a:rPr lang="en-US" sz="1800"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Arial" panose="020B0604020202020204" pitchFamily="34" charset="0"/>
              </a:rPr>
              <a:t>To nurture future leaders through research-infused education and lifelong learning.</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b="1" dirty="0">
                <a:solidFill>
                  <a:schemeClr val="accent5">
                    <a:lumMod val="50000"/>
                  </a:schemeClr>
                </a:solidFill>
                <a:latin typeface="Times New Roman" panose="02020603050405020304" pitchFamily="18" charset="0"/>
                <a:cs typeface="Times New Roman" panose="02020603050405020304" pitchFamily="18" charset="0"/>
              </a:rPr>
              <a:t>M5:</a:t>
            </a:r>
            <a:r>
              <a:rPr lang="en-US" sz="1800" dirty="0">
                <a:effectLst/>
                <a:latin typeface="Times New Roman" panose="02020603050405020304" pitchFamily="18" charset="0"/>
                <a:ea typeface="Arial" panose="020B0604020202020204" pitchFamily="34" charset="0"/>
              </a:rPr>
              <a:t>To create smart and ethical professionals and entrepreneurs who are recognized globally.</a:t>
            </a:r>
            <a:endParaRPr lang="en-IN" sz="1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521DA8-1526-11A2-D9F0-1F1CB718564C}"/>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82357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966D-75EF-DC56-7164-75A9B878B3CB}"/>
            </a:ext>
          </a:extLst>
        </p:cNvPr>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C4F2F197-1398-1BD4-4630-71AA41B24FC7}"/>
              </a:ext>
            </a:extLst>
          </p:cNvPr>
          <p:cNvGraphicFramePr>
            <a:graphicFrameLocks noGrp="1"/>
          </p:cNvGraphicFramePr>
          <p:nvPr>
            <p:extLst>
              <p:ext uri="{D42A27DB-BD31-4B8C-83A1-F6EECF244321}">
                <p14:modId xmlns:p14="http://schemas.microsoft.com/office/powerpoint/2010/main" val="2690277830"/>
              </p:ext>
            </p:extLst>
          </p:nvPr>
        </p:nvGraphicFramePr>
        <p:xfrm>
          <a:off x="174063" y="857677"/>
          <a:ext cx="11820566" cy="5868001"/>
        </p:xfrm>
        <a:graphic>
          <a:graphicData uri="http://schemas.openxmlformats.org/drawingml/2006/table">
            <a:tbl>
              <a:tblPr firstRow="1" firstCol="1" bandRow="1">
                <a:tableStyleId>{21E4AEA4-8DFA-4A89-87EB-49C32662AFE0}</a:tableStyleId>
              </a:tblPr>
              <a:tblGrid>
                <a:gridCol w="1295657">
                  <a:extLst>
                    <a:ext uri="{9D8B030D-6E8A-4147-A177-3AD203B41FA5}">
                      <a16:colId xmlns:a16="http://schemas.microsoft.com/office/drawing/2014/main" val="579077871"/>
                    </a:ext>
                  </a:extLst>
                </a:gridCol>
                <a:gridCol w="10524909">
                  <a:extLst>
                    <a:ext uri="{9D8B030D-6E8A-4147-A177-3AD203B41FA5}">
                      <a16:colId xmlns:a16="http://schemas.microsoft.com/office/drawing/2014/main" val="995772205"/>
                    </a:ext>
                  </a:extLst>
                </a:gridCol>
              </a:tblGrid>
              <a:tr h="867203">
                <a:tc>
                  <a:txBody>
                    <a:bodyPr/>
                    <a:lstStyle/>
                    <a:p>
                      <a:pPr algn="ctr">
                        <a:lnSpc>
                          <a:spcPct val="130000"/>
                        </a:lnSpc>
                        <a:spcAft>
                          <a:spcPts val="0"/>
                        </a:spcAft>
                      </a:pPr>
                      <a:r>
                        <a:rPr lang="en-IN" sz="1800" b="1" kern="100" dirty="0">
                          <a:solidFill>
                            <a:schemeClr val="bg1"/>
                          </a:solidFill>
                          <a:effectLst/>
                          <a:latin typeface="Times New Roman" panose="02020603050405020304" pitchFamily="18" charset="0"/>
                          <a:cs typeface="Times New Roman" panose="02020603050405020304" pitchFamily="18" charset="0"/>
                        </a:rPr>
                        <a:t>Course Outcome</a:t>
                      </a:r>
                      <a:endParaRPr lang="en-IN" sz="18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30000"/>
                        </a:lnSpc>
                        <a:spcAft>
                          <a:spcPts val="0"/>
                        </a:spcAft>
                      </a:pPr>
                      <a:r>
                        <a:rPr lang="en-IN" sz="2000" b="1" kern="100" dirty="0">
                          <a:solidFill>
                            <a:schemeClr val="bg1"/>
                          </a:solidFill>
                          <a:effectLst/>
                          <a:latin typeface="Times New Roman" panose="02020603050405020304" pitchFamily="18" charset="0"/>
                          <a:cs typeface="Times New Roman" panose="02020603050405020304" pitchFamily="18" charset="0"/>
                        </a:rPr>
                        <a:t>DESCRIPTION</a:t>
                      </a:r>
                      <a:endParaRPr lang="en-IN" sz="2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524197"/>
                  </a:ext>
                </a:extLst>
              </a:tr>
              <a:tr h="593429">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1</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4000"/>
                        </a:lnSpc>
                        <a:spcAft>
                          <a:spcPts val="0"/>
                        </a:spcAft>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recall the fundamental principles of Infrastructure as Code (IaC) and </a:t>
                      </a:r>
                      <a:r>
                        <a:rPr lang="en-US" sz="1600" dirty="0" err="1">
                          <a:solidFill>
                            <a:srgbClr val="333333"/>
                          </a:solidFill>
                          <a:latin typeface="Times New Roman" panose="02020603050405020304" pitchFamily="18" charset="0"/>
                          <a:ea typeface="Times New Roman"/>
                          <a:cs typeface="Times New Roman" panose="02020603050405020304" pitchFamily="18" charset="0"/>
                          <a:sym typeface="Times New Roman"/>
                        </a:rPr>
                        <a:t>Terraform's</a:t>
                      </a: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 core concepts for automating Google Cloud resource provisioning.</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52078026"/>
                  </a:ext>
                </a:extLst>
              </a:tr>
              <a:tr h="949225">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2</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describe Terraform </a:t>
                      </a:r>
                      <a:r>
                        <a:rPr lang="en-US" sz="1600" dirty="0" err="1">
                          <a:solidFill>
                            <a:srgbClr val="333333"/>
                          </a:solidFill>
                          <a:latin typeface="Times New Roman" panose="02020603050405020304" pitchFamily="18" charset="0"/>
                          <a:ea typeface="Times New Roman"/>
                          <a:cs typeface="Times New Roman" panose="02020603050405020304" pitchFamily="18" charset="0"/>
                          <a:sym typeface="Times New Roman"/>
                        </a:rPr>
                        <a:t>HashiCorp</a:t>
                      </a: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 Configuration Language (HCL) to declare and manage various Google Cloud resources, including compute, storage, and networking components.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6092474"/>
                  </a:ext>
                </a:extLst>
              </a:tr>
              <a:tr h="864536">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3</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transform Terraform state effectively, utilize modules for reusability, and troubleshoot common deployment issues within a Google Cloud context.</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85562572"/>
                  </a:ext>
                </a:extLst>
              </a:tr>
              <a:tr h="864536">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4</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determine complex scenario-based practice questions to identify critical requirements, constraints, and relevant Google Cloud services across all ACE exam domains.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85573043"/>
                  </a:ext>
                </a:extLst>
              </a:tr>
              <a:tr h="864536">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5</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illustrate multiple-choice options for Google Cloud Associate Cloud Engineer questions, justifying the most optimal and secure solutions based on best practices.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93438790"/>
                  </a:ext>
                </a:extLst>
              </a:tr>
              <a:tr h="864536">
                <a:tc>
                  <a:txBody>
                    <a:bodyPr/>
                    <a:lstStyle/>
                    <a:p>
                      <a:pPr algn="ctr">
                        <a:lnSpc>
                          <a:spcPct val="130000"/>
                        </a:lnSpc>
                        <a:spcAft>
                          <a:spcPts val="0"/>
                        </a:spcAft>
                      </a:pPr>
                      <a:r>
                        <a:rPr lang="en-IN" sz="1800" b="1" kern="100" dirty="0">
                          <a:solidFill>
                            <a:srgbClr val="FFFF00"/>
                          </a:solidFill>
                          <a:effectLst/>
                          <a:latin typeface="Times New Roman" panose="02020603050405020304" pitchFamily="18" charset="0"/>
                          <a:cs typeface="Times New Roman" panose="02020603050405020304" pitchFamily="18" charset="0"/>
                        </a:rPr>
                        <a:t>CO 6</a:t>
                      </a:r>
                      <a:endParaRPr lang="en-IN" sz="1800" b="1" kern="100" dirty="0">
                        <a:solidFill>
                          <a:srgbClr val="FFFF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914400" rtl="0" eaLnBrk="1" fontAlgn="auto" latinLnBrk="0" hangingPunct="1">
                        <a:lnSpc>
                          <a:spcPct val="114000"/>
                        </a:lnSpc>
                        <a:spcBef>
                          <a:spcPts val="0"/>
                        </a:spcBef>
                        <a:spcAft>
                          <a:spcPts val="0"/>
                        </a:spcAft>
                        <a:buClrTx/>
                        <a:buSzTx/>
                        <a:buFontTx/>
                        <a:buNone/>
                        <a:tabLst/>
                        <a:defRPr/>
                      </a:pPr>
                      <a:r>
                        <a:rPr lang="en-US" sz="1600" dirty="0">
                          <a:solidFill>
                            <a:srgbClr val="333333"/>
                          </a:solidFill>
                          <a:latin typeface="Times New Roman" panose="02020603050405020304" pitchFamily="18" charset="0"/>
                          <a:ea typeface="Times New Roman"/>
                          <a:cs typeface="Times New Roman" panose="02020603050405020304" pitchFamily="18" charset="0"/>
                          <a:sym typeface="Times New Roman"/>
                        </a:rPr>
                        <a:t>estimate core Google Cloud concepts across all ACE exam domains to accurately solve practical problems presented in discussion-based practice questions.</a:t>
                      </a:r>
                      <a:endParaRPr lang="en-IN" sz="16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75981815"/>
                  </a:ext>
                </a:extLst>
              </a:tr>
            </a:tbl>
          </a:graphicData>
        </a:graphic>
      </p:graphicFrame>
      <p:sp>
        <p:nvSpPr>
          <p:cNvPr id="3" name="TextBox 2">
            <a:extLst>
              <a:ext uri="{FF2B5EF4-FFF2-40B4-BE49-F238E27FC236}">
                <a16:creationId xmlns:a16="http://schemas.microsoft.com/office/drawing/2014/main" id="{528A75AE-EE56-9028-9487-70856A09D20E}"/>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COURSE OUTCOMES</a:t>
            </a:r>
          </a:p>
        </p:txBody>
      </p:sp>
      <p:sp>
        <p:nvSpPr>
          <p:cNvPr id="4" name="TextBox 3">
            <a:extLst>
              <a:ext uri="{FF2B5EF4-FFF2-40B4-BE49-F238E27FC236}">
                <a16:creationId xmlns:a16="http://schemas.microsoft.com/office/drawing/2014/main" id="{2CF0C0F6-5163-C0E2-0090-8149AD9CD795}"/>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86929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757F5-5677-A03B-2E3A-684F3093A7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B9012B-FEF8-5FE8-B16D-A5467015E2CC}"/>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PROGRAM OUTCOMES</a:t>
            </a:r>
          </a:p>
        </p:txBody>
      </p:sp>
      <p:sp>
        <p:nvSpPr>
          <p:cNvPr id="4" name="TextBox 3">
            <a:extLst>
              <a:ext uri="{FF2B5EF4-FFF2-40B4-BE49-F238E27FC236}">
                <a16:creationId xmlns:a16="http://schemas.microsoft.com/office/drawing/2014/main" id="{CE1B13AA-DBF6-3A01-AC71-B089FBC41852}"/>
              </a:ext>
            </a:extLst>
          </p:cNvPr>
          <p:cNvSpPr txBox="1"/>
          <p:nvPr/>
        </p:nvSpPr>
        <p:spPr>
          <a:xfrm>
            <a:off x="180435" y="1000737"/>
            <a:ext cx="1178839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PO1: </a:t>
            </a:r>
            <a:r>
              <a:rPr lang="en-US" sz="1600" b="1" i="0" u="none" strike="noStrike" baseline="0" dirty="0">
                <a:solidFill>
                  <a:srgbClr val="FF0000"/>
                </a:solidFill>
                <a:latin typeface="Times New Roman" panose="02020603050405020304" pitchFamily="18" charset="0"/>
              </a:rPr>
              <a:t>Engineering Knowledge: </a:t>
            </a:r>
            <a:r>
              <a:rPr lang="en-US" sz="1600" b="0" i="0" u="none" strike="noStrike" baseline="0" dirty="0">
                <a:solidFill>
                  <a:srgbClr val="000000"/>
                </a:solidFill>
                <a:latin typeface="Times New Roman" panose="02020603050405020304" pitchFamily="18" charset="0"/>
              </a:rPr>
              <a:t>Apply the knowledge of mathematics, science, engineering fundamentals, and an engineering specialization to the solution of complex engineering problems </a:t>
            </a:r>
          </a:p>
        </p:txBody>
      </p:sp>
      <p:sp>
        <p:nvSpPr>
          <p:cNvPr id="6" name="TextBox 5">
            <a:extLst>
              <a:ext uri="{FF2B5EF4-FFF2-40B4-BE49-F238E27FC236}">
                <a16:creationId xmlns:a16="http://schemas.microsoft.com/office/drawing/2014/main" id="{DCB034BD-B681-9C45-52D5-DF745654B146}"/>
              </a:ext>
            </a:extLst>
          </p:cNvPr>
          <p:cNvSpPr txBox="1"/>
          <p:nvPr/>
        </p:nvSpPr>
        <p:spPr>
          <a:xfrm>
            <a:off x="206230" y="1994716"/>
            <a:ext cx="1178839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cs typeface="Times New Roman" panose="02020603050405020304" pitchFamily="18" charset="0"/>
              </a:rPr>
              <a:t>PO2: </a:t>
            </a:r>
            <a:r>
              <a:rPr lang="en-US" sz="1600" b="1" i="0" u="none" strike="noStrike" baseline="0" dirty="0">
                <a:solidFill>
                  <a:srgbClr val="FF3300"/>
                </a:solidFill>
                <a:latin typeface="Times New Roman" panose="02020603050405020304" pitchFamily="18" charset="0"/>
                <a:cs typeface="Times New Roman" panose="02020603050405020304" pitchFamily="18" charset="0"/>
              </a:rPr>
              <a:t>Problem Analysis: </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Identity, formulate, review research literature, and analyz</a:t>
            </a:r>
            <a:r>
              <a:rPr lang="en-US" sz="1600" dirty="0">
                <a:solidFill>
                  <a:srgbClr val="000000"/>
                </a:solidFill>
                <a:latin typeface="Times New Roman" panose="02020603050405020304" pitchFamily="18" charset="0"/>
                <a:cs typeface="Times New Roman" panose="02020603050405020304" pitchFamily="18" charset="0"/>
              </a:rPr>
              <a:t>e </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complex engineering problems reaching substantiated conclusions using the first principles of mathematics, natural </a:t>
            </a:r>
            <a:r>
              <a:rPr lang="en-IN" sz="1600" b="0" i="0" u="none" strike="noStrike" baseline="0" dirty="0">
                <a:solidFill>
                  <a:srgbClr val="000000"/>
                </a:solidFill>
                <a:latin typeface="Times New Roman" panose="02020603050405020304" pitchFamily="18" charset="0"/>
                <a:cs typeface="Times New Roman" panose="02020603050405020304" pitchFamily="18" charset="0"/>
              </a:rPr>
              <a:t>sciences, and engineering sciences </a:t>
            </a:r>
            <a:endParaRPr lang="en-IN"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76B7619-6BD0-32D2-4378-F5EBCF53FE70}"/>
              </a:ext>
            </a:extLst>
          </p:cNvPr>
          <p:cNvSpPr txBox="1"/>
          <p:nvPr/>
        </p:nvSpPr>
        <p:spPr>
          <a:xfrm>
            <a:off x="206230" y="2920445"/>
            <a:ext cx="11788399" cy="1156086"/>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cs typeface="Times New Roman" panose="02020603050405020304" pitchFamily="18" charset="0"/>
              </a:rPr>
              <a:t>PO3: </a:t>
            </a:r>
            <a:r>
              <a:rPr lang="en-US" sz="1600" b="1" i="0" u="none" strike="noStrike" baseline="0" dirty="0">
                <a:solidFill>
                  <a:srgbClr val="FF0000"/>
                </a:solidFill>
                <a:latin typeface="Times New Roman" panose="02020603050405020304" pitchFamily="18" charset="0"/>
                <a:cs typeface="Times New Roman" panose="02020603050405020304" pitchFamily="18" charset="0"/>
              </a:rPr>
              <a:t>Design/Development of solutions: </a:t>
            </a:r>
            <a:r>
              <a:rPr lang="en-US" sz="1600" b="0" i="0" u="none" strike="noStrike" baseline="0" dirty="0">
                <a:solidFill>
                  <a:srgbClr val="000000"/>
                </a:solidFill>
                <a:latin typeface="Times New Roman" panose="02020603050405020304" pitchFamily="18" charset="0"/>
                <a:cs typeface="Times New Roman" panose="02020603050405020304" pitchFamily="18" charset="0"/>
              </a:rPr>
              <a:t>Design solutions for complex engineering problems and design system components or processes that meet the specified needs with appropriate consideration for the public health and safety, and the cultural, societal, and environmental considerations </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F004D0A-5DED-7F91-E2EF-21696FE2FB18}"/>
              </a:ext>
            </a:extLst>
          </p:cNvPr>
          <p:cNvSpPr txBox="1"/>
          <p:nvPr/>
        </p:nvSpPr>
        <p:spPr>
          <a:xfrm>
            <a:off x="180435" y="4195569"/>
            <a:ext cx="1178839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PO4: </a:t>
            </a:r>
            <a:r>
              <a:rPr lang="en-US" sz="1600" b="1" i="0" u="none" strike="noStrike" baseline="0" dirty="0">
                <a:solidFill>
                  <a:srgbClr val="FF0000"/>
                </a:solidFill>
                <a:latin typeface="Times New Roman" panose="02020603050405020304" pitchFamily="18" charset="0"/>
              </a:rPr>
              <a:t>Conduct investigations of complex problems: </a:t>
            </a:r>
            <a:r>
              <a:rPr lang="en-US" sz="1600" b="0" i="0" u="none" strike="noStrike" baseline="0" dirty="0">
                <a:solidFill>
                  <a:srgbClr val="000000"/>
                </a:solidFill>
                <a:latin typeface="Times New Roman" panose="02020603050405020304" pitchFamily="18" charset="0"/>
              </a:rPr>
              <a:t>Use research-based knowledge and  research methods including design of experiments, analysis, and interpretation of data, and synthesis of the information to provide valid conclusions</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4F7677-307C-3BEE-E1C3-2EEF18131E94}"/>
              </a:ext>
            </a:extLst>
          </p:cNvPr>
          <p:cNvSpPr txBox="1"/>
          <p:nvPr/>
        </p:nvSpPr>
        <p:spPr>
          <a:xfrm>
            <a:off x="180435" y="5070509"/>
            <a:ext cx="1178839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PO5: </a:t>
            </a:r>
            <a:r>
              <a:rPr lang="en-US" sz="1600" b="1" i="0" u="none" strike="noStrike" baseline="0" dirty="0">
                <a:solidFill>
                  <a:srgbClr val="FF0000"/>
                </a:solidFill>
                <a:latin typeface="Times New Roman" panose="02020603050405020304" pitchFamily="18" charset="0"/>
              </a:rPr>
              <a:t>Engineering tool usage: </a:t>
            </a:r>
            <a:r>
              <a:rPr lang="en-US" sz="1600" dirty="0">
                <a:solidFill>
                  <a:srgbClr val="000000"/>
                </a:solidFill>
                <a:latin typeface="Times New Roman" panose="02020603050405020304" pitchFamily="18" charset="0"/>
              </a:rPr>
              <a:t>Create, select, and apply appropriate techniques, resources, and modern engineering and IT tools including prediction and modeling to complex engineering activities with an understanding of the limitations.</a:t>
            </a:r>
            <a:endParaRPr lang="en-IN" sz="1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CFAEA6-3512-C0E0-9985-80F87FFE2F71}"/>
              </a:ext>
            </a:extLst>
          </p:cNvPr>
          <p:cNvSpPr txBox="1"/>
          <p:nvPr/>
        </p:nvSpPr>
        <p:spPr>
          <a:xfrm>
            <a:off x="180435" y="5888115"/>
            <a:ext cx="1178839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PO6: </a:t>
            </a:r>
            <a:r>
              <a:rPr lang="en-US" sz="1600" b="1" i="0" u="none" strike="noStrike" baseline="0" dirty="0">
                <a:solidFill>
                  <a:srgbClr val="FF0000"/>
                </a:solidFill>
                <a:latin typeface="Times New Roman" panose="02020603050405020304" pitchFamily="18" charset="0"/>
              </a:rPr>
              <a:t>The Engineer and </a:t>
            </a:r>
            <a:r>
              <a:rPr lang="en-US" sz="1600" b="1" dirty="0">
                <a:solidFill>
                  <a:srgbClr val="FF0000"/>
                </a:solidFill>
                <a:latin typeface="Times New Roman" panose="02020603050405020304" pitchFamily="18" charset="0"/>
              </a:rPr>
              <a:t>the World</a:t>
            </a:r>
            <a:r>
              <a:rPr lang="en-US" sz="1600" b="0" i="0" u="none" strike="noStrike" baseline="0" dirty="0">
                <a:solidFill>
                  <a:srgbClr val="FF0000"/>
                </a:solidFill>
                <a:latin typeface="Times New Roman" panose="02020603050405020304" pitchFamily="18" charset="0"/>
              </a:rPr>
              <a:t> </a:t>
            </a:r>
            <a:r>
              <a:rPr lang="en-US" sz="1600" dirty="0">
                <a:solidFill>
                  <a:srgbClr val="000000"/>
                </a:solidFill>
                <a:latin typeface="Times New Roman" panose="02020603050405020304" pitchFamily="18" charset="0"/>
              </a:rPr>
              <a:t>Apply reasoning informed by the contextual knowledge to assess societal, health, safety, legal, and cultural issues and the consequent responsibilities relevant to the professional engineering practice.</a:t>
            </a:r>
            <a:endParaRPr lang="en-IN"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0C0293E-0A98-28EA-2D57-9C12575034BA}"/>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286374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barn(inVertical)">
                                      <p:cBhvr>
                                        <p:cTn id="17" dur="5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wipe(left)">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32"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circle(out)">
                                      <p:cBhvr>
                                        <p:cTn id="27" dur="20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
                                            <p:txEl>
                                              <p:pRg st="0" end="0"/>
                                            </p:txEl>
                                          </p:spTgt>
                                        </p:tgtEl>
                                        <p:attrNameLst>
                                          <p:attrName>style.visibility</p:attrName>
                                        </p:attrNameLst>
                                      </p:cBhvr>
                                      <p:to>
                                        <p:strVal val="visible"/>
                                      </p:to>
                                    </p:set>
                                    <p:animEffect transition="in" filter="wipe(up)">
                                      <p:cBhvr>
                                        <p:cTn id="3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5550-7921-EB93-8654-F6A444828D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26A731-944E-0225-325E-E12F87D1AE21}"/>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PROGRAM OUTCOMES</a:t>
            </a:r>
          </a:p>
        </p:txBody>
      </p:sp>
      <p:sp>
        <p:nvSpPr>
          <p:cNvPr id="5" name="TextBox 4">
            <a:extLst>
              <a:ext uri="{FF2B5EF4-FFF2-40B4-BE49-F238E27FC236}">
                <a16:creationId xmlns:a16="http://schemas.microsoft.com/office/drawing/2014/main" id="{DE86A773-2646-E266-4A97-8F842DEF5EAC}"/>
              </a:ext>
            </a:extLst>
          </p:cNvPr>
          <p:cNvSpPr txBox="1"/>
          <p:nvPr/>
        </p:nvSpPr>
        <p:spPr>
          <a:xfrm>
            <a:off x="122419" y="1048229"/>
            <a:ext cx="11833369" cy="873572"/>
          </a:xfrm>
          <a:prstGeom prst="rect">
            <a:avLst/>
          </a:prstGeom>
          <a:noFill/>
        </p:spPr>
        <p:txBody>
          <a:bodyPr wrap="square" rtlCol="0">
            <a:spAutoFit/>
          </a:bodyPr>
          <a:lstStyle/>
          <a:p>
            <a:pPr algn="just">
              <a:lnSpc>
                <a:spcPct val="150000"/>
              </a:lnSpc>
            </a:pPr>
            <a:r>
              <a:rPr lang="en-US" sz="1800" b="1" i="0" u="none" strike="noStrike" baseline="0" dirty="0">
                <a:solidFill>
                  <a:srgbClr val="0070C1"/>
                </a:solidFill>
                <a:latin typeface="Times New Roman" panose="02020603050405020304" pitchFamily="18" charset="0"/>
              </a:rPr>
              <a:t>PO7: </a:t>
            </a:r>
            <a:r>
              <a:rPr lang="en-US" sz="1800" b="1" i="0" u="none" strike="noStrike" baseline="0" dirty="0">
                <a:solidFill>
                  <a:srgbClr val="FF0000"/>
                </a:solidFill>
                <a:latin typeface="Times New Roman" panose="02020603050405020304" pitchFamily="18" charset="0"/>
              </a:rPr>
              <a:t>Ethics</a:t>
            </a:r>
            <a:r>
              <a:rPr lang="en-US" sz="1800" b="0" i="0" u="none" strike="noStrike" baseline="0" dirty="0">
                <a:solidFill>
                  <a:srgbClr val="FF0000"/>
                </a:solidFill>
                <a:latin typeface="Times New Roman" panose="02020603050405020304" pitchFamily="18" charset="0"/>
              </a:rPr>
              <a:t>: </a:t>
            </a:r>
            <a:r>
              <a:rPr lang="en-US" dirty="0">
                <a:solidFill>
                  <a:srgbClr val="000000"/>
                </a:solidFill>
                <a:latin typeface="Times New Roman" panose="02020603050405020304" pitchFamily="18" charset="0"/>
              </a:rPr>
              <a:t>Apply reasoning informed by the contextual knowledge to assess societal, health, safety, legal, and cultural issues and the consequent responsibilities relevant to the professional engineering practice.</a:t>
            </a:r>
            <a:endParaRPr lang="en-IN"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AC47038-7E2C-59E4-ADB4-2F565959755F}"/>
              </a:ext>
            </a:extLst>
          </p:cNvPr>
          <p:cNvSpPr txBox="1"/>
          <p:nvPr/>
        </p:nvSpPr>
        <p:spPr>
          <a:xfrm>
            <a:off x="161260" y="2228712"/>
            <a:ext cx="1183336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cs typeface="Times New Roman" panose="02020603050405020304" pitchFamily="18" charset="0"/>
              </a:rPr>
              <a:t>PO8: </a:t>
            </a:r>
            <a:r>
              <a:rPr lang="en-US" sz="1600" b="1" i="0" u="none" strike="noStrike" baseline="0" dirty="0">
                <a:solidFill>
                  <a:srgbClr val="FF0000"/>
                </a:solidFill>
                <a:latin typeface="Times New Roman" panose="02020603050405020304" pitchFamily="18" charset="0"/>
              </a:rPr>
              <a:t>Individual and Collaborative Team Work</a:t>
            </a:r>
            <a:r>
              <a:rPr lang="en-US" sz="1600" b="0" i="0" u="none" strike="noStrike" baseline="0" dirty="0">
                <a:solidFill>
                  <a:srgbClr val="FF0000"/>
                </a:solidFill>
                <a:latin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rPr>
              <a:t>Function effectively as an individual, and as a member or leader in diverse teams, and in multidisciplinary settings</a:t>
            </a:r>
            <a:endParaRPr lang="en-IN" sz="1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3A06DF8-F5C9-B724-F49C-3C2EEE0EB141}"/>
              </a:ext>
            </a:extLst>
          </p:cNvPr>
          <p:cNvSpPr txBox="1"/>
          <p:nvPr/>
        </p:nvSpPr>
        <p:spPr>
          <a:xfrm>
            <a:off x="197370" y="3224177"/>
            <a:ext cx="11833369" cy="1156086"/>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PO9: </a:t>
            </a:r>
            <a:r>
              <a:rPr lang="en-US" sz="1600" b="1" i="0" u="none" strike="noStrike" baseline="0" dirty="0">
                <a:solidFill>
                  <a:srgbClr val="FF0000"/>
                </a:solidFill>
                <a:latin typeface="Times New Roman" panose="02020603050405020304" pitchFamily="18" charset="0"/>
              </a:rPr>
              <a:t>Communication</a:t>
            </a:r>
            <a:r>
              <a:rPr lang="en-US" sz="1600" b="0" i="0" u="none" strike="noStrike" baseline="0" dirty="0">
                <a:solidFill>
                  <a:srgbClr val="FF0000"/>
                </a:solidFill>
                <a:latin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rPr>
              <a:t>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lang="en-IN" sz="1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C1DEF43-0B52-40EE-EABD-7C1003205CA6}"/>
              </a:ext>
            </a:extLst>
          </p:cNvPr>
          <p:cNvSpPr txBox="1"/>
          <p:nvPr/>
        </p:nvSpPr>
        <p:spPr>
          <a:xfrm>
            <a:off x="179314" y="4610493"/>
            <a:ext cx="1183336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PO10: </a:t>
            </a:r>
            <a:r>
              <a:rPr lang="en-US" sz="1600" b="1" i="0" u="none" strike="noStrike" baseline="0" dirty="0">
                <a:solidFill>
                  <a:srgbClr val="FF0000"/>
                </a:solidFill>
                <a:latin typeface="Times New Roman" panose="02020603050405020304" pitchFamily="18" charset="0"/>
              </a:rPr>
              <a:t>Project management and finance</a:t>
            </a:r>
            <a:r>
              <a:rPr lang="en-US" sz="1600" b="0" i="0" u="none" strike="noStrike" baseline="0" dirty="0">
                <a:solidFill>
                  <a:srgbClr val="FF0000"/>
                </a:solidFill>
                <a:latin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rPr>
              <a:t>Demonstrate knowledge and understanding of the engineering and management principles and apply these to one’s work, as a member and leader in a team, to manage projects and in multidisciplinary environments.</a:t>
            </a:r>
            <a:endParaRPr lang="en-IN" sz="16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753681B4-56AC-09BB-E8CA-2651617CA326}"/>
              </a:ext>
            </a:extLst>
          </p:cNvPr>
          <p:cNvSpPr txBox="1"/>
          <p:nvPr/>
        </p:nvSpPr>
        <p:spPr>
          <a:xfrm>
            <a:off x="148456" y="5829424"/>
            <a:ext cx="11833369" cy="786754"/>
          </a:xfrm>
          <a:prstGeom prst="rect">
            <a:avLst/>
          </a:prstGeom>
          <a:noFill/>
        </p:spPr>
        <p:txBody>
          <a:bodyPr wrap="square" rtlCol="0">
            <a:spAutoFit/>
          </a:bodyPr>
          <a:lstStyle/>
          <a:p>
            <a:pPr algn="just">
              <a:lnSpc>
                <a:spcPct val="150000"/>
              </a:lnSpc>
            </a:pPr>
            <a:r>
              <a:rPr lang="en-US" sz="1600" b="1" i="0" u="none" strike="noStrike" baseline="0" dirty="0">
                <a:solidFill>
                  <a:srgbClr val="0070C1"/>
                </a:solidFill>
                <a:latin typeface="Times New Roman" panose="02020603050405020304" pitchFamily="18" charset="0"/>
              </a:rPr>
              <a:t>PO11: </a:t>
            </a:r>
            <a:r>
              <a:rPr lang="en-US" sz="1600" b="1" i="0" u="none" strike="noStrike" baseline="0" dirty="0">
                <a:solidFill>
                  <a:srgbClr val="FF0000"/>
                </a:solidFill>
                <a:latin typeface="Times New Roman" panose="02020603050405020304" pitchFamily="18" charset="0"/>
              </a:rPr>
              <a:t>Life-long learning</a:t>
            </a:r>
            <a:r>
              <a:rPr lang="en-US" sz="1600" b="0" i="0" u="none" strike="noStrike" baseline="0" dirty="0">
                <a:solidFill>
                  <a:srgbClr val="FF0000"/>
                </a:solidFill>
                <a:latin typeface="Times New Roman" panose="02020603050405020304" pitchFamily="18" charset="0"/>
              </a:rPr>
              <a:t>: </a:t>
            </a:r>
            <a:r>
              <a:rPr lang="en-US" sz="1600" b="0" i="0" u="none" strike="noStrike" baseline="0" dirty="0">
                <a:solidFill>
                  <a:srgbClr val="000000"/>
                </a:solidFill>
                <a:latin typeface="Times New Roman" panose="02020603050405020304" pitchFamily="18" charset="0"/>
              </a:rPr>
              <a:t>Recognize the need for, and have the preparation and ability to engage in independent and life-long learning in the broadest context of technological change. </a:t>
            </a:r>
            <a:endParaRPr lang="en-IN"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0C3CE3B-5E7C-9ADB-4EAF-53423DCA5E60}"/>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27397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righ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5"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2000"/>
                                        <p:tgtEl>
                                          <p:spTgt spid="14"/>
                                        </p:tgtEl>
                                      </p:cBhvr>
                                    </p:animEffect>
                                    <p:anim calcmode="lin" valueType="num">
                                      <p:cBhvr>
                                        <p:cTn id="23" dur="2000" fill="hold"/>
                                        <p:tgtEl>
                                          <p:spTgt spid="14"/>
                                        </p:tgtEl>
                                        <p:attrNameLst>
                                          <p:attrName>ppt_w</p:attrName>
                                        </p:attrNameLst>
                                      </p:cBhvr>
                                      <p:tavLst>
                                        <p:tav tm="0" fmla="#ppt_w*sin(2.5*pi*$)">
                                          <p:val>
                                            <p:fltVal val="0"/>
                                          </p:val>
                                        </p:tav>
                                        <p:tav tm="100000">
                                          <p:val>
                                            <p:fltVal val="1"/>
                                          </p:val>
                                        </p:tav>
                                      </p:tavLst>
                                    </p:anim>
                                    <p:anim calcmode="lin" valueType="num">
                                      <p:cBhvr>
                                        <p:cTn id="24"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580">
                                          <p:stCondLst>
                                            <p:cond delay="0"/>
                                          </p:stCondLst>
                                        </p:cTn>
                                        <p:tgtEl>
                                          <p:spTgt spid="15"/>
                                        </p:tgtEl>
                                      </p:cBhvr>
                                    </p:animEffect>
                                    <p:anim calcmode="lin" valueType="num">
                                      <p:cBhvr>
                                        <p:cTn id="3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35" dur="26">
                                          <p:stCondLst>
                                            <p:cond delay="650"/>
                                          </p:stCondLst>
                                        </p:cTn>
                                        <p:tgtEl>
                                          <p:spTgt spid="15"/>
                                        </p:tgtEl>
                                      </p:cBhvr>
                                      <p:to x="100000" y="60000"/>
                                    </p:animScale>
                                    <p:animScale>
                                      <p:cBhvr>
                                        <p:cTn id="36" dur="166" decel="50000">
                                          <p:stCondLst>
                                            <p:cond delay="676"/>
                                          </p:stCondLst>
                                        </p:cTn>
                                        <p:tgtEl>
                                          <p:spTgt spid="15"/>
                                        </p:tgtEl>
                                      </p:cBhvr>
                                      <p:to x="100000" y="100000"/>
                                    </p:animScale>
                                    <p:animScale>
                                      <p:cBhvr>
                                        <p:cTn id="37" dur="26">
                                          <p:stCondLst>
                                            <p:cond delay="1312"/>
                                          </p:stCondLst>
                                        </p:cTn>
                                        <p:tgtEl>
                                          <p:spTgt spid="15"/>
                                        </p:tgtEl>
                                      </p:cBhvr>
                                      <p:to x="100000" y="80000"/>
                                    </p:animScale>
                                    <p:animScale>
                                      <p:cBhvr>
                                        <p:cTn id="38" dur="166" decel="50000">
                                          <p:stCondLst>
                                            <p:cond delay="1338"/>
                                          </p:stCondLst>
                                        </p:cTn>
                                        <p:tgtEl>
                                          <p:spTgt spid="15"/>
                                        </p:tgtEl>
                                      </p:cBhvr>
                                      <p:to x="100000" y="100000"/>
                                    </p:animScale>
                                    <p:animScale>
                                      <p:cBhvr>
                                        <p:cTn id="39" dur="26">
                                          <p:stCondLst>
                                            <p:cond delay="1642"/>
                                          </p:stCondLst>
                                        </p:cTn>
                                        <p:tgtEl>
                                          <p:spTgt spid="15"/>
                                        </p:tgtEl>
                                      </p:cBhvr>
                                      <p:to x="100000" y="90000"/>
                                    </p:animScale>
                                    <p:animScale>
                                      <p:cBhvr>
                                        <p:cTn id="40" dur="166" decel="50000">
                                          <p:stCondLst>
                                            <p:cond delay="1668"/>
                                          </p:stCondLst>
                                        </p:cTn>
                                        <p:tgtEl>
                                          <p:spTgt spid="15"/>
                                        </p:tgtEl>
                                      </p:cBhvr>
                                      <p:to x="100000" y="100000"/>
                                    </p:animScale>
                                    <p:animScale>
                                      <p:cBhvr>
                                        <p:cTn id="41" dur="26">
                                          <p:stCondLst>
                                            <p:cond delay="1808"/>
                                          </p:stCondLst>
                                        </p:cTn>
                                        <p:tgtEl>
                                          <p:spTgt spid="15"/>
                                        </p:tgtEl>
                                      </p:cBhvr>
                                      <p:to x="100000" y="95000"/>
                                    </p:animScale>
                                    <p:animScale>
                                      <p:cBhvr>
                                        <p:cTn id="42" dur="166" decel="50000">
                                          <p:stCondLst>
                                            <p:cond delay="1834"/>
                                          </p:stCondLst>
                                        </p:cTn>
                                        <p:tgtEl>
                                          <p:spTgt spid="1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14F08-B50E-BEE0-4E13-DD01CF6E5F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C4B2A4-72C2-43A8-EF34-0284730A0E4F}"/>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PROGRAM SPECIFIC OUTCOMES</a:t>
            </a:r>
          </a:p>
        </p:txBody>
      </p:sp>
      <p:sp>
        <p:nvSpPr>
          <p:cNvPr id="5" name="TextBox 4">
            <a:extLst>
              <a:ext uri="{FF2B5EF4-FFF2-40B4-BE49-F238E27FC236}">
                <a16:creationId xmlns:a16="http://schemas.microsoft.com/office/drawing/2014/main" id="{5100B5B3-209E-7960-4A2C-CA98A53A0988}"/>
              </a:ext>
            </a:extLst>
          </p:cNvPr>
          <p:cNvSpPr txBox="1"/>
          <p:nvPr/>
        </p:nvSpPr>
        <p:spPr>
          <a:xfrm>
            <a:off x="148455" y="1170774"/>
            <a:ext cx="11833369" cy="1571584"/>
          </a:xfrm>
          <a:prstGeom prst="rect">
            <a:avLst/>
          </a:prstGeom>
          <a:noFill/>
        </p:spPr>
        <p:txBody>
          <a:bodyPr wrap="square" rtlCol="0">
            <a:spAutoFit/>
          </a:bodyPr>
          <a:lstStyle/>
          <a:p>
            <a:pPr algn="just">
              <a:lnSpc>
                <a:spcPct val="150000"/>
              </a:lnSpc>
            </a:pPr>
            <a:r>
              <a:rPr lang="en-IN" b="1" dirty="0">
                <a:solidFill>
                  <a:srgbClr val="0070C1"/>
                </a:solidFill>
                <a:latin typeface="Times New Roman" panose="02020603050405020304" pitchFamily="18" charset="0"/>
                <a:cs typeface="Times New Roman" panose="02020603050405020304" pitchFamily="18" charset="0"/>
              </a:rPr>
              <a:t>PSO 1: Cloud Infrastructure and Platform Engineering</a:t>
            </a:r>
          </a:p>
          <a:p>
            <a:pPr algn="just">
              <a:lnSpc>
                <a:spcPct val="150000"/>
              </a:lnSpc>
            </a:pPr>
            <a:r>
              <a:rPr lang="en-IN" sz="1600" dirty="0">
                <a:latin typeface="Times New Roman" panose="02020603050405020304" pitchFamily="18" charset="0"/>
                <a:cs typeface="Times New Roman" panose="02020603050405020304" pitchFamily="18" charset="0"/>
              </a:rPr>
              <a:t>Apply principles of cloud computing, virtualization, networking, storage systems, distributed computing, and DevOps practices to design, deploy, secure, monitor, and optimize scalable cloud infrastructure and services across modern cloud platforms.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E20F72F-F8B1-4EDE-EC10-988A36A12F67}"/>
              </a:ext>
            </a:extLst>
          </p:cNvPr>
          <p:cNvSpPr txBox="1"/>
          <p:nvPr/>
        </p:nvSpPr>
        <p:spPr>
          <a:xfrm>
            <a:off x="148454" y="2411074"/>
            <a:ext cx="11833369" cy="1704569"/>
          </a:xfrm>
          <a:prstGeom prst="rect">
            <a:avLst/>
          </a:prstGeom>
          <a:noFill/>
        </p:spPr>
        <p:txBody>
          <a:bodyPr wrap="square" rtlCol="0">
            <a:spAutoFit/>
          </a:bodyPr>
          <a:lstStyle/>
          <a:p>
            <a:pPr algn="just">
              <a:lnSpc>
                <a:spcPct val="150000"/>
              </a:lnSpc>
            </a:pPr>
            <a:r>
              <a:rPr lang="en-US" b="1" dirty="0">
                <a:solidFill>
                  <a:srgbClr val="0070C1"/>
                </a:solidFill>
                <a:latin typeface="Times New Roman" panose="02020603050405020304" pitchFamily="18" charset="0"/>
                <a:cs typeface="Times New Roman" panose="02020603050405020304" pitchFamily="18" charset="0"/>
              </a:rPr>
              <a:t>PSO 2: Cloud-Native Application Development and Data-Driven Solutions</a:t>
            </a:r>
          </a:p>
          <a:p>
            <a:pPr algn="just">
              <a:lnSpc>
                <a:spcPct val="150000"/>
              </a:lnSpc>
            </a:pPr>
            <a:r>
              <a:rPr lang="en-US" dirty="0">
                <a:latin typeface="Times New Roman" panose="02020603050405020304" pitchFamily="18" charset="0"/>
                <a:cs typeface="Times New Roman" panose="02020603050405020304" pitchFamily="18" charset="0"/>
              </a:rPr>
              <a:t>Develop and manage cloud-native applications by integrating software engineering principles, databases, web technologies, data analytics, machine learning, automation, and site reliability practices to deliver efficient, secure, and business-oriented solutions</a:t>
            </a:r>
            <a:r>
              <a:rPr lang="en-US" b="1" dirty="0">
                <a:solidFill>
                  <a:srgbClr val="0070C1"/>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80827C1C-2BAF-447F-E164-15811A5A174C}"/>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30799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righ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wipe(right)">
                                      <p:cBhvr>
                                        <p:cTn id="17"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ABF05-0FCC-C21F-D2FC-2B8F05C9CE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1B02E9-E9D4-EE79-3C2E-2B59F7755AF3}"/>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BLOOM’s TAXONOMY</a:t>
            </a:r>
          </a:p>
        </p:txBody>
      </p:sp>
      <p:pic>
        <p:nvPicPr>
          <p:cNvPr id="4" name="Google Shape;137;g1462d04a09b_0_7" descr="Melding Bloom's Taxonomy and Universal Design for Learning">
            <a:extLst>
              <a:ext uri="{FF2B5EF4-FFF2-40B4-BE49-F238E27FC236}">
                <a16:creationId xmlns:a16="http://schemas.microsoft.com/office/drawing/2014/main" id="{EC1D540A-0492-495F-CB46-A847B0E5C23E}"/>
              </a:ext>
            </a:extLst>
          </p:cNvPr>
          <p:cNvPicPr preferRelativeResize="0"/>
          <p:nvPr/>
        </p:nvPicPr>
        <p:blipFill rotWithShape="1">
          <a:blip r:embed="rId2">
            <a:alphaModFix/>
          </a:blip>
          <a:srcRect t="19309"/>
          <a:stretch/>
        </p:blipFill>
        <p:spPr>
          <a:xfrm>
            <a:off x="195681" y="1016505"/>
            <a:ext cx="11820566" cy="5669108"/>
          </a:xfrm>
          <a:prstGeom prst="rect">
            <a:avLst/>
          </a:prstGeom>
          <a:noFill/>
          <a:ln>
            <a:noFill/>
          </a:ln>
        </p:spPr>
      </p:pic>
      <p:sp>
        <p:nvSpPr>
          <p:cNvPr id="5" name="TextBox 4">
            <a:extLst>
              <a:ext uri="{FF2B5EF4-FFF2-40B4-BE49-F238E27FC236}">
                <a16:creationId xmlns:a16="http://schemas.microsoft.com/office/drawing/2014/main" id="{5B8DBAEE-54AD-F8BE-99D7-9D3266D2398A}"/>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60963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2324D-AD65-3771-0877-16C564BC51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9C4A9C-4699-3DFC-7C7F-CC24B635B70C}"/>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5" name="Picture 4">
            <a:extLst>
              <a:ext uri="{FF2B5EF4-FFF2-40B4-BE49-F238E27FC236}">
                <a16:creationId xmlns:a16="http://schemas.microsoft.com/office/drawing/2014/main" id="{7A9B9890-BA53-F8FD-39DB-4F75F954A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02" y="734518"/>
            <a:ext cx="11917180" cy="5936105"/>
          </a:xfrm>
          <a:prstGeom prst="rect">
            <a:avLst/>
          </a:prstGeom>
        </p:spPr>
      </p:pic>
    </p:spTree>
    <p:extLst>
      <p:ext uri="{BB962C8B-B14F-4D97-AF65-F5344CB8AC3E}">
        <p14:creationId xmlns:p14="http://schemas.microsoft.com/office/powerpoint/2010/main" val="1184792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106D7-F091-966A-0C30-98095AE3F632}"/>
            </a:ext>
          </a:extLst>
        </p:cNvPr>
        <p:cNvGrpSpPr/>
        <p:nvPr/>
      </p:nvGrpSpPr>
      <p:grpSpPr>
        <a:xfrm>
          <a:off x="0" y="0"/>
          <a:ext cx="0" cy="0"/>
          <a:chOff x="0" y="0"/>
          <a:chExt cx="0" cy="0"/>
        </a:xfrm>
      </p:grpSpPr>
      <p:sp>
        <p:nvSpPr>
          <p:cNvPr id="3" name="Google Shape;145;p6">
            <a:extLst>
              <a:ext uri="{FF2B5EF4-FFF2-40B4-BE49-F238E27FC236}">
                <a16:creationId xmlns:a16="http://schemas.microsoft.com/office/drawing/2014/main" id="{B1FDA5BE-E402-91E7-10D4-B194D35AEFAE}"/>
              </a:ext>
            </a:extLst>
          </p:cNvPr>
          <p:cNvSpPr txBox="1"/>
          <p:nvPr/>
        </p:nvSpPr>
        <p:spPr>
          <a:xfrm>
            <a:off x="327142" y="384322"/>
            <a:ext cx="11652640" cy="6494055"/>
          </a:xfrm>
          <a:prstGeom prst="rect">
            <a:avLst/>
          </a:prstGeom>
          <a:noFill/>
          <a:ln>
            <a:noFill/>
          </a:ln>
        </p:spPr>
        <p:txBody>
          <a:bodyPr spcFirstLastPara="1" wrap="square" lIns="91425" tIns="91425" rIns="91425" bIns="91425">
            <a:spAutoFit/>
          </a:bodyPr>
          <a:lstStyle/>
          <a:p>
            <a:pPr marL="114300" algn="ctr" eaLnBrk="1" fontAlgn="auto" hangingPunct="1">
              <a:lnSpc>
                <a:spcPct val="150000"/>
              </a:lnSpc>
              <a:spcBef>
                <a:spcPts val="300"/>
              </a:spcBef>
              <a:spcAft>
                <a:spcPts val="300"/>
              </a:spcAft>
              <a:buClr>
                <a:srgbClr val="000000"/>
              </a:buClr>
              <a:buFont typeface="Arial"/>
              <a:buNone/>
              <a:defRPr/>
            </a:pPr>
            <a:r>
              <a:rPr lang="en-IN" sz="1600" b="1" kern="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sym typeface="Arial"/>
              </a:rPr>
              <a:t>List of Practical/Experiments</a:t>
            </a:r>
          </a:p>
          <a:p>
            <a:pPr algn="just">
              <a:lnSpc>
                <a:spcPct val="150000"/>
              </a:lnSpc>
              <a:spcBef>
                <a:spcPts val="300"/>
              </a:spcBef>
              <a:spcAft>
                <a:spcPts val="300"/>
              </a:spcAft>
              <a:buClr>
                <a:srgbClr val="000000"/>
              </a:buClr>
              <a:defRPr/>
            </a:pPr>
            <a:r>
              <a:rPr lang="en-US" sz="1600" b="1" dirty="0">
                <a:latin typeface="Times New Roman" panose="02020603050405020304" pitchFamily="18" charset="0"/>
                <a:cs typeface="Times New Roman" panose="02020603050405020304" pitchFamily="18" charset="0"/>
              </a:rPr>
              <a:t>Introduction to Terraform for Google Cloud</a:t>
            </a:r>
          </a:p>
          <a:p>
            <a:pPr>
              <a:lnSpc>
                <a:spcPct val="150000"/>
              </a:lnSpc>
              <a:spcBef>
                <a:spcPts val="300"/>
              </a:spcBef>
              <a:spcAft>
                <a:spcPts val="300"/>
              </a:spcAft>
            </a:pPr>
            <a:r>
              <a:rPr lang="en-IN" sz="1600" dirty="0">
                <a:latin typeface="Times New Roman" panose="02020603050405020304" pitchFamily="18" charset="0"/>
                <a:cs typeface="Times New Roman" panose="02020603050405020304" pitchFamily="18" charset="0"/>
              </a:rPr>
              <a:t>Infrastructure as code, Terraform overview, Using Terraform, </a:t>
            </a:r>
          </a:p>
          <a:p>
            <a:pPr>
              <a:lnSpc>
                <a:spcPct val="150000"/>
              </a:lnSpc>
              <a:spcBef>
                <a:spcPts val="300"/>
              </a:spcBef>
              <a:spcAft>
                <a:spcPts val="300"/>
              </a:spcAft>
            </a:pPr>
            <a:r>
              <a:rPr lang="en-IN" sz="1600" b="1" dirty="0">
                <a:latin typeface="Times New Roman" panose="02020603050405020304" pitchFamily="18" charset="0"/>
                <a:cs typeface="Times New Roman" panose="02020603050405020304" pitchFamily="18" charset="0"/>
              </a:rPr>
              <a:t>Terms and Concepts</a:t>
            </a:r>
          </a:p>
          <a:p>
            <a:pPr>
              <a:lnSpc>
                <a:spcPct val="150000"/>
              </a:lnSpc>
              <a:spcBef>
                <a:spcPts val="300"/>
              </a:spcBef>
              <a:spcAft>
                <a:spcPts val="300"/>
              </a:spcAft>
            </a:pPr>
            <a:r>
              <a:rPr lang="en-IN" sz="1600" dirty="0">
                <a:latin typeface="Times New Roman" panose="02020603050405020304" pitchFamily="18" charset="0"/>
                <a:cs typeface="Times New Roman" panose="02020603050405020304" pitchFamily="18" charset="0"/>
              </a:rPr>
              <a:t>The Author Phase, Terraform commands, Terraform Validator Tool</a:t>
            </a:r>
          </a:p>
          <a:p>
            <a:pPr>
              <a:lnSpc>
                <a:spcPct val="150000"/>
              </a:lnSpc>
              <a:spcBef>
                <a:spcPts val="300"/>
              </a:spcBef>
              <a:spcAft>
                <a:spcPts val="300"/>
              </a:spcAft>
            </a:pPr>
            <a:r>
              <a:rPr lang="en-IN" sz="1600" b="1" dirty="0">
                <a:latin typeface="Times New Roman" panose="02020603050405020304" pitchFamily="18" charset="0"/>
                <a:cs typeface="Times New Roman" panose="02020603050405020304" pitchFamily="18" charset="0"/>
              </a:rPr>
              <a:t>Infrastructure as Code with Terraform</a:t>
            </a:r>
          </a:p>
          <a:p>
            <a:pPr>
              <a:lnSpc>
                <a:spcPct val="150000"/>
              </a:lnSpc>
              <a:spcBef>
                <a:spcPts val="300"/>
              </a:spcBef>
              <a:spcAft>
                <a:spcPts val="300"/>
              </a:spcAft>
            </a:pPr>
            <a:r>
              <a:rPr lang="en-IN" sz="1600" dirty="0">
                <a:latin typeface="Times New Roman" panose="02020603050405020304" pitchFamily="18" charset="0"/>
                <a:cs typeface="Times New Roman" panose="02020603050405020304" pitchFamily="18" charset="0"/>
              </a:rPr>
              <a:t>Introduction to resources, </a:t>
            </a:r>
            <a:r>
              <a:rPr lang="en-US" sz="1600" dirty="0">
                <a:latin typeface="Times New Roman" panose="02020603050405020304" pitchFamily="18" charset="0"/>
                <a:cs typeface="Times New Roman" panose="02020603050405020304" pitchFamily="18" charset="0"/>
              </a:rPr>
              <a:t>Considerations for defining a resource block, </a:t>
            </a:r>
            <a:r>
              <a:rPr lang="en-IN" sz="1600" dirty="0">
                <a:latin typeface="Times New Roman" panose="02020603050405020304" pitchFamily="18" charset="0"/>
                <a:cs typeface="Times New Roman" panose="02020603050405020304" pitchFamily="18" charset="0"/>
              </a:rPr>
              <a:t>Variables overview, Variables best practices, Meta-arguments for resources, Resource dependencies, Output values overview, Output best practices</a:t>
            </a:r>
          </a:p>
          <a:p>
            <a:pPr>
              <a:lnSpc>
                <a:spcPct val="150000"/>
              </a:lnSpc>
              <a:spcBef>
                <a:spcPts val="300"/>
              </a:spcBef>
              <a:spcAft>
                <a:spcPts val="300"/>
              </a:spcAft>
            </a:pPr>
            <a:r>
              <a:rPr lang="en-US" sz="1600" b="1" dirty="0">
                <a:latin typeface="Times New Roman" panose="02020603050405020304" pitchFamily="18" charset="0"/>
                <a:cs typeface="Times New Roman" panose="02020603050405020304" pitchFamily="18" charset="0"/>
              </a:rPr>
              <a:t>Organizing and Reusing Configuration with Terraform Modules</a:t>
            </a:r>
          </a:p>
          <a:p>
            <a:pPr>
              <a:lnSpc>
                <a:spcPct val="150000"/>
              </a:lnSpc>
              <a:spcBef>
                <a:spcPts val="300"/>
              </a:spcBef>
              <a:spcAft>
                <a:spcPts val="300"/>
              </a:spcAft>
            </a:pPr>
            <a:r>
              <a:rPr lang="en-IN" sz="1600" dirty="0">
                <a:latin typeface="Times New Roman" panose="02020603050405020304" pitchFamily="18" charset="0"/>
                <a:cs typeface="Times New Roman" panose="02020603050405020304" pitchFamily="18" charset="0"/>
              </a:rPr>
              <a:t>Need for modules, </a:t>
            </a:r>
            <a:r>
              <a:rPr lang="en-US" sz="1600" dirty="0">
                <a:latin typeface="Times New Roman" panose="02020603050405020304" pitchFamily="18" charset="0"/>
                <a:cs typeface="Times New Roman" panose="02020603050405020304" pitchFamily="18" charset="0"/>
              </a:rPr>
              <a:t>Example of a module, use cases and benefits, </a:t>
            </a:r>
            <a:r>
              <a:rPr lang="en-IN" sz="1600" dirty="0">
                <a:latin typeface="Times New Roman" panose="02020603050405020304" pitchFamily="18" charset="0"/>
                <a:cs typeface="Times New Roman" panose="02020603050405020304" pitchFamily="18" charset="0"/>
              </a:rPr>
              <a:t>Modules overview, </a:t>
            </a:r>
            <a:r>
              <a:rPr lang="en-US" sz="1600" dirty="0">
                <a:latin typeface="Times New Roman" panose="02020603050405020304" pitchFamily="18" charset="0"/>
                <a:cs typeface="Times New Roman" panose="02020603050405020304" pitchFamily="18" charset="0"/>
              </a:rPr>
              <a:t>Reuse configurations by using modules, Use variables to parameterize a module, Pass resource attribute outside the module by using output values, </a:t>
            </a:r>
            <a:r>
              <a:rPr lang="en-IN" sz="1600" dirty="0">
                <a:latin typeface="Times New Roman" panose="02020603050405020304" pitchFamily="18" charset="0"/>
                <a:cs typeface="Times New Roman" panose="02020603050405020304" pitchFamily="18" charset="0"/>
              </a:rPr>
              <a:t>Modules best practices, real-time case studies</a:t>
            </a:r>
            <a:br>
              <a:rPr lang="en-IN"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GCP ACE - Practice Questions</a:t>
            </a:r>
          </a:p>
          <a:p>
            <a:pPr>
              <a:lnSpc>
                <a:spcPct val="150000"/>
              </a:lnSpc>
              <a:spcBef>
                <a:spcPts val="300"/>
              </a:spcBef>
              <a:spcAft>
                <a:spcPts val="300"/>
              </a:spcAft>
            </a:pPr>
            <a:r>
              <a:rPr lang="en-US" sz="1600" dirty="0">
                <a:latin typeface="Times New Roman" panose="02020603050405020304" pitchFamily="18" charset="0"/>
                <a:cs typeface="Times New Roman" panose="02020603050405020304" pitchFamily="18" charset="0"/>
              </a:rPr>
              <a:t>Setting Up Your Cloud Solution Environment (Projects, Billing, IAM Basics), Deploying and Managing Core Compute &amp; Storage Services, </a:t>
            </a:r>
            <a:r>
              <a:rPr lang="en-IN" sz="1600" dirty="0">
                <a:latin typeface="Times New Roman" panose="02020603050405020304" pitchFamily="18" charset="0"/>
                <a:cs typeface="Times New Roman" panose="02020603050405020304" pitchFamily="18" charset="0"/>
              </a:rPr>
              <a:t>Networking &amp; Connectivity, </a:t>
            </a:r>
            <a:r>
              <a:rPr lang="en-US" sz="1600" dirty="0">
                <a:latin typeface="Times New Roman" panose="02020603050405020304" pitchFamily="18" charset="0"/>
                <a:cs typeface="Times New Roman" panose="02020603050405020304" pitchFamily="18" charset="0"/>
              </a:rPr>
              <a:t>Implementing Security &amp; Identity (Advanced IAM &amp; Service Accounts), </a:t>
            </a:r>
            <a:r>
              <a:rPr lang="en-IN" sz="1600" dirty="0">
                <a:latin typeface="Times New Roman" panose="02020603050405020304" pitchFamily="18" charset="0"/>
                <a:cs typeface="Times New Roman" panose="02020603050405020304" pitchFamily="18" charset="0"/>
              </a:rPr>
              <a:t>Monitoring, Logging &amp; Operational Management</a:t>
            </a:r>
            <a:endParaRPr lang="en-IN" sz="1600" kern="0" dirty="0">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37FC180A-DB67-9A73-D4F3-EC1464074346}"/>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42422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0B186-E187-30DD-84F1-72A1FD0BF2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5E5258-E9F1-FB5E-1213-CE22DF632ACA}"/>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EVALUATION CRITERIA</a:t>
            </a:r>
          </a:p>
        </p:txBody>
      </p:sp>
      <p:sp>
        <p:nvSpPr>
          <p:cNvPr id="5" name="TextBox 4">
            <a:extLst>
              <a:ext uri="{FF2B5EF4-FFF2-40B4-BE49-F238E27FC236}">
                <a16:creationId xmlns:a16="http://schemas.microsoft.com/office/drawing/2014/main" id="{F4893A94-80DB-29E3-D3ED-D22B7A9CBB12}"/>
              </a:ext>
            </a:extLst>
          </p:cNvPr>
          <p:cNvSpPr txBox="1"/>
          <p:nvPr/>
        </p:nvSpPr>
        <p:spPr>
          <a:xfrm>
            <a:off x="197369" y="1170774"/>
            <a:ext cx="11797259" cy="3493970"/>
          </a:xfrm>
          <a:prstGeom prst="rect">
            <a:avLst/>
          </a:prstGeom>
          <a:noFill/>
        </p:spPr>
        <p:txBody>
          <a:bodyPr wrap="square">
            <a:spAutoFit/>
          </a:bodyPr>
          <a:lstStyle/>
          <a:p>
            <a:pPr marL="457200" indent="-457200" algn="just">
              <a:lnSpc>
                <a:spcPct val="150000"/>
              </a:lnSpc>
              <a:buFont typeface="+mj-lt"/>
              <a:buAutoNum type="arabicPeriod"/>
            </a:pPr>
            <a:r>
              <a:rPr lang="en-US" b="1" dirty="0">
                <a:solidFill>
                  <a:srgbClr val="C00000"/>
                </a:solidFill>
                <a:latin typeface="Times New Roman" panose="02020603050405020304" pitchFamily="18" charset="0"/>
                <a:ea typeface="Calibri"/>
                <a:cs typeface="Times New Roman" panose="02020603050405020304" pitchFamily="18" charset="0"/>
                <a:sym typeface="Calibri"/>
              </a:rPr>
              <a:t>CA1:</a:t>
            </a:r>
            <a:r>
              <a:rPr lang="en-US" dirty="0">
                <a:latin typeface="Times New Roman" panose="02020603050405020304" pitchFamily="18" charset="0"/>
                <a:ea typeface="Calibri"/>
                <a:cs typeface="Times New Roman" panose="02020603050405020304" pitchFamily="18" charset="0"/>
                <a:sym typeface="Calibri"/>
              </a:rPr>
              <a:t> </a:t>
            </a:r>
            <a:r>
              <a:rPr lang="en-US" b="1" dirty="0">
                <a:latin typeface="Times New Roman" panose="02020603050405020304" pitchFamily="18" charset="0"/>
                <a:ea typeface="Calibri"/>
                <a:cs typeface="Times New Roman" panose="02020603050405020304" pitchFamily="18" charset="0"/>
                <a:sym typeface="Calibri"/>
              </a:rPr>
              <a:t>Practical Test</a:t>
            </a:r>
            <a:r>
              <a:rPr lang="en-US" dirty="0">
                <a:latin typeface="Times New Roman" panose="02020603050405020304" pitchFamily="18" charset="0"/>
                <a:ea typeface="Calibri"/>
                <a:cs typeface="Times New Roman" panose="02020603050405020304" pitchFamily="18" charset="0"/>
                <a:sym typeface="Calibri"/>
              </a:rPr>
              <a:t>: </a:t>
            </a:r>
            <a:r>
              <a:rPr lang="en-US" dirty="0">
                <a:latin typeface="Times New Roman" panose="02020603050405020304" pitchFamily="18" charset="0"/>
                <a:cs typeface="Times New Roman" panose="02020603050405020304" pitchFamily="18" charset="0"/>
              </a:rPr>
              <a:t>The first Continuous Assessment (CA1) will be a practical examination carrying a total of 30 marks. This assessment will cover the first half of Unit-I.</a:t>
            </a:r>
            <a:endParaRPr lang="en-US" dirty="0">
              <a:latin typeface="Times New Roman" panose="02020603050405020304" pitchFamily="18" charset="0"/>
              <a:ea typeface="Calibri"/>
              <a:cs typeface="Times New Roman" panose="02020603050405020304" pitchFamily="18" charset="0"/>
              <a:sym typeface="Calibri"/>
            </a:endParaRPr>
          </a:p>
          <a:p>
            <a:pPr marL="457200" indent="-457200" algn="just">
              <a:lnSpc>
                <a:spcPct val="150000"/>
              </a:lnSpc>
              <a:buFont typeface="+mj-lt"/>
              <a:buAutoNum type="arabicPeriod"/>
            </a:pPr>
            <a:r>
              <a:rPr lang="en-US" b="1" dirty="0">
                <a:solidFill>
                  <a:srgbClr val="00B050"/>
                </a:solidFill>
                <a:latin typeface="Times New Roman" panose="02020603050405020304" pitchFamily="18" charset="0"/>
                <a:ea typeface="Calibri"/>
                <a:cs typeface="Times New Roman" panose="02020603050405020304" pitchFamily="18" charset="0"/>
                <a:sym typeface="Calibri"/>
              </a:rPr>
              <a:t>CA2:</a:t>
            </a:r>
            <a:r>
              <a:rPr lang="en-US" dirty="0">
                <a:latin typeface="Times New Roman" panose="02020603050405020304" pitchFamily="18" charset="0"/>
                <a:ea typeface="Calibri"/>
                <a:cs typeface="Times New Roman" panose="02020603050405020304" pitchFamily="18" charset="0"/>
                <a:sym typeface="Calibri"/>
              </a:rPr>
              <a:t> </a:t>
            </a:r>
            <a:r>
              <a:rPr lang="en-US" b="1" dirty="0">
                <a:latin typeface="Times New Roman" panose="02020603050405020304" pitchFamily="18" charset="0"/>
                <a:ea typeface="Calibri"/>
                <a:cs typeface="Times New Roman" panose="02020603050405020304" pitchFamily="18" charset="0"/>
                <a:sym typeface="Calibri"/>
              </a:rPr>
              <a:t>Practical Test: </a:t>
            </a:r>
            <a:r>
              <a:rPr lang="en-US" dirty="0">
                <a:latin typeface="Times New Roman" panose="02020603050405020304" pitchFamily="18" charset="0"/>
                <a:cs typeface="Times New Roman" panose="02020603050405020304" pitchFamily="18" charset="0"/>
              </a:rPr>
              <a:t>CA2 will be a practical examination carrying a total of 30 marks. This assessment will cover the second half of Unit-I.</a:t>
            </a:r>
          </a:p>
          <a:p>
            <a:pPr>
              <a:lnSpc>
                <a:spcPct val="150000"/>
              </a:lnSpc>
            </a:pPr>
            <a:r>
              <a:rPr lang="en-US" b="1" dirty="0">
                <a:solidFill>
                  <a:srgbClr val="0000FF"/>
                </a:solidFill>
                <a:latin typeface="Times New Roman" panose="02020603050405020304" pitchFamily="18" charset="0"/>
                <a:cs typeface="Times New Roman" panose="02020603050405020304" pitchFamily="18" charset="0"/>
              </a:rPr>
              <a:t>Rubrics for Practical Class Assessment:</a:t>
            </a:r>
          </a:p>
          <a:p>
            <a:pPr marL="285750" lvl="0" indent="-285750">
              <a:lnSpc>
                <a:spcPct val="150000"/>
              </a:lnSpc>
              <a:spcBef>
                <a:spcPts val="200"/>
              </a:spcBef>
              <a:spcAft>
                <a:spcPts val="20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Implementation &amp; Execution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15 Marks: Correctness and completeness of the practical task performed.</a:t>
            </a:r>
          </a:p>
          <a:p>
            <a:pPr marL="285750" lvl="0" indent="-285750">
              <a:lnSpc>
                <a:spcPct val="150000"/>
              </a:lnSpc>
              <a:spcBef>
                <a:spcPts val="200"/>
              </a:spcBef>
              <a:spcAft>
                <a:spcPts val="20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Understanding &amp; Viva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10 Marks: Conceptual understanding demonstrated during viva/questioning.</a:t>
            </a:r>
          </a:p>
          <a:p>
            <a:pPr marL="285750" indent="-285750">
              <a:lnSpc>
                <a:spcPct val="150000"/>
              </a:lnSpc>
              <a:spcBef>
                <a:spcPts val="200"/>
              </a:spcBef>
              <a:spcAft>
                <a:spcPts val="200"/>
              </a:spcAf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Documentation &amp; Submission 	</a:t>
            </a:r>
            <a:r>
              <a:rPr lang="en-IN" dirty="0">
                <a:latin typeface="Times New Roman" panose="02020603050405020304" pitchFamily="18" charset="0"/>
                <a:cs typeface="Times New Roman" panose="02020603050405020304" pitchFamily="18" charset="0"/>
                <a:sym typeface="Symbol" panose="05050102010706020507" pitchFamily="18" charset="2"/>
              </a:rPr>
              <a:t></a:t>
            </a:r>
            <a:r>
              <a:rPr lang="en-IN" dirty="0">
                <a:latin typeface="Times New Roman" panose="02020603050405020304" pitchFamily="18" charset="0"/>
                <a:cs typeface="Times New Roman" panose="02020603050405020304" pitchFamily="18" charset="0"/>
              </a:rPr>
              <a:t> 05 Marks: Quality and timely submission of the lab record/report.</a:t>
            </a:r>
            <a:endParaRPr lang="en-US" b="1" dirty="0">
              <a:solidFill>
                <a:srgbClr val="0000FF"/>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D4415F8A-0E14-33AE-2073-82DC897784AB}"/>
              </a:ext>
            </a:extLst>
          </p:cNvPr>
          <p:cNvGraphicFramePr>
            <a:graphicFrameLocks noGrp="1"/>
          </p:cNvGraphicFramePr>
          <p:nvPr>
            <p:extLst>
              <p:ext uri="{D42A27DB-BD31-4B8C-83A1-F6EECF244321}">
                <p14:modId xmlns:p14="http://schemas.microsoft.com/office/powerpoint/2010/main" val="350315164"/>
              </p:ext>
            </p:extLst>
          </p:nvPr>
        </p:nvGraphicFramePr>
        <p:xfrm>
          <a:off x="330139" y="4806522"/>
          <a:ext cx="10842171" cy="1112520"/>
        </p:xfrm>
        <a:graphic>
          <a:graphicData uri="http://schemas.openxmlformats.org/drawingml/2006/table">
            <a:tbl>
              <a:tblPr firstRow="1" bandRow="1">
                <a:tableStyleId>{21E4AEA4-8DFA-4A89-87EB-49C32662AFE0}</a:tableStyleId>
              </a:tblPr>
              <a:tblGrid>
                <a:gridCol w="3614057">
                  <a:extLst>
                    <a:ext uri="{9D8B030D-6E8A-4147-A177-3AD203B41FA5}">
                      <a16:colId xmlns:a16="http://schemas.microsoft.com/office/drawing/2014/main" val="1341468845"/>
                    </a:ext>
                  </a:extLst>
                </a:gridCol>
                <a:gridCol w="3614057">
                  <a:extLst>
                    <a:ext uri="{9D8B030D-6E8A-4147-A177-3AD203B41FA5}">
                      <a16:colId xmlns:a16="http://schemas.microsoft.com/office/drawing/2014/main" val="3665697449"/>
                    </a:ext>
                  </a:extLst>
                </a:gridCol>
                <a:gridCol w="3614057">
                  <a:extLst>
                    <a:ext uri="{9D8B030D-6E8A-4147-A177-3AD203B41FA5}">
                      <a16:colId xmlns:a16="http://schemas.microsoft.com/office/drawing/2014/main" val="1167277232"/>
                    </a:ext>
                  </a:extLst>
                </a:gridCol>
              </a:tblGrid>
              <a:tr h="370840">
                <a:tc>
                  <a:txBody>
                    <a:bodyPr/>
                    <a:lstStyle/>
                    <a:p>
                      <a:pPr algn="ctr"/>
                      <a:r>
                        <a:rPr lang="en-IN" sz="1800" dirty="0">
                          <a:latin typeface="Times New Roman" panose="02020603050405020304" pitchFamily="18" charset="0"/>
                          <a:cs typeface="Times New Roman" panose="02020603050405020304" pitchFamily="18" charset="0"/>
                        </a:rPr>
                        <a:t>Academic Task</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Allotment/Submission Week</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Maximum Marks</a:t>
                      </a:r>
                    </a:p>
                  </a:txBody>
                  <a:tcPr anchor="ctr"/>
                </a:tc>
                <a:extLst>
                  <a:ext uri="{0D108BD9-81ED-4DB2-BD59-A6C34878D82A}">
                    <a16:rowId xmlns:a16="http://schemas.microsoft.com/office/drawing/2014/main" val="1711687853"/>
                  </a:ext>
                </a:extLst>
              </a:tr>
              <a:tr h="370840">
                <a:tc>
                  <a:txBody>
                    <a:bodyPr/>
                    <a:lstStyle/>
                    <a:p>
                      <a:pPr algn="ctr"/>
                      <a:r>
                        <a:rPr lang="en-IN" sz="1800" dirty="0">
                          <a:latin typeface="Times New Roman" panose="02020603050405020304" pitchFamily="18" charset="0"/>
                          <a:cs typeface="Times New Roman" panose="02020603050405020304" pitchFamily="18" charset="0"/>
                        </a:rPr>
                        <a:t>AT1</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3/5</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30</a:t>
                      </a:r>
                    </a:p>
                  </a:txBody>
                  <a:tcPr anchor="ctr"/>
                </a:tc>
                <a:extLst>
                  <a:ext uri="{0D108BD9-81ED-4DB2-BD59-A6C34878D82A}">
                    <a16:rowId xmlns:a16="http://schemas.microsoft.com/office/drawing/2014/main" val="2505125567"/>
                  </a:ext>
                </a:extLst>
              </a:tr>
              <a:tr h="370840">
                <a:tc>
                  <a:txBody>
                    <a:bodyPr/>
                    <a:lstStyle/>
                    <a:p>
                      <a:pPr algn="ctr"/>
                      <a:r>
                        <a:rPr lang="en-IN" sz="1800" dirty="0">
                          <a:latin typeface="Times New Roman" panose="02020603050405020304" pitchFamily="18" charset="0"/>
                          <a:cs typeface="Times New Roman" panose="02020603050405020304" pitchFamily="18" charset="0"/>
                        </a:rPr>
                        <a:t>AT2</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10/11</a:t>
                      </a:r>
                    </a:p>
                  </a:txBody>
                  <a:tcPr anchor="ctr"/>
                </a:tc>
                <a:tc>
                  <a:txBody>
                    <a:bodyPr/>
                    <a:lstStyle/>
                    <a:p>
                      <a:pPr algn="ctr"/>
                      <a:r>
                        <a:rPr lang="en-IN" sz="1800" dirty="0">
                          <a:latin typeface="Times New Roman" panose="02020603050405020304" pitchFamily="18" charset="0"/>
                          <a:cs typeface="Times New Roman" panose="02020603050405020304" pitchFamily="18" charset="0"/>
                        </a:rPr>
                        <a:t>30</a:t>
                      </a:r>
                    </a:p>
                  </a:txBody>
                  <a:tcPr anchor="ctr"/>
                </a:tc>
                <a:extLst>
                  <a:ext uri="{0D108BD9-81ED-4DB2-BD59-A6C34878D82A}">
                    <a16:rowId xmlns:a16="http://schemas.microsoft.com/office/drawing/2014/main" val="3682216765"/>
                  </a:ext>
                </a:extLst>
              </a:tr>
            </a:tbl>
          </a:graphicData>
        </a:graphic>
      </p:graphicFrame>
      <p:sp>
        <p:nvSpPr>
          <p:cNvPr id="6" name="TextBox 5">
            <a:extLst>
              <a:ext uri="{FF2B5EF4-FFF2-40B4-BE49-F238E27FC236}">
                <a16:creationId xmlns:a16="http://schemas.microsoft.com/office/drawing/2014/main" id="{C2E32773-71A4-9697-9589-90CFD7FB863E}"/>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3378563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B4FC-22DE-46A3-6092-2E900F03A5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8C4C8B-439E-CE18-9AE9-43D606E0DECE}"/>
              </a:ext>
            </a:extLst>
          </p:cNvPr>
          <p:cNvSpPr txBox="1"/>
          <p:nvPr/>
        </p:nvSpPr>
        <p:spPr>
          <a:xfrm>
            <a:off x="197370" y="425276"/>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TEACHING METHODOLOGY</a:t>
            </a:r>
          </a:p>
        </p:txBody>
      </p:sp>
      <p:sp>
        <p:nvSpPr>
          <p:cNvPr id="5" name="Google Shape;145;p6">
            <a:extLst>
              <a:ext uri="{FF2B5EF4-FFF2-40B4-BE49-F238E27FC236}">
                <a16:creationId xmlns:a16="http://schemas.microsoft.com/office/drawing/2014/main" id="{07BC8F05-92FC-77C0-846E-068A1FAB4A54}"/>
              </a:ext>
            </a:extLst>
          </p:cNvPr>
          <p:cNvSpPr txBox="1">
            <a:spLocks noChangeArrowheads="1"/>
          </p:cNvSpPr>
          <p:nvPr/>
        </p:nvSpPr>
        <p:spPr bwMode="auto">
          <a:xfrm>
            <a:off x="197369" y="1204054"/>
            <a:ext cx="11797259" cy="4532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marL="2857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342900" indent="-342900" algn="just" eaLnBrk="1" hangingPunct="1">
              <a:lnSpc>
                <a:spcPct val="200000"/>
              </a:lnSpc>
              <a:buFont typeface="+mj-lt"/>
              <a:buAutoNum type="arabicPeriod"/>
            </a:pPr>
            <a:r>
              <a:rPr lang="en-IN" altLang="en-US" sz="1800" dirty="0">
                <a:solidFill>
                  <a:schemeClr val="tx1"/>
                </a:solidFill>
                <a:latin typeface="Times New Roman" panose="02020603050405020304" pitchFamily="18" charset="0"/>
                <a:cs typeface="Times New Roman" panose="02020603050405020304" pitchFamily="18" charset="0"/>
              </a:rPr>
              <a:t>Practice papers will be solved for certification exams</a:t>
            </a:r>
          </a:p>
          <a:p>
            <a:pPr marL="342900" indent="-342900" algn="just" eaLnBrk="1" hangingPunct="1">
              <a:lnSpc>
                <a:spcPct val="200000"/>
              </a:lnSpc>
              <a:buFont typeface="+mj-lt"/>
              <a:buAutoNum type="arabicPeriod"/>
            </a:pPr>
            <a:r>
              <a:rPr lang="en-IN" altLang="en-US" sz="1800" dirty="0">
                <a:solidFill>
                  <a:schemeClr val="tx1"/>
                </a:solidFill>
                <a:latin typeface="Times New Roman" panose="02020603050405020304" pitchFamily="18" charset="0"/>
                <a:cs typeface="Times New Roman" panose="02020603050405020304" pitchFamily="18" charset="0"/>
              </a:rPr>
              <a:t>Case-wise study for each aspect and blueprint syllabus for certification preparation</a:t>
            </a:r>
          </a:p>
          <a:p>
            <a:pPr marL="342900" indent="-342900" algn="just" eaLnBrk="1" hangingPunct="1">
              <a:lnSpc>
                <a:spcPct val="200000"/>
              </a:lnSpc>
              <a:buFont typeface="+mj-lt"/>
              <a:buAutoNum type="arabicPeriod"/>
            </a:pPr>
            <a:r>
              <a:rPr lang="en-IN" altLang="en-US" sz="1800" dirty="0">
                <a:solidFill>
                  <a:schemeClr val="tx1"/>
                </a:solidFill>
                <a:latin typeface="Times New Roman" panose="02020603050405020304" pitchFamily="18" charset="0"/>
                <a:cs typeface="Times New Roman" panose="02020603050405020304" pitchFamily="18" charset="0"/>
              </a:rPr>
              <a:t>Students will get to understand the process at hand for appearing in certification exams.</a:t>
            </a:r>
          </a:p>
          <a:p>
            <a:pPr marL="342900" indent="-342900" algn="just" eaLnBrk="1" hangingPunct="1">
              <a:lnSpc>
                <a:spcPct val="200000"/>
              </a:lnSpc>
              <a:buFont typeface="+mj-lt"/>
              <a:buAutoNum type="arabicPeriod"/>
            </a:pPr>
            <a:r>
              <a:rPr lang="en-US" sz="1800" dirty="0">
                <a:solidFill>
                  <a:schemeClr val="tx1"/>
                </a:solidFill>
                <a:latin typeface="Times New Roman" panose="02020603050405020304" pitchFamily="18" charset="0"/>
                <a:ea typeface="Questrial"/>
                <a:cs typeface="Times New Roman" panose="02020603050405020304" pitchFamily="18" charset="0"/>
                <a:sym typeface="Questrial"/>
              </a:rPr>
              <a:t>Since this is an industry collaborative course, it aligns with Google Cloud Documentation, and hence, all study material will be readily available to each student through industry experts</a:t>
            </a:r>
          </a:p>
          <a:p>
            <a:pPr marL="342900" indent="-342900" algn="just" eaLnBrk="1" hangingPunct="1">
              <a:lnSpc>
                <a:spcPct val="200000"/>
              </a:lnSpc>
              <a:buFont typeface="+mj-lt"/>
              <a:buAutoNum type="arabicPeriod"/>
            </a:pPr>
            <a:r>
              <a:rPr lang="en-US" sz="1800" dirty="0">
                <a:solidFill>
                  <a:schemeClr val="tx1"/>
                </a:solidFill>
                <a:latin typeface="Times New Roman" panose="02020603050405020304" pitchFamily="18" charset="0"/>
                <a:ea typeface="Questrial"/>
                <a:cs typeface="Times New Roman" panose="02020603050405020304" pitchFamily="18" charset="0"/>
                <a:sym typeface="Questrial"/>
              </a:rPr>
              <a:t>Edu-revolution: Grade Upgradation is the only benefit that is provided in this subject due to its industry collaboration and the mapping of syllabus with Certification</a:t>
            </a:r>
          </a:p>
          <a:p>
            <a:pPr marL="342900" indent="-342900" algn="just" eaLnBrk="1" hangingPunct="1">
              <a:lnSpc>
                <a:spcPct val="200000"/>
              </a:lnSpc>
              <a:buFont typeface="+mj-lt"/>
              <a:buAutoNum type="arabicPeriod"/>
            </a:pPr>
            <a:r>
              <a:rPr lang="en-US" sz="1800" dirty="0">
                <a:solidFill>
                  <a:schemeClr val="tx1"/>
                </a:solidFill>
                <a:latin typeface="Times New Roman" panose="02020603050405020304" pitchFamily="18" charset="0"/>
                <a:ea typeface="Questrial"/>
                <a:cs typeface="Times New Roman" panose="02020603050405020304" pitchFamily="18" charset="0"/>
                <a:sym typeface="Questrial"/>
              </a:rPr>
              <a:t>The course aligns with Google Badges, which students can collect while working on the lab session</a:t>
            </a:r>
            <a:endParaRPr lang="en-IN" altLang="en-US" sz="1800" dirty="0">
              <a:solidFill>
                <a:schemeClr val="tx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C096B87-D65F-DC57-0FD7-C8C0AE5FA57D}"/>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214746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3F1C-717D-4F16-39F4-5045FC50F3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415909-0911-BD59-A2A1-44DE2E85FA0E}"/>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LATEST TRENDS IN CLOUD COMPUTING</a:t>
            </a:r>
          </a:p>
        </p:txBody>
      </p:sp>
      <p:sp>
        <p:nvSpPr>
          <p:cNvPr id="4" name="Google Shape;152;p7">
            <a:extLst>
              <a:ext uri="{FF2B5EF4-FFF2-40B4-BE49-F238E27FC236}">
                <a16:creationId xmlns:a16="http://schemas.microsoft.com/office/drawing/2014/main" id="{A4F8C60B-D0E5-E547-251D-131282B622A9}"/>
              </a:ext>
            </a:extLst>
          </p:cNvPr>
          <p:cNvSpPr txBox="1">
            <a:spLocks/>
          </p:cNvSpPr>
          <p:nvPr/>
        </p:nvSpPr>
        <p:spPr>
          <a:xfrm>
            <a:off x="197370" y="1170774"/>
            <a:ext cx="11797259" cy="54548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Font typeface="Arial"/>
              <a:buNone/>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Cloud Service Providers in Industry: </a:t>
            </a:r>
          </a:p>
          <a:p>
            <a:pPr marL="477838" indent="-342900">
              <a:lnSpc>
                <a:spcPct val="150000"/>
              </a:lnSpc>
              <a:spcBef>
                <a:spcPts val="0"/>
              </a:spcBef>
              <a:buFont typeface="+mj-lt"/>
              <a:buAutoNum type="arabicPeriod"/>
              <a:tabLst>
                <a:tab pos="363538" algn="l"/>
              </a:tabLst>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 Amazon Web Services (AWS), Google Cloud Services (GCS/GCP), Microsoft Azure, etc. </a:t>
            </a:r>
          </a:p>
          <a:p>
            <a:pPr marL="114300" indent="0">
              <a:lnSpc>
                <a:spcPct val="150000"/>
              </a:lnSpc>
              <a:spcBef>
                <a:spcPts val="0"/>
              </a:spcBef>
              <a:buFont typeface="Arial"/>
              <a:buNone/>
              <a:defRPr/>
            </a:pPr>
            <a:endParaRPr lang="en-IN" sz="18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114300" indent="0">
              <a:lnSpc>
                <a:spcPct val="150000"/>
              </a:lnSpc>
              <a:spcBef>
                <a:spcPts val="0"/>
              </a:spcBef>
              <a:buFont typeface="Arial"/>
              <a:buNone/>
              <a:defRPr/>
            </a:pPr>
            <a:r>
              <a:rPr lang="en-IN" sz="1800" b="1" dirty="0">
                <a:solidFill>
                  <a:schemeClr val="dk1"/>
                </a:solidFill>
                <a:latin typeface="Times New Roman" panose="02020603050405020304" pitchFamily="18" charset="0"/>
                <a:ea typeface="Calibri"/>
                <a:cs typeface="Times New Roman" panose="02020603050405020304" pitchFamily="18" charset="0"/>
                <a:sym typeface="Calibri"/>
              </a:rPr>
              <a:t>Advanced Topics in Cloud Computing</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Containers, </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Edge Computing</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Fog Computing</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Energy Efficiency in Cloud</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Federated Cloud Computing</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Green Cloud Computing</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Mobile </a:t>
            </a:r>
            <a:r>
              <a:rPr lang="en-IN" sz="1800">
                <a:solidFill>
                  <a:schemeClr val="dk1"/>
                </a:solidFill>
                <a:latin typeface="Times New Roman" panose="02020603050405020304" pitchFamily="18" charset="0"/>
                <a:ea typeface="Calibri"/>
                <a:cs typeface="Times New Roman" panose="02020603050405020304" pitchFamily="18" charset="0"/>
                <a:sym typeface="Calibri"/>
              </a:rPr>
              <a:t>Cloud Computing</a:t>
            </a:r>
            <a:endParaRPr lang="en-IN" sz="1800" dirty="0">
              <a:solidFill>
                <a:schemeClr val="dk1"/>
              </a:solidFill>
              <a:latin typeface="Times New Roman" panose="02020603050405020304" pitchFamily="18" charset="0"/>
              <a:ea typeface="Calibri"/>
              <a:cs typeface="Times New Roman" panose="02020603050405020304" pitchFamily="18" charset="0"/>
              <a:sym typeface="Calibri"/>
            </a:endParaRP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IoT </a:t>
            </a:r>
          </a:p>
          <a:p>
            <a:pPr marL="477838" indent="-342900">
              <a:lnSpc>
                <a:spcPct val="150000"/>
              </a:lnSpc>
              <a:spcBef>
                <a:spcPts val="0"/>
              </a:spcBef>
              <a:buFont typeface="+mj-lt"/>
              <a:buAutoNum type="arabicPeriod"/>
              <a:defRPr/>
            </a:pPr>
            <a:r>
              <a:rPr lang="en-IN" sz="1800" dirty="0">
                <a:solidFill>
                  <a:schemeClr val="dk1"/>
                </a:solidFill>
                <a:latin typeface="Times New Roman" panose="02020603050405020304" pitchFamily="18" charset="0"/>
                <a:ea typeface="Calibri"/>
                <a:cs typeface="Times New Roman" panose="02020603050405020304" pitchFamily="18" charset="0"/>
                <a:sym typeface="Calibri"/>
              </a:rPr>
              <a:t>Big Data Analytics</a:t>
            </a:r>
            <a:endParaRPr lang="en-IN"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68F67325-FB0B-EDD6-712A-14FAD753EFD1}"/>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968510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6E30-D42B-59E8-8106-4DECE94470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B902E3-84CC-528D-DFD5-91B87876AD4A}"/>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OPEN EDUCATIONAL RESOURCE</a:t>
            </a:r>
          </a:p>
        </p:txBody>
      </p:sp>
      <p:graphicFrame>
        <p:nvGraphicFramePr>
          <p:cNvPr id="4" name="Table 3">
            <a:extLst>
              <a:ext uri="{FF2B5EF4-FFF2-40B4-BE49-F238E27FC236}">
                <a16:creationId xmlns:a16="http://schemas.microsoft.com/office/drawing/2014/main" id="{24145908-DDFA-DFA9-6CFB-1A769E418D8C}"/>
              </a:ext>
            </a:extLst>
          </p:cNvPr>
          <p:cNvGraphicFramePr>
            <a:graphicFrameLocks noGrp="1"/>
          </p:cNvGraphicFramePr>
          <p:nvPr>
            <p:extLst>
              <p:ext uri="{D42A27DB-BD31-4B8C-83A1-F6EECF244321}">
                <p14:modId xmlns:p14="http://schemas.microsoft.com/office/powerpoint/2010/main" val="917778334"/>
              </p:ext>
            </p:extLst>
          </p:nvPr>
        </p:nvGraphicFramePr>
        <p:xfrm>
          <a:off x="197369" y="842396"/>
          <a:ext cx="11797258" cy="5902918"/>
        </p:xfrm>
        <a:graphic>
          <a:graphicData uri="http://schemas.openxmlformats.org/drawingml/2006/table">
            <a:tbl>
              <a:tblPr/>
              <a:tblGrid>
                <a:gridCol w="737302">
                  <a:extLst>
                    <a:ext uri="{9D8B030D-6E8A-4147-A177-3AD203B41FA5}">
                      <a16:colId xmlns:a16="http://schemas.microsoft.com/office/drawing/2014/main" val="20000"/>
                    </a:ext>
                  </a:extLst>
                </a:gridCol>
                <a:gridCol w="1105953">
                  <a:extLst>
                    <a:ext uri="{9D8B030D-6E8A-4147-A177-3AD203B41FA5}">
                      <a16:colId xmlns:a16="http://schemas.microsoft.com/office/drawing/2014/main" val="20001"/>
                    </a:ext>
                  </a:extLst>
                </a:gridCol>
                <a:gridCol w="3425382">
                  <a:extLst>
                    <a:ext uri="{9D8B030D-6E8A-4147-A177-3AD203B41FA5}">
                      <a16:colId xmlns:a16="http://schemas.microsoft.com/office/drawing/2014/main" val="20002"/>
                    </a:ext>
                  </a:extLst>
                </a:gridCol>
                <a:gridCol w="835978">
                  <a:extLst>
                    <a:ext uri="{9D8B030D-6E8A-4147-A177-3AD203B41FA5}">
                      <a16:colId xmlns:a16="http://schemas.microsoft.com/office/drawing/2014/main" val="20003"/>
                    </a:ext>
                  </a:extLst>
                </a:gridCol>
                <a:gridCol w="992203">
                  <a:extLst>
                    <a:ext uri="{9D8B030D-6E8A-4147-A177-3AD203B41FA5}">
                      <a16:colId xmlns:a16="http://schemas.microsoft.com/office/drawing/2014/main" val="20004"/>
                    </a:ext>
                  </a:extLst>
                </a:gridCol>
                <a:gridCol w="894381">
                  <a:extLst>
                    <a:ext uri="{9D8B030D-6E8A-4147-A177-3AD203B41FA5}">
                      <a16:colId xmlns:a16="http://schemas.microsoft.com/office/drawing/2014/main" val="20005"/>
                    </a:ext>
                  </a:extLst>
                </a:gridCol>
                <a:gridCol w="3806059">
                  <a:extLst>
                    <a:ext uri="{9D8B030D-6E8A-4147-A177-3AD203B41FA5}">
                      <a16:colId xmlns:a16="http://schemas.microsoft.com/office/drawing/2014/main" val="20006"/>
                    </a:ext>
                  </a:extLst>
                </a:gridCol>
              </a:tblGrid>
              <a:tr h="79201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Unit mapped</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Broad topic</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Sub Topic</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Type</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Title</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*%age mapping (approx.)</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URL</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extLst>
                  <a:ext uri="{0D108BD9-81ED-4DB2-BD59-A6C34878D82A}">
                    <a16:rowId xmlns:a16="http://schemas.microsoft.com/office/drawing/2014/main" val="10000"/>
                  </a:ext>
                </a:extLst>
              </a:tr>
              <a:tr h="1583937">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Introduction to Terraform for Google Cloud:</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Infrastructure as Code</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Terraform Overview</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Using Terraform</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The Author Phase</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Terraform Commands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Terraform Validator Tool</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100%</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rtl="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2">
                            <a:extLst>
                              <a:ext uri="{A12FA001-AC4F-418D-AE19-62706E023703}">
                                <ahyp:hlinkClr xmlns:ahyp="http://schemas.microsoft.com/office/drawing/2018/hyperlinkcolor" val="tx"/>
                              </a:ext>
                            </a:extLst>
                          </a:hlinkClick>
                        </a:rPr>
                        <a:t>Google Cloud Terraform Docs</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3">
                            <a:extLst>
                              <a:ext uri="{A12FA001-AC4F-418D-AE19-62706E023703}">
                                <ahyp:hlinkClr xmlns:ahyp="http://schemas.microsoft.com/office/drawing/2018/hyperlinkcolor" val="tx"/>
                              </a:ext>
                            </a:extLst>
                          </a:hlinkClick>
                        </a:rPr>
                        <a:t>Terraform Introduction – </a:t>
                      </a:r>
                      <a:r>
                        <a:rPr lang="en-US" sz="1400" u="sng" kern="1200" dirty="0" err="1">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3">
                            <a:extLst>
                              <a:ext uri="{A12FA001-AC4F-418D-AE19-62706E023703}">
                                <ahyp:hlinkClr xmlns:ahyp="http://schemas.microsoft.com/office/drawing/2018/hyperlinkcolor" val="tx"/>
                              </a:ext>
                            </a:extLst>
                          </a:hlinkClick>
                        </a:rPr>
                        <a:t>HashiCorp</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4">
                            <a:extLst>
                              <a:ext uri="{A12FA001-AC4F-418D-AE19-62706E023703}">
                                <ahyp:hlinkClr xmlns:ahyp="http://schemas.microsoft.com/office/drawing/2018/hyperlinkcolor" val="tx"/>
                              </a:ext>
                            </a:extLst>
                          </a:hlinkClick>
                        </a:rPr>
                        <a:t>Get Started with Terraform on GCP</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5">
                            <a:extLst>
                              <a:ext uri="{A12FA001-AC4F-418D-AE19-62706E023703}">
                                <ahyp:hlinkClr xmlns:ahyp="http://schemas.microsoft.com/office/drawing/2018/hyperlinkcolor" val="tx"/>
                              </a:ext>
                            </a:extLst>
                          </a:hlinkClick>
                        </a:rPr>
                        <a:t>Google Cloud Skills Boost – Terraform Path</a:t>
                      </a:r>
                      <a:endParaRPr kumimoji="0" lang="en-IN"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extLst>
                  <a:ext uri="{0D108BD9-81ED-4DB2-BD59-A6C34878D82A}">
                    <a16:rowId xmlns:a16="http://schemas.microsoft.com/office/drawing/2014/main" val="10001"/>
                  </a:ext>
                </a:extLst>
              </a:tr>
              <a:tr h="1653665">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Infrastructure as Code with Terraform:</a:t>
                      </a: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Introduction to Resources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Considerations for Defining a Resource Block</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Variables Overview &amp; Best Practices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Meta-arguments for Resources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Resource Dependencies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Output Values Overview &amp; Best Practices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100%</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rtl="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6">
                            <a:extLst>
                              <a:ext uri="{A12FA001-AC4F-418D-AE19-62706E023703}">
                                <ahyp:hlinkClr xmlns:ahyp="http://schemas.microsoft.com/office/drawing/2018/hyperlinkcolor" val="tx"/>
                              </a:ext>
                            </a:extLst>
                          </a:hlinkClick>
                        </a:rPr>
                        <a:t>Terraform Resources – </a:t>
                      </a:r>
                      <a:r>
                        <a:rPr lang="en-US" sz="1400" u="sng" kern="1200" dirty="0" err="1">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6">
                            <a:extLst>
                              <a:ext uri="{A12FA001-AC4F-418D-AE19-62706E023703}">
                                <ahyp:hlinkClr xmlns:ahyp="http://schemas.microsoft.com/office/drawing/2018/hyperlinkcolor" val="tx"/>
                              </a:ext>
                            </a:extLst>
                          </a:hlinkClick>
                        </a:rPr>
                        <a:t>HashiCorp</a:t>
                      </a: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6">
                            <a:extLst>
                              <a:ext uri="{A12FA001-AC4F-418D-AE19-62706E023703}">
                                <ahyp:hlinkClr xmlns:ahyp="http://schemas.microsoft.com/office/drawing/2018/hyperlinkcolor" val="tx"/>
                              </a:ext>
                            </a:extLst>
                          </a:hlinkClick>
                        </a:rPr>
                        <a:t> Docs</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7">
                            <a:extLst>
                              <a:ext uri="{A12FA001-AC4F-418D-AE19-62706E023703}">
                                <ahyp:hlinkClr xmlns:ahyp="http://schemas.microsoft.com/office/drawing/2018/hyperlinkcolor" val="tx"/>
                              </a:ext>
                            </a:extLst>
                          </a:hlinkClick>
                        </a:rPr>
                        <a:t>Terraform Input Variables</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8">
                            <a:extLst>
                              <a:ext uri="{A12FA001-AC4F-418D-AE19-62706E023703}">
                                <ahyp:hlinkClr xmlns:ahyp="http://schemas.microsoft.com/office/drawing/2018/hyperlinkcolor" val="tx"/>
                              </a:ext>
                            </a:extLst>
                          </a:hlinkClick>
                        </a:rPr>
                        <a:t>Resource Dependencies – </a:t>
                      </a:r>
                      <a:r>
                        <a:rPr lang="en-US" sz="1400" u="sng" kern="1200" dirty="0" err="1">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8">
                            <a:extLst>
                              <a:ext uri="{A12FA001-AC4F-418D-AE19-62706E023703}">
                                <ahyp:hlinkClr xmlns:ahyp="http://schemas.microsoft.com/office/drawing/2018/hyperlinkcolor" val="tx"/>
                              </a:ext>
                            </a:extLst>
                          </a:hlinkClick>
                        </a:rPr>
                        <a:t>depends_on</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9">
                            <a:extLst>
                              <a:ext uri="{A12FA001-AC4F-418D-AE19-62706E023703}">
                                <ahyp:hlinkClr xmlns:ahyp="http://schemas.microsoft.com/office/drawing/2018/hyperlinkcolor" val="tx"/>
                              </a:ext>
                            </a:extLst>
                          </a:hlinkClick>
                        </a:rPr>
                        <a:t>Terraform Output Values</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0">
                            <a:extLst>
                              <a:ext uri="{A12FA001-AC4F-418D-AE19-62706E023703}">
                                <ahyp:hlinkClr xmlns:ahyp="http://schemas.microsoft.com/office/drawing/2018/hyperlinkcolor" val="tx"/>
                              </a:ext>
                            </a:extLst>
                          </a:hlinkClick>
                        </a:rPr>
                        <a:t>Best Practices for Terraform on GCP</a:t>
                      </a:r>
                      <a:endParaRPr kumimoji="0" lang="en-IN"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2"/>
                  </a:ext>
                </a:extLst>
              </a:tr>
              <a:tr h="184357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Organizing and Reusing Configuration with Terraform Modules: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Need for Modules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Example, Use Cases and Benefits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Modules Overview</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Reuse Configurations Using Modules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Use Variables to Parameterize a Module</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Pass Resource Attributes via Output Values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171450" indent="-171450">
                        <a:lnSpc>
                          <a:spcPct val="114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Modules Best Practices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100%</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lvl="0" indent="-285750" rtl="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1">
                            <a:extLst>
                              <a:ext uri="{A12FA001-AC4F-418D-AE19-62706E023703}">
                                <ahyp:hlinkClr xmlns:ahyp="http://schemas.microsoft.com/office/drawing/2018/hyperlinkcolor" val="tx"/>
                              </a:ext>
                            </a:extLst>
                          </a:hlinkClick>
                        </a:rPr>
                        <a:t>Terraform Modules – </a:t>
                      </a:r>
                      <a:r>
                        <a:rPr lang="en-US" sz="1400" u="sng" kern="1200" dirty="0" err="1">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1">
                            <a:extLst>
                              <a:ext uri="{A12FA001-AC4F-418D-AE19-62706E023703}">
                                <ahyp:hlinkClr xmlns:ahyp="http://schemas.microsoft.com/office/drawing/2018/hyperlinkcolor" val="tx"/>
                              </a:ext>
                            </a:extLst>
                          </a:hlinkClick>
                        </a:rPr>
                        <a:t>HashiCorp</a:t>
                      </a: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1">
                            <a:extLst>
                              <a:ext uri="{A12FA001-AC4F-418D-AE19-62706E023703}">
                                <ahyp:hlinkClr xmlns:ahyp="http://schemas.microsoft.com/office/drawing/2018/hyperlinkcolor" val="tx"/>
                              </a:ext>
                            </a:extLst>
                          </a:hlinkClick>
                        </a:rPr>
                        <a:t> Docs</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2">
                            <a:extLst>
                              <a:ext uri="{A12FA001-AC4F-418D-AE19-62706E023703}">
                                <ahyp:hlinkClr xmlns:ahyp="http://schemas.microsoft.com/office/drawing/2018/hyperlinkcolor" val="tx"/>
                              </a:ext>
                            </a:extLst>
                          </a:hlinkClick>
                        </a:rPr>
                        <a:t>Google Cloud Terraform Modules Registry</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3">
                            <a:extLst>
                              <a:ext uri="{A12FA001-AC4F-418D-AE19-62706E023703}">
                                <ahyp:hlinkClr xmlns:ahyp="http://schemas.microsoft.com/office/drawing/2018/hyperlinkcolor" val="tx"/>
                              </a:ext>
                            </a:extLst>
                          </a:hlinkClick>
                        </a:rPr>
                        <a:t>Reuse Configuration with Modules – Tutorial</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lvl="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4">
                            <a:extLst>
                              <a:ext uri="{A12FA001-AC4F-418D-AE19-62706E023703}">
                                <ahyp:hlinkClr xmlns:ahyp="http://schemas.microsoft.com/office/drawing/2018/hyperlinkcolor" val="tx"/>
                              </a:ext>
                            </a:extLst>
                          </a:hlinkClick>
                        </a:rPr>
                        <a:t>Use Modules from the Terraform Registry</a:t>
                      </a:r>
                      <a:endParaRPr lang="en-IN" sz="1400"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50000"/>
                        </a:lnSpc>
                        <a:buClr>
                          <a:srgbClr val="0000FF"/>
                        </a:buClr>
                        <a:buFont typeface="Wingdings" panose="05000000000000000000" pitchFamily="2" charset="2"/>
                        <a:buChar char="§"/>
                      </a:pPr>
                      <a:r>
                        <a:rPr lang="en-US" sz="1400" u="sng" kern="1200" dirty="0">
                          <a:solidFill>
                            <a:srgbClr val="0000FF"/>
                          </a:solidFill>
                          <a:effectLst/>
                          <a:latin typeface="Times New Roman" panose="02020603050405020304" pitchFamily="18" charset="0"/>
                          <a:ea typeface="+mn-ea"/>
                          <a:cs typeface="Times New Roman" panose="02020603050405020304" pitchFamily="18" charset="0"/>
                          <a:sym typeface="Arial" panose="020B0604020202020204" pitchFamily="34" charset="0"/>
                          <a:hlinkClick r:id="rId15">
                            <a:extLst>
                              <a:ext uri="{A12FA001-AC4F-418D-AE19-62706E023703}">
                                <ahyp:hlinkClr xmlns:ahyp="http://schemas.microsoft.com/office/drawing/2018/hyperlinkcolor" val="tx"/>
                              </a:ext>
                            </a:extLst>
                          </a:hlinkClick>
                        </a:rPr>
                        <a:t>GCP Terraform Module Best Practices</a:t>
                      </a:r>
                      <a:endParaRPr kumimoji="0" lang="en-IN" altLang="en-US" sz="1400" b="0" i="0" u="none" strike="noStrike" cap="none" normalizeH="0" baseline="0" dirty="0">
                        <a:ln>
                          <a:noFill/>
                        </a:ln>
                        <a:solidFill>
                          <a:srgbClr val="0000FF"/>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0066335F-017A-3B61-2D11-574AD7103B77}"/>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3520360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214E8-0D22-6F23-E831-C0688BAF5A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15BF2A-B125-1D26-94E5-0A32DB87EEF9}"/>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OPEN EDUCATIONAL RESOURCE</a:t>
            </a:r>
          </a:p>
        </p:txBody>
      </p:sp>
      <p:graphicFrame>
        <p:nvGraphicFramePr>
          <p:cNvPr id="4" name="Table 3">
            <a:extLst>
              <a:ext uri="{FF2B5EF4-FFF2-40B4-BE49-F238E27FC236}">
                <a16:creationId xmlns:a16="http://schemas.microsoft.com/office/drawing/2014/main" id="{825F5EDD-1D2A-676A-65BA-E73CB7EA1ED3}"/>
              </a:ext>
            </a:extLst>
          </p:cNvPr>
          <p:cNvGraphicFramePr>
            <a:graphicFrameLocks noGrp="1"/>
          </p:cNvGraphicFramePr>
          <p:nvPr>
            <p:extLst>
              <p:ext uri="{D42A27DB-BD31-4B8C-83A1-F6EECF244321}">
                <p14:modId xmlns:p14="http://schemas.microsoft.com/office/powerpoint/2010/main" val="3193512579"/>
              </p:ext>
            </p:extLst>
          </p:nvPr>
        </p:nvGraphicFramePr>
        <p:xfrm>
          <a:off x="197369" y="842396"/>
          <a:ext cx="11797258" cy="5873198"/>
        </p:xfrm>
        <a:graphic>
          <a:graphicData uri="http://schemas.openxmlformats.org/drawingml/2006/table">
            <a:tbl>
              <a:tblPr/>
              <a:tblGrid>
                <a:gridCol w="737302">
                  <a:extLst>
                    <a:ext uri="{9D8B030D-6E8A-4147-A177-3AD203B41FA5}">
                      <a16:colId xmlns:a16="http://schemas.microsoft.com/office/drawing/2014/main" val="20000"/>
                    </a:ext>
                  </a:extLst>
                </a:gridCol>
                <a:gridCol w="1105953">
                  <a:extLst>
                    <a:ext uri="{9D8B030D-6E8A-4147-A177-3AD203B41FA5}">
                      <a16:colId xmlns:a16="http://schemas.microsoft.com/office/drawing/2014/main" val="20001"/>
                    </a:ext>
                  </a:extLst>
                </a:gridCol>
                <a:gridCol w="3425382">
                  <a:extLst>
                    <a:ext uri="{9D8B030D-6E8A-4147-A177-3AD203B41FA5}">
                      <a16:colId xmlns:a16="http://schemas.microsoft.com/office/drawing/2014/main" val="20002"/>
                    </a:ext>
                  </a:extLst>
                </a:gridCol>
                <a:gridCol w="835978">
                  <a:extLst>
                    <a:ext uri="{9D8B030D-6E8A-4147-A177-3AD203B41FA5}">
                      <a16:colId xmlns:a16="http://schemas.microsoft.com/office/drawing/2014/main" val="20003"/>
                    </a:ext>
                  </a:extLst>
                </a:gridCol>
                <a:gridCol w="992203">
                  <a:extLst>
                    <a:ext uri="{9D8B030D-6E8A-4147-A177-3AD203B41FA5}">
                      <a16:colId xmlns:a16="http://schemas.microsoft.com/office/drawing/2014/main" val="20004"/>
                    </a:ext>
                  </a:extLst>
                </a:gridCol>
                <a:gridCol w="894381">
                  <a:extLst>
                    <a:ext uri="{9D8B030D-6E8A-4147-A177-3AD203B41FA5}">
                      <a16:colId xmlns:a16="http://schemas.microsoft.com/office/drawing/2014/main" val="20005"/>
                    </a:ext>
                  </a:extLst>
                </a:gridCol>
                <a:gridCol w="3806059">
                  <a:extLst>
                    <a:ext uri="{9D8B030D-6E8A-4147-A177-3AD203B41FA5}">
                      <a16:colId xmlns:a16="http://schemas.microsoft.com/office/drawing/2014/main" val="20006"/>
                    </a:ext>
                  </a:extLst>
                </a:gridCol>
              </a:tblGrid>
              <a:tr h="79201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Unit mapped</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Broad topic</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Sub Topic</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Type</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Title</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*%age mapping (approx.)</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06000"/>
                        </a:lnSpc>
                        <a:spcBef>
                          <a:spcPct val="0"/>
                        </a:spcBef>
                        <a:spcAft>
                          <a:spcPts val="1000"/>
                        </a:spcAft>
                        <a:buClr>
                          <a:srgbClr val="000000"/>
                        </a:buClr>
                        <a:buSzTx/>
                        <a:buFont typeface="Arial" panose="020B0604020202020204" pitchFamily="34" charset="0"/>
                        <a:buNone/>
                        <a:tabLst/>
                      </a:pPr>
                      <a:r>
                        <a:rPr kumimoji="0" lang="en-US"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Source URL</a:t>
                      </a:r>
                      <a:endParaRPr kumimoji="0" lang="en-IN" altLang="en-US" sz="1300" b="1" i="0" u="none" strike="noStrike" cap="none" normalizeH="0" baseline="0" dirty="0">
                        <a:ln>
                          <a:noFill/>
                        </a:ln>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79646"/>
                    </a:solidFill>
                  </a:tcPr>
                </a:tc>
                <a:extLst>
                  <a:ext uri="{0D108BD9-81ED-4DB2-BD59-A6C34878D82A}">
                    <a16:rowId xmlns:a16="http://schemas.microsoft.com/office/drawing/2014/main" val="10000"/>
                  </a:ext>
                </a:extLst>
              </a:tr>
              <a:tr h="1583937">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GCP ACE Practice Questions: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Setting Up Cloud Solution Environment</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(Projects, Billing, IAM Basics)</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Deploying and Managing Core Compute </a:t>
                      </a:r>
                    </a:p>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Storage Services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100%</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p>
                      <a:pPr marL="342900" lvl="0" indent="-342900" algn="just" rtl="0">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Creating VM Instances – GCP Docs</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Google Cloud Storage Introduction</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Cloud IAM Overview</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GCP Fundamentals: Core Infrastructure</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Cloud Billing Concepts</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extLst>
                  <a:ext uri="{0D108BD9-81ED-4DB2-BD59-A6C34878D82A}">
                    <a16:rowId xmlns:a16="http://schemas.microsoft.com/office/drawing/2014/main" val="10001"/>
                  </a:ext>
                </a:extLst>
              </a:tr>
              <a:tr h="1653665">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GCP ACE Practice Questions: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Networking &amp; Connectivity</a:t>
                      </a:r>
                      <a:endPar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endParaRPr>
                    </a:p>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Implementing Security &amp; Identity</a:t>
                      </a:r>
                    </a:p>
                    <a:p>
                      <a:pPr marL="285750" indent="-285750">
                        <a:lnSpc>
                          <a:spcPct val="130000"/>
                        </a:lnSpc>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(Advanced IAM &amp; Service Accounts)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100%</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tc>
                  <a:txBody>
                    <a:bodyPr/>
                    <a:lstStyle/>
                    <a:p>
                      <a:pPr marL="342900" lvl="0" indent="-342900" algn="just" rtl="0">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VPC Network Overview – GCP Docs</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Cloud Load Balancing Overview</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Creating Service Accounts – GCP Docs</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0">
                            <a:extLst>
                              <a:ext uri="{A12FA001-AC4F-418D-AE19-62706E023703}">
                                <ahyp:hlinkClr xmlns:ahyp="http://schemas.microsoft.com/office/drawing/2018/hyperlinkcolor" val="tx"/>
                              </a:ext>
                            </a:extLst>
                          </a:hlinkClick>
                        </a:rPr>
                        <a:t>Understanding IAM Roles</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1">
                            <a:extLst>
                              <a:ext uri="{A12FA001-AC4F-418D-AE19-62706E023703}">
                                <ahyp:hlinkClr xmlns:ahyp="http://schemas.microsoft.com/office/drawing/2018/hyperlinkcolor" val="tx"/>
                              </a:ext>
                            </a:extLst>
                          </a:hlinkClick>
                        </a:rPr>
                        <a:t>VPC Firewall Rules Overview</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FE9"/>
                    </a:solidFill>
                  </a:tcPr>
                </a:tc>
                <a:extLst>
                  <a:ext uri="{0D108BD9-81ED-4DB2-BD59-A6C34878D82A}">
                    <a16:rowId xmlns:a16="http://schemas.microsoft.com/office/drawing/2014/main" val="10002"/>
                  </a:ext>
                </a:extLst>
              </a:tr>
              <a:tr h="184357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rPr>
                        <a:t>Unit I</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GCP ACE Practice Questions:</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indent="-285750">
                        <a:lnSpc>
                          <a:spcPct val="130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Monitoring, </a:t>
                      </a:r>
                    </a:p>
                    <a:p>
                      <a:pPr marL="285750" indent="-285750">
                        <a:lnSpc>
                          <a:spcPct val="130000"/>
                        </a:lnSpc>
                        <a:spcBef>
                          <a:spcPts val="0"/>
                        </a:spcBef>
                        <a:spcAft>
                          <a:spcPts val="0"/>
                        </a:spcAft>
                        <a:buFont typeface="Arial" panose="020B0604020202020204" pitchFamily="34" charset="0"/>
                        <a:buChar char="•"/>
                      </a:pPr>
                      <a:r>
                        <a:rPr lang="en-US"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Logging &amp; Operational Management</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Reading Material</a:t>
                      </a:r>
                      <a:endParaRPr kumimoji="0" lang="en-IN" altLang="en-US" sz="14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lang="en-IN" sz="1400" kern="1200" dirty="0">
                          <a:solidFill>
                            <a:srgbClr val="000000"/>
                          </a:solidFill>
                          <a:effectLst/>
                          <a:latin typeface="Times New Roman" panose="02020603050405020304" pitchFamily="18" charset="0"/>
                          <a:ea typeface="+mn-ea"/>
                          <a:cs typeface="Times New Roman" panose="02020603050405020304" pitchFamily="18" charset="0"/>
                          <a:sym typeface="Arial" panose="020B0604020202020204" pitchFamily="34" charset="0"/>
                        </a:rPr>
                        <a:t>CSG 401</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ctr" defTabSz="914400" rtl="0" eaLnBrk="1" fontAlgn="base" latinLnBrk="0" hangingPunct="1">
                        <a:lnSpc>
                          <a:spcPct val="114000"/>
                        </a:lnSpc>
                        <a:spcBef>
                          <a:spcPts val="0"/>
                        </a:spcBef>
                        <a:spcAft>
                          <a:spcPts val="0"/>
                        </a:spcAft>
                        <a:buClr>
                          <a:srgbClr val="000000"/>
                        </a:buClr>
                        <a:buSzTx/>
                        <a:buFont typeface="Arial" panose="020B0604020202020204" pitchFamily="34" charset="0"/>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85%</a:t>
                      </a:r>
                      <a:endParaRPr kumimoji="0" lang="en-IN" altLang="en-US" sz="1400" b="0"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tc>
                  <a:txBody>
                    <a:bodyPr/>
                    <a:lstStyle/>
                    <a:p>
                      <a:pPr marL="195263" indent="-195263" algn="just">
                        <a:lnSpc>
                          <a:spcPct val="150000"/>
                        </a:lnSpc>
                        <a:spcAft>
                          <a:spcPts val="0"/>
                        </a:spcAft>
                        <a:buFont typeface="Wingdings" panose="05000000000000000000" pitchFamily="2" charset="2"/>
                        <a:buChar char="§"/>
                      </a:pPr>
                      <a:r>
                        <a:rPr lang="en-US" sz="1400"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rPr>
                        <a:t>s</a:t>
                      </a:r>
                      <a:r>
                        <a:rPr lang="en-US" sz="1400" u="sng" dirty="0" err="1">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Cloud</a:t>
                      </a: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2">
                            <a:extLst>
                              <a:ext uri="{A12FA001-AC4F-418D-AE19-62706E023703}">
                                <ahyp:hlinkClr xmlns:ahyp="http://schemas.microsoft.com/office/drawing/2018/hyperlinkcolor" val="tx"/>
                              </a:ext>
                            </a:extLst>
                          </a:hlinkClick>
                        </a:rPr>
                        <a:t> Logging Overview – GCP Docs</a:t>
                      </a:r>
                      <a:endParaRPr lang="en-IN" sz="1400" u="none"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95263" indent="-195263"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3">
                            <a:extLst>
                              <a:ext uri="{A12FA001-AC4F-418D-AE19-62706E023703}">
                                <ahyp:hlinkClr xmlns:ahyp="http://schemas.microsoft.com/office/drawing/2018/hyperlinkcolor" val="tx"/>
                              </a:ext>
                            </a:extLst>
                          </a:hlinkClick>
                        </a:rPr>
                        <a:t>Cloud Trace Overview</a:t>
                      </a:r>
                      <a:endParaRPr lang="en-IN" sz="1400" u="none"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95263" indent="-195263"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4">
                            <a:extLst>
                              <a:ext uri="{A12FA001-AC4F-418D-AE19-62706E023703}">
                                <ahyp:hlinkClr xmlns:ahyp="http://schemas.microsoft.com/office/drawing/2018/hyperlinkcolor" val="tx"/>
                              </a:ext>
                            </a:extLst>
                          </a:hlinkClick>
                        </a:rPr>
                        <a:t>Error Reporting – GCP Docs</a:t>
                      </a:r>
                      <a:endParaRPr lang="en-IN" sz="1400" u="none"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95263" indent="-195263" algn="just">
                        <a:lnSpc>
                          <a:spcPct val="150000"/>
                        </a:lnSpc>
                        <a:spcAft>
                          <a:spcPts val="0"/>
                        </a:spcAft>
                        <a:buFont typeface="Wingdings" panose="05000000000000000000" pitchFamily="2" charset="2"/>
                        <a:buChar char="§"/>
                      </a:pPr>
                      <a:r>
                        <a:rPr lang="en-US" sz="14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15">
                            <a:extLst>
                              <a:ext uri="{A12FA001-AC4F-418D-AE19-62706E023703}">
                                <ahyp:hlinkClr xmlns:ahyp="http://schemas.microsoft.com/office/drawing/2018/hyperlinkcolor" val="tx"/>
                              </a:ext>
                            </a:extLst>
                          </a:hlinkClick>
                        </a:rPr>
                        <a:t>Monitor and Log with Google Cloud Operations Suite</a:t>
                      </a:r>
                      <a:endParaRPr lang="en-IN" sz="1400"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CDDCF"/>
                    </a:solidFill>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95DEEACB-1282-640A-7891-87564346DEC6}"/>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220531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0844-A68B-ADEE-4BD6-795AEAC3708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F45B27-AE59-02E8-6ABA-C116DC5AB132}"/>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2" name="Picture 1">
            <a:extLst>
              <a:ext uri="{FF2B5EF4-FFF2-40B4-BE49-F238E27FC236}">
                <a16:creationId xmlns:a16="http://schemas.microsoft.com/office/drawing/2014/main" id="{1FFB3B37-9C88-25B1-F167-2828A4009632}"/>
              </a:ext>
            </a:extLst>
          </p:cNvPr>
          <p:cNvPicPr>
            <a:picLocks noChangeAspect="1"/>
          </p:cNvPicPr>
          <p:nvPr/>
        </p:nvPicPr>
        <p:blipFill>
          <a:blip r:embed="rId2"/>
          <a:stretch>
            <a:fillRect/>
          </a:stretch>
        </p:blipFill>
        <p:spPr>
          <a:xfrm>
            <a:off x="144904" y="697044"/>
            <a:ext cx="11902191" cy="6026045"/>
          </a:xfrm>
          <a:prstGeom prst="rect">
            <a:avLst/>
          </a:prstGeom>
        </p:spPr>
      </p:pic>
    </p:spTree>
    <p:extLst>
      <p:ext uri="{BB962C8B-B14F-4D97-AF65-F5344CB8AC3E}">
        <p14:creationId xmlns:p14="http://schemas.microsoft.com/office/powerpoint/2010/main" val="126983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A9E60-AA45-7926-90D6-AE0742DF0A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0004EF-67E3-CD0D-0A70-F277892C2486}"/>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2" name="Title 1">
            <a:extLst>
              <a:ext uri="{FF2B5EF4-FFF2-40B4-BE49-F238E27FC236}">
                <a16:creationId xmlns:a16="http://schemas.microsoft.com/office/drawing/2014/main" id="{B32B64D9-5B48-C2CE-8744-45D9B00BDF3F}"/>
              </a:ext>
            </a:extLst>
          </p:cNvPr>
          <p:cNvSpPr txBox="1">
            <a:spLocks noChangeArrowheads="1"/>
          </p:cNvSpPr>
          <p:nvPr/>
        </p:nvSpPr>
        <p:spPr>
          <a:xfrm>
            <a:off x="509588" y="3429000"/>
            <a:ext cx="3938587" cy="31369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ct val="0"/>
              </a:spcAft>
            </a:pPr>
            <a:r>
              <a:rPr lang="en-US" altLang="en-US" sz="2400" b="1" dirty="0">
                <a:latin typeface="Times New Roman" panose="02020603050405020304" pitchFamily="18" charset="0"/>
                <a:cs typeface="Times New Roman" panose="02020603050405020304" pitchFamily="18" charset="0"/>
              </a:rPr>
              <a:t>Welcome to the New LPU</a:t>
            </a:r>
            <a:endParaRPr lang="en-IN" altLang="en-US" sz="2400" b="1" dirty="0">
              <a:latin typeface="Times New Roman" panose="02020603050405020304" pitchFamily="18" charset="0"/>
              <a:cs typeface="Times New Roman" panose="02020603050405020304" pitchFamily="18" charset="0"/>
            </a:endParaRPr>
          </a:p>
        </p:txBody>
      </p:sp>
      <p:graphicFrame>
        <p:nvGraphicFramePr>
          <p:cNvPr id="4" name="Content Placeholder 2">
            <a:extLst>
              <a:ext uri="{FF2B5EF4-FFF2-40B4-BE49-F238E27FC236}">
                <a16:creationId xmlns:a16="http://schemas.microsoft.com/office/drawing/2014/main" id="{8C501B1A-30C9-D7A3-14D6-79BC4D3429E5}"/>
              </a:ext>
            </a:extLst>
          </p:cNvPr>
          <p:cNvGraphicFramePr>
            <a:graphicFrameLocks/>
          </p:cNvGraphicFramePr>
          <p:nvPr>
            <p:extLst>
              <p:ext uri="{D42A27DB-BD31-4B8C-83A1-F6EECF244321}">
                <p14:modId xmlns:p14="http://schemas.microsoft.com/office/powerpoint/2010/main" val="2243482305"/>
              </p:ext>
            </p:extLst>
          </p:nvPr>
        </p:nvGraphicFramePr>
        <p:xfrm>
          <a:off x="5135961" y="982663"/>
          <a:ext cx="6245265" cy="51971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8CD55EC3-865B-0973-EE11-3A6379E82C21}"/>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3337187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DFB94-FD0A-F658-975F-2468B3683DE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D5ED847-EB5D-533E-3DF6-BD0422C05EAB}"/>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6" name="TextBox 5">
            <a:extLst>
              <a:ext uri="{FF2B5EF4-FFF2-40B4-BE49-F238E27FC236}">
                <a16:creationId xmlns:a16="http://schemas.microsoft.com/office/drawing/2014/main" id="{5B9C6A2C-E3CE-6FFD-DD3C-D2C78331D490}"/>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5" name="Picture 4"/>
          <p:cNvPicPr>
            <a:picLocks noChangeAspect="1"/>
          </p:cNvPicPr>
          <p:nvPr/>
        </p:nvPicPr>
        <p:blipFill>
          <a:blip r:embed="rId2"/>
          <a:stretch>
            <a:fillRect/>
          </a:stretch>
        </p:blipFill>
        <p:spPr>
          <a:xfrm>
            <a:off x="138385" y="1709893"/>
            <a:ext cx="11915230" cy="4301162"/>
          </a:xfrm>
          <a:prstGeom prst="rect">
            <a:avLst/>
          </a:prstGeom>
        </p:spPr>
      </p:pic>
    </p:spTree>
    <p:extLst>
      <p:ext uri="{BB962C8B-B14F-4D97-AF65-F5344CB8AC3E}">
        <p14:creationId xmlns:p14="http://schemas.microsoft.com/office/powerpoint/2010/main" val="4071586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3C36-72F5-476E-4F85-0151454145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8C0A66-CB58-701E-2661-97C5E2EADBE3}"/>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6" name="TextBox 5">
            <a:extLst>
              <a:ext uri="{FF2B5EF4-FFF2-40B4-BE49-F238E27FC236}">
                <a16:creationId xmlns:a16="http://schemas.microsoft.com/office/drawing/2014/main" id="{D79FE443-8F71-E27F-F9EF-1C6E69E881F4}"/>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2" name="Picture 1"/>
          <p:cNvPicPr>
            <a:picLocks noChangeAspect="1"/>
          </p:cNvPicPr>
          <p:nvPr/>
        </p:nvPicPr>
        <p:blipFill>
          <a:blip r:embed="rId2"/>
          <a:stretch>
            <a:fillRect/>
          </a:stretch>
        </p:blipFill>
        <p:spPr>
          <a:xfrm>
            <a:off x="197370" y="857982"/>
            <a:ext cx="11467475" cy="5615696"/>
          </a:xfrm>
          <a:prstGeom prst="rect">
            <a:avLst/>
          </a:prstGeom>
        </p:spPr>
      </p:pic>
    </p:spTree>
    <p:extLst>
      <p:ext uri="{BB962C8B-B14F-4D97-AF65-F5344CB8AC3E}">
        <p14:creationId xmlns:p14="http://schemas.microsoft.com/office/powerpoint/2010/main" val="306673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F6ADE-272E-F9F6-BF73-BC90CF29C82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0E6308-948F-BE3C-D3B7-CA752710C00C}"/>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4" name="Picture 3"/>
          <p:cNvPicPr>
            <a:picLocks noChangeAspect="1"/>
          </p:cNvPicPr>
          <p:nvPr/>
        </p:nvPicPr>
        <p:blipFill>
          <a:blip r:embed="rId2"/>
          <a:stretch>
            <a:fillRect/>
          </a:stretch>
        </p:blipFill>
        <p:spPr>
          <a:xfrm>
            <a:off x="314988" y="753257"/>
            <a:ext cx="11562024" cy="5962338"/>
          </a:xfrm>
          <a:prstGeom prst="rect">
            <a:avLst/>
          </a:prstGeom>
        </p:spPr>
      </p:pic>
    </p:spTree>
    <p:extLst>
      <p:ext uri="{BB962C8B-B14F-4D97-AF65-F5344CB8AC3E}">
        <p14:creationId xmlns:p14="http://schemas.microsoft.com/office/powerpoint/2010/main" val="2254196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06ADC-F8BA-E9AF-7C4E-F29D69DE8B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0BCF2A-06D8-E5D9-9334-62F879434971}"/>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6" name="TextBox 5">
            <a:extLst>
              <a:ext uri="{FF2B5EF4-FFF2-40B4-BE49-F238E27FC236}">
                <a16:creationId xmlns:a16="http://schemas.microsoft.com/office/drawing/2014/main" id="{AED678EC-2413-618B-7705-042882E95B6F}"/>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pic>
        <p:nvPicPr>
          <p:cNvPr id="2" name="Picture 1">
            <a:extLst>
              <a:ext uri="{FF2B5EF4-FFF2-40B4-BE49-F238E27FC236}">
                <a16:creationId xmlns:a16="http://schemas.microsoft.com/office/drawing/2014/main" id="{B3799012-2923-9C44-8851-72280CBA5263}"/>
              </a:ext>
            </a:extLst>
          </p:cNvPr>
          <p:cNvPicPr>
            <a:picLocks noChangeAspect="1"/>
          </p:cNvPicPr>
          <p:nvPr/>
        </p:nvPicPr>
        <p:blipFill>
          <a:blip r:embed="rId2"/>
          <a:stretch>
            <a:fillRect/>
          </a:stretch>
        </p:blipFill>
        <p:spPr>
          <a:xfrm>
            <a:off x="197371" y="842396"/>
            <a:ext cx="11629868" cy="5654338"/>
          </a:xfrm>
          <a:prstGeom prst="rect">
            <a:avLst/>
          </a:prstGeom>
        </p:spPr>
      </p:pic>
    </p:spTree>
    <p:extLst>
      <p:ext uri="{BB962C8B-B14F-4D97-AF65-F5344CB8AC3E}">
        <p14:creationId xmlns:p14="http://schemas.microsoft.com/office/powerpoint/2010/main" val="1361425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6A0B8-C219-3BC4-C1A0-11FF0B7CCE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F3AF62-0370-F5EA-C3BD-CB2DDE7532E0}"/>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5" name="Title 1">
            <a:extLst>
              <a:ext uri="{FF2B5EF4-FFF2-40B4-BE49-F238E27FC236}">
                <a16:creationId xmlns:a16="http://schemas.microsoft.com/office/drawing/2014/main" id="{A6372D4B-67C4-C5E7-C710-988522F23907}"/>
              </a:ext>
            </a:extLst>
          </p:cNvPr>
          <p:cNvSpPr>
            <a:spLocks noGrp="1"/>
          </p:cNvSpPr>
          <p:nvPr/>
        </p:nvSpPr>
        <p:spPr>
          <a:xfrm>
            <a:off x="3215680" y="384322"/>
            <a:ext cx="5760639" cy="1008112"/>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charset="0"/>
              </a:defRPr>
            </a:lvl2pPr>
            <a:lvl3pPr algn="ctr" rtl="0" eaLnBrk="0" fontAlgn="base" hangingPunct="0">
              <a:spcBef>
                <a:spcPct val="0"/>
              </a:spcBef>
              <a:spcAft>
                <a:spcPct val="0"/>
              </a:spcAft>
              <a:defRPr sz="4400">
                <a:solidFill>
                  <a:schemeClr val="tx1"/>
                </a:solidFill>
                <a:latin typeface="Calibri" panose="020F0502020204030204" charset="0"/>
              </a:defRPr>
            </a:lvl3pPr>
            <a:lvl4pPr algn="ctr" rtl="0" eaLnBrk="0" fontAlgn="base" hangingPunct="0">
              <a:spcBef>
                <a:spcPct val="0"/>
              </a:spcBef>
              <a:spcAft>
                <a:spcPct val="0"/>
              </a:spcAft>
              <a:defRPr sz="4400">
                <a:solidFill>
                  <a:schemeClr val="tx1"/>
                </a:solidFill>
                <a:latin typeface="Calibri" panose="020F0502020204030204" charset="0"/>
              </a:defRPr>
            </a:lvl4pPr>
            <a:lvl5pPr algn="ctr" rtl="0" eaLnBrk="0" fontAlgn="base" hangingPunct="0">
              <a:spcBef>
                <a:spcPct val="0"/>
              </a:spcBef>
              <a:spcAft>
                <a:spcPct val="0"/>
              </a:spcAft>
              <a:defRPr sz="4400">
                <a:solidFill>
                  <a:schemeClr val="tx1"/>
                </a:solidFill>
                <a:latin typeface="Calibri" panose="020F0502020204030204" charset="0"/>
              </a:defRPr>
            </a:lvl5pPr>
            <a:lvl6pPr marL="457200" algn="ctr" rtl="0" fontAlgn="base">
              <a:spcBef>
                <a:spcPct val="0"/>
              </a:spcBef>
              <a:spcAft>
                <a:spcPct val="0"/>
              </a:spcAft>
              <a:defRPr sz="4400">
                <a:solidFill>
                  <a:schemeClr val="tx1"/>
                </a:solidFill>
                <a:latin typeface="Calibri" panose="020F0502020204030204" charset="0"/>
              </a:defRPr>
            </a:lvl6pPr>
            <a:lvl7pPr marL="914400" algn="ctr" rtl="0" fontAlgn="base">
              <a:spcBef>
                <a:spcPct val="0"/>
              </a:spcBef>
              <a:spcAft>
                <a:spcPct val="0"/>
              </a:spcAft>
              <a:defRPr sz="4400">
                <a:solidFill>
                  <a:schemeClr val="tx1"/>
                </a:solidFill>
                <a:latin typeface="Calibri" panose="020F0502020204030204" charset="0"/>
              </a:defRPr>
            </a:lvl7pPr>
            <a:lvl8pPr marL="1371600" algn="ctr" rtl="0" fontAlgn="base">
              <a:spcBef>
                <a:spcPct val="0"/>
              </a:spcBef>
              <a:spcAft>
                <a:spcPct val="0"/>
              </a:spcAft>
              <a:defRPr sz="4400">
                <a:solidFill>
                  <a:schemeClr val="tx1"/>
                </a:solidFill>
                <a:latin typeface="Calibri" panose="020F0502020204030204" charset="0"/>
              </a:defRPr>
            </a:lvl8pPr>
            <a:lvl9pPr marL="1828800" algn="ctr" rtl="0" fontAlgn="base">
              <a:spcBef>
                <a:spcPct val="0"/>
              </a:spcBef>
              <a:spcAft>
                <a:spcPct val="0"/>
              </a:spcAft>
              <a:defRPr sz="4400">
                <a:solidFill>
                  <a:schemeClr val="tx1"/>
                </a:solidFill>
                <a:latin typeface="Calibri" panose="020F0502020204030204" charset="0"/>
              </a:defRPr>
            </a:lvl9pPr>
          </a:lstStyle>
          <a:p>
            <a:r>
              <a:rPr lang="en-US" sz="4000" b="1" dirty="0">
                <a:solidFill>
                  <a:schemeClr val="accent6">
                    <a:lumMod val="75000"/>
                  </a:schemeClr>
                </a:solidFill>
                <a:latin typeface="Times New Roman" panose="02020603050405020304" pitchFamily="18" charset="0"/>
                <a:cs typeface="Times New Roman" panose="02020603050405020304" pitchFamily="18" charset="0"/>
              </a:rPr>
              <a:t>Why EDU-Revolution!!!</a:t>
            </a:r>
          </a:p>
        </p:txBody>
      </p:sp>
      <p:sp>
        <p:nvSpPr>
          <p:cNvPr id="7" name="Content Placeholder 2">
            <a:extLst>
              <a:ext uri="{FF2B5EF4-FFF2-40B4-BE49-F238E27FC236}">
                <a16:creationId xmlns:a16="http://schemas.microsoft.com/office/drawing/2014/main" id="{1ACC0E2F-1B2A-56FF-A56E-84137F7C30E3}"/>
              </a:ext>
            </a:extLst>
          </p:cNvPr>
          <p:cNvSpPr>
            <a:spLocks noGrp="1"/>
          </p:cNvSpPr>
          <p:nvPr/>
        </p:nvSpPr>
        <p:spPr>
          <a:xfrm>
            <a:off x="479685" y="1392434"/>
            <a:ext cx="10703934" cy="505269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835" lvl="1" indent="-342900">
              <a:lnSpc>
                <a:spcPct val="150000"/>
              </a:lnSpc>
              <a:spcBef>
                <a:spcPts val="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Supports the 'Earn Your Fee' vision through real-world achievements</a:t>
            </a:r>
          </a:p>
          <a:p>
            <a:pPr marL="457835" lvl="1" indent="-342900">
              <a:lnSpc>
                <a:spcPct val="150000"/>
              </a:lnSpc>
              <a:spcBef>
                <a:spcPts val="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Career Readiness</a:t>
            </a:r>
          </a:p>
          <a:p>
            <a:pPr marL="457835" lvl="1" indent="-342900">
              <a:lnSpc>
                <a:spcPct val="150000"/>
              </a:lnSpc>
              <a:spcBef>
                <a:spcPts val="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Enhance Real World Skills</a:t>
            </a:r>
          </a:p>
          <a:p>
            <a:pPr marL="457835" lvl="1" indent="-342900">
              <a:lnSpc>
                <a:spcPct val="150000"/>
              </a:lnSpc>
              <a:spcBef>
                <a:spcPts val="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Promote Innovation and Creativity</a:t>
            </a:r>
          </a:p>
          <a:p>
            <a:pPr marL="457835" lvl="1" indent="-342900">
              <a:lnSpc>
                <a:spcPct val="150000"/>
              </a:lnSpc>
              <a:spcBef>
                <a:spcPts val="0"/>
              </a:spcBef>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Promote Lifelong Learning</a:t>
            </a:r>
          </a:p>
        </p:txBody>
      </p:sp>
    </p:spTree>
    <p:extLst>
      <p:ext uri="{BB962C8B-B14F-4D97-AF65-F5344CB8AC3E}">
        <p14:creationId xmlns:p14="http://schemas.microsoft.com/office/powerpoint/2010/main" val="3976475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D39B8-D372-0D42-089C-BA44771DBEF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F4B133-D3B1-345E-64D2-5CDEE8DDA164}"/>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2" name="Title 1">
            <a:extLst>
              <a:ext uri="{FF2B5EF4-FFF2-40B4-BE49-F238E27FC236}">
                <a16:creationId xmlns:a16="http://schemas.microsoft.com/office/drawing/2014/main" id="{173B89D8-9589-4A74-B3F3-9063B97A43CF}"/>
              </a:ext>
            </a:extLst>
          </p:cNvPr>
          <p:cNvSpPr txBox="1">
            <a:spLocks noChangeArrowheads="1"/>
          </p:cNvSpPr>
          <p:nvPr/>
        </p:nvSpPr>
        <p:spPr>
          <a:xfrm>
            <a:off x="37594" y="842396"/>
            <a:ext cx="1069975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ct val="0"/>
              </a:spcAft>
            </a:pPr>
            <a:r>
              <a:rPr lang="en-US" altLang="en-US" sz="3500" b="1" dirty="0">
                <a:latin typeface="Times New Roman" panose="02020603050405020304" pitchFamily="18" charset="0"/>
                <a:cs typeface="Times New Roman" panose="02020603050405020304" pitchFamily="18" charset="0"/>
              </a:rPr>
              <a:t>What's New</a:t>
            </a:r>
            <a:endParaRPr lang="en-IN" altLang="en-US" sz="35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8EEBA109-DDA5-14D4-9985-7AF23DEDC298}"/>
              </a:ext>
            </a:extLst>
          </p:cNvPr>
          <p:cNvSpPr txBox="1">
            <a:spLocks/>
          </p:cNvSpPr>
          <p:nvPr/>
        </p:nvSpPr>
        <p:spPr>
          <a:xfrm>
            <a:off x="197369" y="1915887"/>
            <a:ext cx="11797259" cy="450339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Goodbye to old-fashioned teaching and evaluation, and let’s embrace the new paradigm, </a:t>
            </a:r>
            <a:r>
              <a:rPr lang="en-IN" sz="1800" b="1" dirty="0">
                <a:latin typeface="Times New Roman" panose="02020603050405020304" pitchFamily="18" charset="0"/>
                <a:ea typeface="Calibri" panose="020F0502020204030204" pitchFamily="34" charset="0"/>
                <a:cs typeface="Times New Roman" panose="02020603050405020304" pitchFamily="18" charset="0"/>
              </a:rPr>
              <a:t>Edu-Revolution: - Be the Change</a:t>
            </a:r>
            <a:r>
              <a:rPr lang="en-IN" sz="1800" dirty="0">
                <a:latin typeface="Times New Roman" panose="02020603050405020304" pitchFamily="18" charset="0"/>
                <a:ea typeface="Calibri" panose="020F0502020204030204" pitchFamily="34" charset="0"/>
                <a:cs typeface="Times New Roman" panose="02020603050405020304" pitchFamily="18" charset="0"/>
              </a:rPr>
              <a:t> </a:t>
            </a:r>
          </a:p>
          <a:p>
            <a:pPr>
              <a:spcAft>
                <a:spcPts val="800"/>
              </a:spcAft>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Register to avail Privileges and benefits for the following Initiatives</a:t>
            </a:r>
          </a:p>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A. Course Equivalence and Attendance Relaxation</a:t>
            </a:r>
          </a:p>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B. Grade Revision and Overall Welfare (GROW)</a:t>
            </a:r>
          </a:p>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C. 10 % Attendance waiver for students in the Pre-final/Final year of the programme</a:t>
            </a:r>
          </a:p>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D. Continuous Assessment Reduction Through Experience (CARE)</a:t>
            </a:r>
          </a:p>
          <a:p>
            <a:pPr marL="0" indent="0">
              <a:spcAft>
                <a:spcPts val="800"/>
              </a:spcAft>
              <a:buFont typeface="Arial" panose="020B0604020202020204" pitchFamily="34" charset="0"/>
              <a:buNone/>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E. Students in active decision-making through Student Committees</a:t>
            </a:r>
            <a:endParaRPr lang="en-IN"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5B824C-8B1B-4C4B-3642-4B76B84F4102}"/>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839720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88405-86D5-7058-5373-ADC990A926B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BA52819-D844-CBB6-5132-C19F57940BBD}"/>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2" name="TextBox 1">
            <a:extLst>
              <a:ext uri="{FF2B5EF4-FFF2-40B4-BE49-F238E27FC236}">
                <a16:creationId xmlns:a16="http://schemas.microsoft.com/office/drawing/2014/main" id="{FEEA2239-54C5-3CD7-041D-2692B29B3359}"/>
              </a:ext>
            </a:extLst>
          </p:cNvPr>
          <p:cNvSpPr txBox="1"/>
          <p:nvPr/>
        </p:nvSpPr>
        <p:spPr>
          <a:xfrm>
            <a:off x="1873770" y="494675"/>
            <a:ext cx="8334116" cy="584775"/>
          </a:xfrm>
          <a:prstGeom prst="rect">
            <a:avLst/>
          </a:prstGeom>
          <a:noFill/>
        </p:spPr>
        <p:txBody>
          <a:bodyPr wrap="square" rtlCol="0">
            <a:sp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Academic initiatives under EDU Revolution </a:t>
            </a:r>
          </a:p>
        </p:txBody>
      </p:sp>
      <p:pic>
        <p:nvPicPr>
          <p:cNvPr id="3" name="Picture 2">
            <a:extLst>
              <a:ext uri="{FF2B5EF4-FFF2-40B4-BE49-F238E27FC236}">
                <a16:creationId xmlns:a16="http://schemas.microsoft.com/office/drawing/2014/main" id="{EBF89BD5-B5BF-EA75-825E-AAC64D5CB61F}"/>
              </a:ext>
            </a:extLst>
          </p:cNvPr>
          <p:cNvPicPr>
            <a:picLocks noChangeAspect="1"/>
          </p:cNvPicPr>
          <p:nvPr/>
        </p:nvPicPr>
        <p:blipFill>
          <a:blip r:embed="rId2"/>
          <a:stretch>
            <a:fillRect/>
          </a:stretch>
        </p:blipFill>
        <p:spPr>
          <a:xfrm>
            <a:off x="539646" y="1189803"/>
            <a:ext cx="11197652" cy="5469690"/>
          </a:xfrm>
          <a:prstGeom prst="rect">
            <a:avLst/>
          </a:prstGeom>
        </p:spPr>
      </p:pic>
    </p:spTree>
    <p:extLst>
      <p:ext uri="{BB962C8B-B14F-4D97-AF65-F5344CB8AC3E}">
        <p14:creationId xmlns:p14="http://schemas.microsoft.com/office/powerpoint/2010/main" val="2372835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1666-A8D5-4813-9CB0-CDCC2461B7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928E5E-7EBE-6C27-7D42-24E5B26FD49A}"/>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6" name="TextBox 5">
            <a:extLst>
              <a:ext uri="{FF2B5EF4-FFF2-40B4-BE49-F238E27FC236}">
                <a16:creationId xmlns:a16="http://schemas.microsoft.com/office/drawing/2014/main" id="{2CF7885D-A987-525E-F59D-1F072BB72D8D}"/>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5" name="TextBox 4">
            <a:extLst>
              <a:ext uri="{FF2B5EF4-FFF2-40B4-BE49-F238E27FC236}">
                <a16:creationId xmlns:a16="http://schemas.microsoft.com/office/drawing/2014/main" id="{C65EC246-EEAA-F442-6192-DF6CA590B1B7}"/>
              </a:ext>
            </a:extLst>
          </p:cNvPr>
          <p:cNvSpPr txBox="1"/>
          <p:nvPr/>
        </p:nvSpPr>
        <p:spPr>
          <a:xfrm>
            <a:off x="386889" y="1739020"/>
            <a:ext cx="11607739" cy="3349956"/>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Criteria Sheet: </a:t>
            </a:r>
            <a:r>
              <a:rPr lang="en-IN" sz="2400" dirty="0">
                <a:latin typeface="Times New Roman" panose="02020603050405020304" pitchFamily="18" charset="0"/>
                <a:cs typeface="Times New Roman" panose="02020603050405020304" pitchFamily="18" charset="0"/>
              </a:rPr>
              <a:t>It is a structured framework for evaluating EDU Revolution submissions to ensure </a:t>
            </a:r>
            <a:r>
              <a:rPr lang="en-IN" sz="2400" b="1" dirty="0">
                <a:latin typeface="Times New Roman" panose="02020603050405020304" pitchFamily="18" charset="0"/>
                <a:cs typeface="Times New Roman" panose="02020603050405020304" pitchFamily="18" charset="0"/>
              </a:rPr>
              <a:t>transparency, consistency, and standardization</a:t>
            </a:r>
            <a:r>
              <a:rPr lang="en-IN" sz="2400" dirty="0">
                <a:latin typeface="Times New Roman" panose="02020603050405020304" pitchFamily="18" charset="0"/>
                <a:cs typeface="Times New Roman" panose="02020603050405020304" pitchFamily="18" charset="0"/>
              </a:rPr>
              <a:t> in assessment. It defines: </a:t>
            </a:r>
          </a:p>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Eligibility criteria</a:t>
            </a:r>
            <a:r>
              <a:rPr lang="en-IN" sz="2400"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Required evidence</a:t>
            </a:r>
            <a:r>
              <a:rPr lang="en-IN" sz="2400"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Evaluation parameters</a:t>
            </a:r>
            <a:r>
              <a:rPr lang="en-IN" sz="2400"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Academic benefits</a:t>
            </a:r>
            <a:r>
              <a:rPr lang="en-IN" sz="24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E6A7813A-C8FB-9E9F-9EE0-0017A8E05CB6}"/>
              </a:ext>
            </a:extLst>
          </p:cNvPr>
          <p:cNvSpPr txBox="1"/>
          <p:nvPr/>
        </p:nvSpPr>
        <p:spPr>
          <a:xfrm>
            <a:off x="386890" y="901005"/>
            <a:ext cx="609600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Review &amp; Approval Process</a:t>
            </a:r>
          </a:p>
        </p:txBody>
      </p:sp>
    </p:spTree>
    <p:extLst>
      <p:ext uri="{BB962C8B-B14F-4D97-AF65-F5344CB8AC3E}">
        <p14:creationId xmlns:p14="http://schemas.microsoft.com/office/powerpoint/2010/main" val="2476099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D6A52-BD90-E8AA-5D0A-90AB89B161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75D125-0DF2-59B8-A82B-CC3A0300053C}"/>
              </a:ext>
            </a:extLst>
          </p:cNvPr>
          <p:cNvSpPr txBox="1"/>
          <p:nvPr/>
        </p:nvSpPr>
        <p:spPr>
          <a:xfrm>
            <a:off x="197370" y="384322"/>
            <a:ext cx="11797259" cy="458074"/>
          </a:xfrm>
          <a:prstGeom prst="rect">
            <a:avLst/>
          </a:prstGeom>
          <a:noFill/>
        </p:spPr>
        <p:txBody>
          <a:bodyPr wrap="square" rtlCol="0">
            <a:spAutoFit/>
          </a:bodyPr>
          <a:lstStyle/>
          <a:p>
            <a:pPr algn="ctr">
              <a:lnSpc>
                <a:spcPct val="150000"/>
              </a:lnSpc>
            </a:pPr>
            <a:r>
              <a:rPr lang="en-IN" b="1" dirty="0">
                <a:solidFill>
                  <a:srgbClr val="3803BD"/>
                </a:solidFill>
                <a:latin typeface="Times New Roman" panose="02020603050405020304" pitchFamily="18" charset="0"/>
                <a:cs typeface="Times New Roman" panose="02020603050405020304" pitchFamily="18" charset="0"/>
              </a:rPr>
              <a:t>EDUCATION REVOLUTION</a:t>
            </a:r>
          </a:p>
        </p:txBody>
      </p:sp>
      <p:sp>
        <p:nvSpPr>
          <p:cNvPr id="6" name="TextBox 5">
            <a:extLst>
              <a:ext uri="{FF2B5EF4-FFF2-40B4-BE49-F238E27FC236}">
                <a16:creationId xmlns:a16="http://schemas.microsoft.com/office/drawing/2014/main" id="{C6B4FE34-2DC6-E330-DB0D-CAC35045446B}"/>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2" name="TextBox 1">
            <a:extLst>
              <a:ext uri="{FF2B5EF4-FFF2-40B4-BE49-F238E27FC236}">
                <a16:creationId xmlns:a16="http://schemas.microsoft.com/office/drawing/2014/main" id="{B1DAFD48-44A8-6E80-1CBE-45A65CF34D25}"/>
              </a:ext>
            </a:extLst>
          </p:cNvPr>
          <p:cNvSpPr txBox="1"/>
          <p:nvPr/>
        </p:nvSpPr>
        <p:spPr>
          <a:xfrm>
            <a:off x="197371" y="2029323"/>
            <a:ext cx="11308830" cy="3078535"/>
          </a:xfrm>
          <a:prstGeom prst="rect">
            <a:avLst/>
          </a:prstGeom>
          <a:noFill/>
        </p:spPr>
        <p:txBody>
          <a:bodyPr wrap="square">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Standing Committee: </a:t>
            </a:r>
            <a:r>
              <a:rPr lang="en-IN" sz="2200" dirty="0">
                <a:latin typeface="Times New Roman" panose="02020603050405020304" pitchFamily="18" charset="0"/>
                <a:cs typeface="Times New Roman" panose="02020603050405020304" pitchFamily="18" charset="0"/>
              </a:rPr>
              <a:t>It</a:t>
            </a:r>
            <a:r>
              <a:rPr lang="en-IN" sz="2200" b="1"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reviews EDU Revolution nominations and recommends eligible academic benefits. </a:t>
            </a:r>
          </a:p>
          <a:p>
            <a:pPr algn="just">
              <a:lnSpc>
                <a:spcPct val="150000"/>
              </a:lnSpc>
            </a:pPr>
            <a:r>
              <a:rPr lang="en-IN" sz="2200" dirty="0">
                <a:latin typeface="Times New Roman" panose="02020603050405020304" pitchFamily="18" charset="0"/>
                <a:cs typeface="Times New Roman" panose="02020603050405020304" pitchFamily="18" charset="0"/>
              </a:rPr>
              <a:t>Composition:</a:t>
            </a:r>
          </a:p>
          <a:p>
            <a:pPr marL="285750" indent="-285750" algn="just">
              <a:lnSpc>
                <a:spcPct val="150000"/>
              </a:lnSpc>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5–7 members</a:t>
            </a:r>
            <a:r>
              <a:rPr lang="en-IN" sz="2200" dirty="0">
                <a:latin typeface="Times New Roman" panose="02020603050405020304" pitchFamily="18" charset="0"/>
                <a:cs typeface="Times New Roman" panose="02020603050405020304" pitchFamily="18" charset="0"/>
              </a:rPr>
              <a:t> constituted by the HoS.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 The HoS may nominate additional members.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All relevant committee coordinators are members. </a:t>
            </a:r>
          </a:p>
        </p:txBody>
      </p:sp>
      <p:sp>
        <p:nvSpPr>
          <p:cNvPr id="4" name="TextBox 3">
            <a:extLst>
              <a:ext uri="{FF2B5EF4-FFF2-40B4-BE49-F238E27FC236}">
                <a16:creationId xmlns:a16="http://schemas.microsoft.com/office/drawing/2014/main" id="{253C2A3D-83E9-FA07-D0AD-AED50282E7E7}"/>
              </a:ext>
            </a:extLst>
          </p:cNvPr>
          <p:cNvSpPr txBox="1"/>
          <p:nvPr/>
        </p:nvSpPr>
        <p:spPr>
          <a:xfrm>
            <a:off x="197370" y="924918"/>
            <a:ext cx="8817428"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Standing Committee</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0285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63AE8-AC4D-7DA0-52E0-4FD28F080C7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6A27A99-FB67-DD70-8DD2-6E4B8D133F54}"/>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5" name="TextBox 4">
            <a:extLst>
              <a:ext uri="{FF2B5EF4-FFF2-40B4-BE49-F238E27FC236}">
                <a16:creationId xmlns:a16="http://schemas.microsoft.com/office/drawing/2014/main" id="{2F922CBE-AD4F-87A6-5CA8-9E4B3C370D61}"/>
              </a:ext>
            </a:extLst>
          </p:cNvPr>
          <p:cNvSpPr txBox="1"/>
          <p:nvPr/>
        </p:nvSpPr>
        <p:spPr>
          <a:xfrm>
            <a:off x="4151674" y="520215"/>
            <a:ext cx="3433953" cy="584775"/>
          </a:xfrm>
          <a:prstGeom prst="rect">
            <a:avLst/>
          </a:prstGeom>
          <a:noFill/>
        </p:spPr>
        <p:txBody>
          <a:bodyPr wrap="none">
            <a:spAutoFit/>
          </a:bodyPr>
          <a:lstStyle/>
          <a:p>
            <a:pPr algn="ctr">
              <a:defRPr sz="2400" b="1"/>
            </a:pPr>
            <a:r>
              <a:rPr sz="3200" dirty="0">
                <a:solidFill>
                  <a:schemeClr val="accent4">
                    <a:lumMod val="75000"/>
                  </a:schemeClr>
                </a:solidFill>
                <a:latin typeface="Times New Roman" panose="02020603050405020304" pitchFamily="18" charset="0"/>
                <a:cs typeface="Times New Roman" panose="02020603050405020304" pitchFamily="18" charset="0"/>
                <a:hlinkClick r:id="rId2" action="ppaction://hlinkfile">
                  <a:extLst>
                    <a:ext uri="{A12FA001-AC4F-418D-AE19-62706E023703}">
                      <ahyp:hlinkClr xmlns:ahyp="http://schemas.microsoft.com/office/drawing/2018/hyperlinkcolor" val="tx"/>
                    </a:ext>
                  </a:extLst>
                </a:hlinkClick>
              </a:rPr>
              <a:t>Academic Benefits</a:t>
            </a:r>
            <a:endParaRPr sz="3200"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2591F5D-1921-AE82-F3EF-CB3DEAF87F90}"/>
              </a:ext>
            </a:extLst>
          </p:cNvPr>
          <p:cNvPicPr>
            <a:picLocks noChangeAspect="1"/>
          </p:cNvPicPr>
          <p:nvPr/>
        </p:nvPicPr>
        <p:blipFill>
          <a:blip r:embed="rId3"/>
          <a:stretch>
            <a:fillRect/>
          </a:stretch>
        </p:blipFill>
        <p:spPr>
          <a:xfrm>
            <a:off x="479686" y="1240883"/>
            <a:ext cx="11362544" cy="5343404"/>
          </a:xfrm>
          <a:prstGeom prst="rect">
            <a:avLst/>
          </a:prstGeom>
        </p:spPr>
      </p:pic>
    </p:spTree>
    <p:extLst>
      <p:ext uri="{BB962C8B-B14F-4D97-AF65-F5344CB8AC3E}">
        <p14:creationId xmlns:p14="http://schemas.microsoft.com/office/powerpoint/2010/main" val="3969403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3DDAA-862C-76CB-5A79-C1A2881B0A3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0A7E3D0-74F1-B3B6-65AB-047C6A991F8C}"/>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
        <p:nvSpPr>
          <p:cNvPr id="2" name="TextBox 1">
            <a:extLst>
              <a:ext uri="{FF2B5EF4-FFF2-40B4-BE49-F238E27FC236}">
                <a16:creationId xmlns:a16="http://schemas.microsoft.com/office/drawing/2014/main" id="{54EBCFF4-90C0-6CA8-1FF2-C23C597EBAE4}"/>
              </a:ext>
            </a:extLst>
          </p:cNvPr>
          <p:cNvSpPr txBox="1"/>
          <p:nvPr/>
        </p:nvSpPr>
        <p:spPr>
          <a:xfrm>
            <a:off x="2590957" y="419222"/>
            <a:ext cx="6611297" cy="477054"/>
          </a:xfrm>
          <a:prstGeom prst="rect">
            <a:avLst/>
          </a:prstGeom>
          <a:noFill/>
        </p:spPr>
        <p:txBody>
          <a:bodyPr wrap="none">
            <a:spAutoFit/>
          </a:bodyPr>
          <a:lstStyle/>
          <a:p>
            <a:pPr algn="ctr">
              <a:defRPr sz="2400" b="1"/>
            </a:pPr>
            <a:r>
              <a:rPr sz="2500" dirty="0">
                <a:solidFill>
                  <a:srgbClr val="1E03BD"/>
                </a:solidFill>
                <a:latin typeface="Times New Roman" panose="02020603050405020304" pitchFamily="18" charset="0"/>
                <a:cs typeface="Times New Roman" panose="02020603050405020304" pitchFamily="18" charset="0"/>
              </a:rPr>
              <a:t>P</a:t>
            </a:r>
            <a:r>
              <a:rPr lang="en-IN" sz="2500" dirty="0">
                <a:solidFill>
                  <a:srgbClr val="1E03BD"/>
                </a:solidFill>
                <a:latin typeface="Times New Roman" panose="02020603050405020304" pitchFamily="18" charset="0"/>
                <a:cs typeface="Times New Roman" panose="02020603050405020304" pitchFamily="18" charset="0"/>
              </a:rPr>
              <a:t>ROCESSING OF STUDENT NOMINATION</a:t>
            </a:r>
            <a:endParaRPr sz="2500" dirty="0">
              <a:solidFill>
                <a:srgbClr val="1E03BD"/>
              </a:solidFill>
              <a:latin typeface="Times New Roman" panose="02020603050405020304" pitchFamily="18"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DD3D4490-67CF-0EF8-F153-8DCD2F5117CA}"/>
              </a:ext>
            </a:extLst>
          </p:cNvPr>
          <p:cNvGraphicFramePr/>
          <p:nvPr>
            <p:extLst>
              <p:ext uri="{D42A27DB-BD31-4B8C-83A1-F6EECF244321}">
                <p14:modId xmlns:p14="http://schemas.microsoft.com/office/powerpoint/2010/main" val="331896968"/>
              </p:ext>
            </p:extLst>
          </p:nvPr>
        </p:nvGraphicFramePr>
        <p:xfrm>
          <a:off x="1601099" y="1090099"/>
          <a:ext cx="8577222" cy="8854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a:extLst>
              <a:ext uri="{FF2B5EF4-FFF2-40B4-BE49-F238E27FC236}">
                <a16:creationId xmlns:a16="http://schemas.microsoft.com/office/drawing/2014/main" id="{5B82868D-9358-60F4-E677-E7FDB8CBE852}"/>
              </a:ext>
            </a:extLst>
          </p:cNvPr>
          <p:cNvGraphicFramePr/>
          <p:nvPr>
            <p:extLst>
              <p:ext uri="{D42A27DB-BD31-4B8C-83A1-F6EECF244321}">
                <p14:modId xmlns:p14="http://schemas.microsoft.com/office/powerpoint/2010/main" val="299954198"/>
              </p:ext>
            </p:extLst>
          </p:nvPr>
        </p:nvGraphicFramePr>
        <p:xfrm>
          <a:off x="1601099" y="2631714"/>
          <a:ext cx="8678822" cy="97441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8" name="Diagram 7">
            <a:extLst>
              <a:ext uri="{FF2B5EF4-FFF2-40B4-BE49-F238E27FC236}">
                <a16:creationId xmlns:a16="http://schemas.microsoft.com/office/drawing/2014/main" id="{7CCA4AF3-E781-82C7-EB53-9FE001B81F52}"/>
              </a:ext>
            </a:extLst>
          </p:cNvPr>
          <p:cNvGraphicFramePr/>
          <p:nvPr>
            <p:extLst>
              <p:ext uri="{D42A27DB-BD31-4B8C-83A1-F6EECF244321}">
                <p14:modId xmlns:p14="http://schemas.microsoft.com/office/powerpoint/2010/main" val="2331961669"/>
              </p:ext>
            </p:extLst>
          </p:nvPr>
        </p:nvGraphicFramePr>
        <p:xfrm>
          <a:off x="1633754" y="4229931"/>
          <a:ext cx="8678821" cy="1014613"/>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9" name="Diagram 8">
            <a:extLst>
              <a:ext uri="{FF2B5EF4-FFF2-40B4-BE49-F238E27FC236}">
                <a16:creationId xmlns:a16="http://schemas.microsoft.com/office/drawing/2014/main" id="{E1BFA985-02E3-E82A-B576-221511D3D5D2}"/>
              </a:ext>
            </a:extLst>
          </p:cNvPr>
          <p:cNvGraphicFramePr/>
          <p:nvPr>
            <p:extLst>
              <p:ext uri="{D42A27DB-BD31-4B8C-83A1-F6EECF244321}">
                <p14:modId xmlns:p14="http://schemas.microsoft.com/office/powerpoint/2010/main" val="1108468932"/>
              </p:ext>
            </p:extLst>
          </p:nvPr>
        </p:nvGraphicFramePr>
        <p:xfrm>
          <a:off x="1601099" y="5853525"/>
          <a:ext cx="8667939" cy="844086"/>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10" name="Arrow: Down 9">
            <a:extLst>
              <a:ext uri="{FF2B5EF4-FFF2-40B4-BE49-F238E27FC236}">
                <a16:creationId xmlns:a16="http://schemas.microsoft.com/office/drawing/2014/main" id="{17D31637-47A5-B700-4B00-ED2684F4C72A}"/>
              </a:ext>
            </a:extLst>
          </p:cNvPr>
          <p:cNvSpPr/>
          <p:nvPr/>
        </p:nvSpPr>
        <p:spPr>
          <a:xfrm>
            <a:off x="5466615" y="2041010"/>
            <a:ext cx="413657" cy="502920"/>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1" name="Arrow: Down 10">
            <a:extLst>
              <a:ext uri="{FF2B5EF4-FFF2-40B4-BE49-F238E27FC236}">
                <a16:creationId xmlns:a16="http://schemas.microsoft.com/office/drawing/2014/main" id="{33357AFA-33B8-453E-6DAE-028AF0787B58}"/>
              </a:ext>
            </a:extLst>
          </p:cNvPr>
          <p:cNvSpPr/>
          <p:nvPr/>
        </p:nvSpPr>
        <p:spPr>
          <a:xfrm>
            <a:off x="5460124" y="3638365"/>
            <a:ext cx="413657" cy="50292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2" name="Arrow: Down 11">
            <a:extLst>
              <a:ext uri="{FF2B5EF4-FFF2-40B4-BE49-F238E27FC236}">
                <a16:creationId xmlns:a16="http://schemas.microsoft.com/office/drawing/2014/main" id="{77235D9C-8E03-6A0C-1E5A-E549BE294F14}"/>
              </a:ext>
            </a:extLst>
          </p:cNvPr>
          <p:cNvSpPr/>
          <p:nvPr/>
        </p:nvSpPr>
        <p:spPr>
          <a:xfrm>
            <a:off x="5482943" y="5264981"/>
            <a:ext cx="413657" cy="50292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867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7E0FE-29C0-1303-9EB2-4FCAF79CB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1D8B8-1717-D6A2-3B4E-F4D2D6A62C0A}"/>
              </a:ext>
            </a:extLst>
          </p:cNvPr>
          <p:cNvSpPr txBox="1">
            <a:spLocks noChangeArrowheads="1"/>
          </p:cNvSpPr>
          <p:nvPr/>
        </p:nvSpPr>
        <p:spPr>
          <a:xfrm>
            <a:off x="552677" y="842396"/>
            <a:ext cx="11305494" cy="5219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ct val="0"/>
              </a:spcAft>
            </a:pPr>
            <a:r>
              <a:rPr lang="en-US" altLang="en-US" sz="3200" b="1" dirty="0">
                <a:latin typeface="Times New Roman" panose="02020603050405020304" pitchFamily="18" charset="0"/>
                <a:cs typeface="Times New Roman" panose="02020603050405020304" pitchFamily="18" charset="0"/>
              </a:rPr>
              <a:t>Interfaces and Contact Information</a:t>
            </a:r>
            <a:endParaRPr lang="en-IN" altLang="en-US" sz="32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6259BA39-0E36-9221-370D-798B7DDE3493}"/>
              </a:ext>
            </a:extLst>
          </p:cNvPr>
          <p:cNvSpPr txBox="1">
            <a:spLocks/>
          </p:cNvSpPr>
          <p:nvPr/>
        </p:nvSpPr>
        <p:spPr>
          <a:xfrm>
            <a:off x="334963" y="1538856"/>
            <a:ext cx="11697380" cy="50216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000"/>
              </a:spcAft>
              <a:defRPr/>
            </a:pPr>
            <a:r>
              <a:rPr lang="en-IN" sz="1800" dirty="0">
                <a:latin typeface="Times New Roman" panose="02020603050405020304" pitchFamily="18" charset="0"/>
                <a:ea typeface="Times New Roman" panose="02020603050405020304" pitchFamily="18" charset="0"/>
                <a:cs typeface="Times New Roman" panose="02020603050405020304" pitchFamily="18" charset="0"/>
              </a:rPr>
              <a:t>UMS link to apply for EDU Revolution initiatives: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1000"/>
              </a:spcAft>
              <a:buFont typeface="Arial" panose="020B0604020202020204" pitchFamily="34" charset="0"/>
              <a:buNone/>
              <a:defRPr/>
            </a:pPr>
            <a:r>
              <a:rPr lang="en-IN" sz="1800" b="1" i="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UMS Navigation --- LMS </a:t>
            </a:r>
            <a:r>
              <a:rPr lang="en-IN" sz="1800" b="1" i="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a:t>
            </a:r>
            <a:r>
              <a:rPr lang="en-IN" sz="1800" b="1" i="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  EDU Revolution</a:t>
            </a:r>
            <a:r>
              <a:rPr lang="en-US" sz="1800" b="1" i="1" dirty="0">
                <a:solidFill>
                  <a:srgbClr val="1E03BD"/>
                </a:solidFill>
                <a:latin typeface="Times New Roman" panose="02020603050405020304" pitchFamily="18" charset="0"/>
                <a:ea typeface="Times New Roman" panose="02020603050405020304" pitchFamily="18" charset="0"/>
                <a:cs typeface="Times New Roman" panose="02020603050405020304" pitchFamily="18" charset="0"/>
              </a:rPr>
              <a:t>: BE THE CHANGE</a:t>
            </a:r>
          </a:p>
          <a:p>
            <a:pPr marL="0" indent="0" algn="ctr">
              <a:spcAft>
                <a:spcPts val="1000"/>
              </a:spcAft>
              <a:buFont typeface="Arial" panose="020B0604020202020204" pitchFamily="34" charset="0"/>
              <a:buNone/>
              <a:defRPr/>
            </a:pPr>
            <a:endParaRPr lang="en-IN" sz="1800" i="1" dirty="0">
              <a:latin typeface="Times New Roman" panose="02020603050405020304" pitchFamily="18" charset="0"/>
              <a:ea typeface="Calibri" panose="020F0502020204030204" pitchFamily="34" charset="0"/>
              <a:cs typeface="Times New Roman" panose="02020603050405020304" pitchFamily="18" charset="0"/>
            </a:endParaRPr>
          </a:p>
          <a:p>
            <a:pPr>
              <a:spcAft>
                <a:spcPts val="1000"/>
              </a:spcAft>
              <a:defRPr/>
            </a:pPr>
            <a:r>
              <a:rPr lang="en-IN" sz="1800" dirty="0">
                <a:latin typeface="Times New Roman" panose="02020603050405020304" pitchFamily="18" charset="0"/>
                <a:ea typeface="Times New Roman" panose="02020603050405020304" pitchFamily="18" charset="0"/>
                <a:cs typeface="Times New Roman" panose="02020603050405020304" pitchFamily="18" charset="0"/>
              </a:rPr>
              <a:t>In case of any query in this regard, the student can approach for resolution through RMS at the following path:</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ctr">
              <a:spcAft>
                <a:spcPts val="1000"/>
              </a:spcAft>
              <a:buFont typeface="Arial" panose="020B0604020202020204" pitchFamily="34" charset="0"/>
              <a:buNone/>
              <a:defRPr/>
            </a:pPr>
            <a:r>
              <a:rPr lang="en-IN" sz="1800" b="1"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UMS Navigation--- Relationship management system </a:t>
            </a:r>
            <a:r>
              <a:rPr lang="en-IN" sz="1800" b="1"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rPr>
              <a:t></a:t>
            </a:r>
            <a:r>
              <a:rPr lang="en-IN" sz="1800" b="1"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EDU Revolution</a:t>
            </a:r>
            <a:r>
              <a:rPr lang="en-US" sz="1800" b="1" i="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BE THE CHANGE</a:t>
            </a:r>
          </a:p>
          <a:p>
            <a:pPr marL="0" indent="0" algn="ctr">
              <a:spcAft>
                <a:spcPts val="1000"/>
              </a:spcAft>
              <a:buFont typeface="Arial" panose="020B0604020202020204" pitchFamily="34" charset="0"/>
              <a:buNone/>
              <a:defRPr/>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spcAft>
                <a:spcPts val="1000"/>
              </a:spcAft>
              <a:defRP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OR get your queries resolved through the </a:t>
            </a:r>
            <a:r>
              <a:rPr lang="en-IN" sz="1800" b="1" dirty="0">
                <a:latin typeface="Times New Roman" panose="02020603050405020304" pitchFamily="18" charset="0"/>
                <a:ea typeface="Times New Roman" panose="02020603050405020304" pitchFamily="18" charset="0"/>
                <a:cs typeface="Times New Roman" panose="02020603050405020304" pitchFamily="18" charset="0"/>
              </a:rPr>
              <a:t>Helpline Number: 01824-520150. </a:t>
            </a:r>
          </a:p>
          <a:p>
            <a:pPr>
              <a:spcAft>
                <a:spcPts val="1000"/>
              </a:spcAft>
              <a:defRPr/>
            </a:pPr>
            <a:endParaRPr lang="en-IN" sz="1800" b="1" dirty="0">
              <a:latin typeface="Times New Roman" panose="02020603050405020304" pitchFamily="18" charset="0"/>
              <a:ea typeface="Times New Roman" panose="02020603050405020304" pitchFamily="18" charset="0"/>
              <a:cs typeface="Times New Roman" panose="02020603050405020304" pitchFamily="18" charset="0"/>
            </a:endParaRPr>
          </a:p>
          <a:p>
            <a:pPr>
              <a:spcAft>
                <a:spcPts val="1000"/>
              </a:spcAft>
              <a:defRPr/>
            </a:pPr>
            <a:r>
              <a:rPr lang="en-IN" sz="18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EDU Revolution Office: 38-205 </a:t>
            </a:r>
            <a:endParaRPr lang="en-IN" sz="18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endParaRPr>
          </a:p>
          <a:p>
            <a:pPr>
              <a:defRPr/>
            </a:pPr>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4A6886E-AF5E-7045-1B9D-2D20560EBDC8}"/>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3379255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D02F-82A7-7EED-9957-B965FA365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EDBB9-78ED-D0DE-7708-791914ADD3CF}"/>
              </a:ext>
            </a:extLst>
          </p:cNvPr>
          <p:cNvSpPr txBox="1">
            <a:spLocks noChangeArrowheads="1"/>
          </p:cNvSpPr>
          <p:nvPr/>
        </p:nvSpPr>
        <p:spPr>
          <a:xfrm>
            <a:off x="552677" y="842396"/>
            <a:ext cx="11305494" cy="52194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ct val="0"/>
              </a:spcAft>
            </a:pPr>
            <a:r>
              <a:rPr lang="en-US" altLang="en-US" sz="3200" b="1" dirty="0">
                <a:latin typeface="Times New Roman" panose="02020603050405020304" pitchFamily="18" charset="0"/>
                <a:cs typeface="Times New Roman" panose="02020603050405020304" pitchFamily="18" charset="0"/>
              </a:rPr>
              <a:t>RULES TO BE FOLLOWED IN CLASS</a:t>
            </a:r>
            <a:endParaRPr lang="en-IN" altLang="en-US" sz="32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08F30E8A-8BC5-37F4-00BB-5F5D83741E93}"/>
              </a:ext>
            </a:extLst>
          </p:cNvPr>
          <p:cNvSpPr txBox="1">
            <a:spLocks/>
          </p:cNvSpPr>
          <p:nvPr/>
        </p:nvSpPr>
        <p:spPr>
          <a:xfrm>
            <a:off x="334963" y="1538856"/>
            <a:ext cx="11697380" cy="50216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defRPr/>
            </a:pPr>
            <a:r>
              <a:rPr lang="en-IN" sz="1800" dirty="0">
                <a:latin typeface="Times New Roman" panose="02020603050405020304" pitchFamily="18" charset="0"/>
                <a:ea typeface="Times New Roman" panose="02020603050405020304" pitchFamily="18" charset="0"/>
                <a:cs typeface="Times New Roman" panose="02020603050405020304" pitchFamily="18" charset="0"/>
              </a:rPr>
              <a:t>Students need to sit according to Roll Number wise from the very left to the faculty member</a:t>
            </a:r>
          </a:p>
          <a:p>
            <a:pPr>
              <a:lnSpc>
                <a:spcPct val="150000"/>
              </a:lnSpc>
              <a:spcBef>
                <a:spcPts val="0"/>
              </a:spcBef>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Should not use mobiles in class.</a:t>
            </a:r>
          </a:p>
          <a:p>
            <a:pPr>
              <a:lnSpc>
                <a:spcPct val="150000"/>
              </a:lnSpc>
              <a:spcBef>
                <a:spcPts val="0"/>
              </a:spcBef>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The mobile Phones should be in Silent mode and kept inside the bag.</a:t>
            </a:r>
          </a:p>
          <a:p>
            <a:pPr>
              <a:lnSpc>
                <a:spcPct val="150000"/>
              </a:lnSpc>
              <a:spcBef>
                <a:spcPts val="0"/>
              </a:spcBef>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Attendance will be taken within the initial 10 minutes of the class.</a:t>
            </a:r>
          </a:p>
          <a:p>
            <a:pPr>
              <a:lnSpc>
                <a:spcPct val="150000"/>
              </a:lnSpc>
              <a:spcBef>
                <a:spcPts val="0"/>
              </a:spcBef>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 Students should not inform other students that they are “on the way” etc., while taking attendance to the instructor.</a:t>
            </a:r>
          </a:p>
          <a:p>
            <a:pPr>
              <a:lnSpc>
                <a:spcPct val="150000"/>
              </a:lnSpc>
              <a:spcBef>
                <a:spcPts val="0"/>
              </a:spcBef>
              <a:defRPr/>
            </a:pPr>
            <a:r>
              <a:rPr lang="en-IN" sz="1800" dirty="0">
                <a:latin typeface="Times New Roman" panose="02020603050405020304" pitchFamily="18" charset="0"/>
                <a:ea typeface="Calibri" panose="020F0502020204030204" pitchFamily="34" charset="0"/>
                <a:cs typeface="Times New Roman" panose="02020603050405020304" pitchFamily="18" charset="0"/>
              </a:rPr>
              <a:t>While a class is going on, no one should disturb the class</a:t>
            </a:r>
          </a:p>
          <a:p>
            <a:pPr>
              <a:lnSpc>
                <a:spcPct val="150000"/>
              </a:lnSpc>
              <a:spcBef>
                <a:spcPts val="0"/>
              </a:spcBef>
              <a:defRPr/>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defRPr/>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defRPr/>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defRPr/>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0"/>
              </a:spcBef>
              <a:defRPr/>
            </a:pPr>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B8549A9-7832-2A46-576B-401006FDC52E}"/>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1760420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B129-34E1-E9B0-FC85-8EEAB4F30282}"/>
            </a:ext>
          </a:extLst>
        </p:cNvPr>
        <p:cNvGrpSpPr/>
        <p:nvPr/>
      </p:nvGrpSpPr>
      <p:grpSpPr>
        <a:xfrm>
          <a:off x="0" y="0"/>
          <a:ext cx="0" cy="0"/>
          <a:chOff x="0" y="0"/>
          <a:chExt cx="0" cy="0"/>
        </a:xfrm>
      </p:grpSpPr>
      <p:pic>
        <p:nvPicPr>
          <p:cNvPr id="2" name="Picture 2" descr="Closing Slides PowerPoint Template - PPT Slides">
            <a:extLst>
              <a:ext uri="{FF2B5EF4-FFF2-40B4-BE49-F238E27FC236}">
                <a16:creationId xmlns:a16="http://schemas.microsoft.com/office/drawing/2014/main" id="{23F3A44A-4CD3-E244-FC7E-6A508D36A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681" y="857249"/>
            <a:ext cx="11820567" cy="55692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097A531-5AA3-280F-BC15-EA4EB3C420E9}"/>
              </a:ext>
            </a:extLst>
          </p:cNvPr>
          <p:cNvSpPr txBox="1"/>
          <p:nvPr/>
        </p:nvSpPr>
        <p:spPr>
          <a:xfrm>
            <a:off x="2128603" y="14990"/>
            <a:ext cx="8049718" cy="369332"/>
          </a:xfrm>
          <a:prstGeom prst="rect">
            <a:avLst/>
          </a:prstGeom>
          <a:noFill/>
        </p:spPr>
        <p:txBody>
          <a:bodyPr wrap="square" rtlCol="0">
            <a:spAutoFit/>
          </a:bodyPr>
          <a:lstStyle/>
          <a:p>
            <a:pPr algn="ctr"/>
            <a:r>
              <a:rPr lang="en-US" b="1" i="1" dirty="0">
                <a:solidFill>
                  <a:srgbClr val="FF0000"/>
                </a:solidFill>
                <a:latin typeface="Times New Roman" panose="02020603050405020304" pitchFamily="18" charset="0"/>
                <a:cs typeface="Times New Roman" panose="02020603050405020304" pitchFamily="18" charset="0"/>
              </a:rPr>
              <a:t>CSG401: </a:t>
            </a:r>
            <a:r>
              <a:rPr lang="en-IN" b="1" i="1" dirty="0">
                <a:solidFill>
                  <a:srgbClr val="FF0000"/>
                </a:solidFill>
                <a:latin typeface="Times New Roman" panose="02020603050405020304" pitchFamily="18" charset="0"/>
                <a:cs typeface="Times New Roman" panose="02020603050405020304" pitchFamily="18" charset="0"/>
              </a:rPr>
              <a:t>ACE TRAINING</a:t>
            </a:r>
          </a:p>
        </p:txBody>
      </p:sp>
    </p:spTree>
    <p:extLst>
      <p:ext uri="{BB962C8B-B14F-4D97-AF65-F5344CB8AC3E}">
        <p14:creationId xmlns:p14="http://schemas.microsoft.com/office/powerpoint/2010/main" val="318683580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TotalTime>
  <Words>2262</Words>
  <Application>Microsoft Office PowerPoint</Application>
  <PresentationFormat>Widescreen</PresentationFormat>
  <Paragraphs>304</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Calibri</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CSE211</dc:title>
  <dc:creator>lovi raj gupta</dc:creator>
  <cp:lastModifiedBy>Ajay Kumar Badhan</cp:lastModifiedBy>
  <cp:revision>151</cp:revision>
  <dcterms:created xsi:type="dcterms:W3CDTF">2024-12-19T08:47:23Z</dcterms:created>
  <dcterms:modified xsi:type="dcterms:W3CDTF">2026-07-15T10:28:23Z</dcterms:modified>
</cp:coreProperties>
</file>