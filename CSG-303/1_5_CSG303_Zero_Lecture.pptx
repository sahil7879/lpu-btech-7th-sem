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38"/>
  </p:notesMasterIdLst>
  <p:sldIdLst>
    <p:sldId id="4030" r:id="rId2"/>
    <p:sldId id="4031" r:id="rId3"/>
    <p:sldId id="4032" r:id="rId4"/>
    <p:sldId id="4084" r:id="rId5"/>
    <p:sldId id="4037" r:id="rId6"/>
    <p:sldId id="4038" r:id="rId7"/>
    <p:sldId id="4039" r:id="rId8"/>
    <p:sldId id="4033" r:id="rId9"/>
    <p:sldId id="4071" r:id="rId10"/>
    <p:sldId id="4083" r:id="rId11"/>
    <p:sldId id="4034" r:id="rId12"/>
    <p:sldId id="4040" r:id="rId13"/>
    <p:sldId id="4041" r:id="rId14"/>
    <p:sldId id="4067" r:id="rId15"/>
    <p:sldId id="4068" r:id="rId16"/>
    <p:sldId id="4042" r:id="rId17"/>
    <p:sldId id="4043" r:id="rId18"/>
    <p:sldId id="256" r:id="rId19"/>
    <p:sldId id="282" r:id="rId20"/>
    <p:sldId id="260" r:id="rId21"/>
    <p:sldId id="258" r:id="rId22"/>
    <p:sldId id="280" r:id="rId23"/>
    <p:sldId id="281" r:id="rId24"/>
    <p:sldId id="259" r:id="rId25"/>
    <p:sldId id="4090" r:id="rId26"/>
    <p:sldId id="4091" r:id="rId27"/>
    <p:sldId id="4092" r:id="rId28"/>
    <p:sldId id="257" r:id="rId29"/>
    <p:sldId id="3921" r:id="rId30"/>
    <p:sldId id="4036" r:id="rId31"/>
    <p:sldId id="4085" r:id="rId32"/>
    <p:sldId id="4086" r:id="rId33"/>
    <p:sldId id="4087" r:id="rId34"/>
    <p:sldId id="4088" r:id="rId35"/>
    <p:sldId id="4089" r:id="rId36"/>
    <p:sldId id="405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64" d="100"/>
          <a:sy n="64" d="100"/>
        </p:scale>
        <p:origin x="94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B3E95C-D98F-45E4-979F-13F2EE6EB5EB}"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5F86770-652B-4C3C-88D9-9D9274490915}">
      <dgm:prSet custT="1"/>
      <dgm:spPr/>
      <dgm:t>
        <a:bodyPr/>
        <a:lstStyle/>
        <a:p>
          <a:pPr algn="l"/>
          <a:r>
            <a:rPr lang="en-IN" sz="2800" dirty="0">
              <a:latin typeface="Aptos" panose="020B0004020202020204" pitchFamily="34" charset="0"/>
            </a:rPr>
            <a:t>Students apply through UMS/LMS</a:t>
          </a:r>
        </a:p>
      </dgm:t>
    </dgm:pt>
    <dgm:pt modelId="{3ABE9412-6CA1-4947-BFA8-18359DF64CFC}" type="parTrans" cxnId="{99FA4380-8F5D-4DAE-8D0C-687B9B045346}">
      <dgm:prSet/>
      <dgm:spPr/>
      <dgm:t>
        <a:bodyPr/>
        <a:lstStyle/>
        <a:p>
          <a:endParaRPr lang="en-IN"/>
        </a:p>
      </dgm:t>
    </dgm:pt>
    <dgm:pt modelId="{E2EBA6B0-8EBE-4FAB-A4CB-A0F2CFBC8F78}" type="sibTrans" cxnId="{99FA4380-8F5D-4DAE-8D0C-687B9B045346}">
      <dgm:prSet/>
      <dgm:spPr/>
      <dgm:t>
        <a:bodyPr/>
        <a:lstStyle/>
        <a:p>
          <a:endParaRPr lang="en-IN"/>
        </a:p>
      </dgm:t>
    </dgm:pt>
    <dgm:pt modelId="{573A1A33-B447-4490-B812-FA87290FE3CA}" type="pres">
      <dgm:prSet presAssocID="{63B3E95C-D98F-45E4-979F-13F2EE6EB5EB}" presName="linear" presStyleCnt="0">
        <dgm:presLayoutVars>
          <dgm:animLvl val="lvl"/>
          <dgm:resizeHandles val="exact"/>
        </dgm:presLayoutVars>
      </dgm:prSet>
      <dgm:spPr/>
    </dgm:pt>
    <dgm:pt modelId="{D0C262B1-4527-4945-94F5-6BCABAA4D21F}" type="pres">
      <dgm:prSet presAssocID="{95F86770-652B-4C3C-88D9-9D9274490915}" presName="parentText" presStyleLbl="node1" presStyleIdx="0" presStyleCnt="1" custLinFactNeighborX="-2147" custLinFactNeighborY="-9738">
        <dgm:presLayoutVars>
          <dgm:chMax val="0"/>
          <dgm:bulletEnabled val="1"/>
        </dgm:presLayoutVars>
      </dgm:prSet>
      <dgm:spPr/>
    </dgm:pt>
  </dgm:ptLst>
  <dgm:cxnLst>
    <dgm:cxn modelId="{578AB97B-B51F-4F6F-93AF-AE92E203BCC3}" type="presOf" srcId="{95F86770-652B-4C3C-88D9-9D9274490915}" destId="{D0C262B1-4527-4945-94F5-6BCABAA4D21F}" srcOrd="0" destOrd="0" presId="urn:microsoft.com/office/officeart/2005/8/layout/vList2"/>
    <dgm:cxn modelId="{99FA4380-8F5D-4DAE-8D0C-687B9B045346}" srcId="{63B3E95C-D98F-45E4-979F-13F2EE6EB5EB}" destId="{95F86770-652B-4C3C-88D9-9D9274490915}" srcOrd="0" destOrd="0" parTransId="{3ABE9412-6CA1-4947-BFA8-18359DF64CFC}" sibTransId="{E2EBA6B0-8EBE-4FAB-A4CB-A0F2CFBC8F78}"/>
    <dgm:cxn modelId="{5C877FFA-75FC-4FB8-92E4-2376C7007115}" type="presOf" srcId="{63B3E95C-D98F-45E4-979F-13F2EE6EB5EB}" destId="{573A1A33-B447-4490-B812-FA87290FE3CA}" srcOrd="0" destOrd="0" presId="urn:microsoft.com/office/officeart/2005/8/layout/vList2"/>
    <dgm:cxn modelId="{CA7C17C4-163A-4705-AE7B-3748365B690C}" type="presParOf" srcId="{573A1A33-B447-4490-B812-FA87290FE3CA}" destId="{D0C262B1-4527-4945-94F5-6BCABAA4D21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36CADBC-FDE4-4CFC-9D4F-09C7FACDA0D5}"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28BA5503-C2A8-4666-BD85-998EAEDA2E69}">
      <dgm:prSet custT="1"/>
      <dgm:spPr/>
      <dgm:t>
        <a:bodyPr/>
        <a:lstStyle/>
        <a:p>
          <a:r>
            <a:rPr lang="en-IN" sz="2800" dirty="0">
              <a:latin typeface="Aptos" panose="020B0004020202020204" pitchFamily="34" charset="0"/>
            </a:rPr>
            <a:t>Standing Committee verifies eligibility and supporting documents</a:t>
          </a:r>
        </a:p>
      </dgm:t>
    </dgm:pt>
    <dgm:pt modelId="{6B5714E0-954B-438B-8BEF-4A14080EC45D}" type="parTrans" cxnId="{D1648F8A-C698-45C2-89E0-9D9108304F73}">
      <dgm:prSet/>
      <dgm:spPr/>
      <dgm:t>
        <a:bodyPr/>
        <a:lstStyle/>
        <a:p>
          <a:endParaRPr lang="en-IN"/>
        </a:p>
      </dgm:t>
    </dgm:pt>
    <dgm:pt modelId="{6DF08AAA-4E23-4B48-8FBB-000C8883062F}" type="sibTrans" cxnId="{D1648F8A-C698-45C2-89E0-9D9108304F73}">
      <dgm:prSet/>
      <dgm:spPr/>
      <dgm:t>
        <a:bodyPr/>
        <a:lstStyle/>
        <a:p>
          <a:endParaRPr lang="en-IN"/>
        </a:p>
      </dgm:t>
    </dgm:pt>
    <dgm:pt modelId="{CB892914-EDDF-439C-979F-3C63F45FCB44}" type="pres">
      <dgm:prSet presAssocID="{836CADBC-FDE4-4CFC-9D4F-09C7FACDA0D5}" presName="linear" presStyleCnt="0">
        <dgm:presLayoutVars>
          <dgm:animLvl val="lvl"/>
          <dgm:resizeHandles val="exact"/>
        </dgm:presLayoutVars>
      </dgm:prSet>
      <dgm:spPr/>
    </dgm:pt>
    <dgm:pt modelId="{66BEC4D7-F27D-481B-AEAA-CF36AEC2E1DE}" type="pres">
      <dgm:prSet presAssocID="{28BA5503-C2A8-4666-BD85-998EAEDA2E69}" presName="parentText" presStyleLbl="node1" presStyleIdx="0" presStyleCnt="1" custScaleY="308760" custLinFactNeighborX="-7765" custLinFactNeighborY="-55843">
        <dgm:presLayoutVars>
          <dgm:chMax val="0"/>
          <dgm:bulletEnabled val="1"/>
        </dgm:presLayoutVars>
      </dgm:prSet>
      <dgm:spPr/>
    </dgm:pt>
  </dgm:ptLst>
  <dgm:cxnLst>
    <dgm:cxn modelId="{1E69B94C-B5BF-425D-A412-300CAF429FED}" type="presOf" srcId="{28BA5503-C2A8-4666-BD85-998EAEDA2E69}" destId="{66BEC4D7-F27D-481B-AEAA-CF36AEC2E1DE}" srcOrd="0" destOrd="0" presId="urn:microsoft.com/office/officeart/2005/8/layout/vList2"/>
    <dgm:cxn modelId="{D1648F8A-C698-45C2-89E0-9D9108304F73}" srcId="{836CADBC-FDE4-4CFC-9D4F-09C7FACDA0D5}" destId="{28BA5503-C2A8-4666-BD85-998EAEDA2E69}" srcOrd="0" destOrd="0" parTransId="{6B5714E0-954B-438B-8BEF-4A14080EC45D}" sibTransId="{6DF08AAA-4E23-4B48-8FBB-000C8883062F}"/>
    <dgm:cxn modelId="{6B8D83EB-C0BD-4307-9B67-1BC0C0018782}" type="presOf" srcId="{836CADBC-FDE4-4CFC-9D4F-09C7FACDA0D5}" destId="{CB892914-EDDF-439C-979F-3C63F45FCB44}" srcOrd="0" destOrd="0" presId="urn:microsoft.com/office/officeart/2005/8/layout/vList2"/>
    <dgm:cxn modelId="{C5996148-C803-4E05-BF3A-7F97D97F8377}" type="presParOf" srcId="{CB892914-EDDF-439C-979F-3C63F45FCB44}" destId="{66BEC4D7-F27D-481B-AEAA-CF36AEC2E1DE}"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2333ED-89B8-413D-980E-00CEF2C5FF1D}"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D8404AD0-3E5A-417E-B7FA-8368D2AAC102}">
      <dgm:prSet custT="1"/>
      <dgm:spPr/>
      <dgm:t>
        <a:bodyPr/>
        <a:lstStyle/>
        <a:p>
          <a:r>
            <a:rPr lang="en-IN" sz="2800" dirty="0">
              <a:latin typeface="Aptos" panose="020B0004020202020204" pitchFamily="34" charset="0"/>
            </a:rPr>
            <a:t>Head of School approves course mapping and academic benefits</a:t>
          </a:r>
        </a:p>
      </dgm:t>
    </dgm:pt>
    <dgm:pt modelId="{DD8F1012-1BD6-4032-AFC8-C25B350B118E}" type="parTrans" cxnId="{38413CE1-BC9B-4431-9F9A-304322016287}">
      <dgm:prSet/>
      <dgm:spPr/>
      <dgm:t>
        <a:bodyPr/>
        <a:lstStyle/>
        <a:p>
          <a:endParaRPr lang="en-IN"/>
        </a:p>
      </dgm:t>
    </dgm:pt>
    <dgm:pt modelId="{E81C893D-82AE-4D05-BA81-7A44C43A8FF5}" type="sibTrans" cxnId="{38413CE1-BC9B-4431-9F9A-304322016287}">
      <dgm:prSet/>
      <dgm:spPr/>
      <dgm:t>
        <a:bodyPr/>
        <a:lstStyle/>
        <a:p>
          <a:endParaRPr lang="en-IN"/>
        </a:p>
      </dgm:t>
    </dgm:pt>
    <dgm:pt modelId="{48F1FCE7-55C6-475B-9D1A-7FDA7E338652}" type="pres">
      <dgm:prSet presAssocID="{DA2333ED-89B8-413D-980E-00CEF2C5FF1D}" presName="linear" presStyleCnt="0">
        <dgm:presLayoutVars>
          <dgm:animLvl val="lvl"/>
          <dgm:resizeHandles val="exact"/>
        </dgm:presLayoutVars>
      </dgm:prSet>
      <dgm:spPr/>
    </dgm:pt>
    <dgm:pt modelId="{411018F6-EDAA-46F8-8781-8C129F37088E}" type="pres">
      <dgm:prSet presAssocID="{D8404AD0-3E5A-417E-B7FA-8368D2AAC102}" presName="parentText" presStyleLbl="node1" presStyleIdx="0" presStyleCnt="1" custScaleY="267462" custLinFactNeighborX="0" custLinFactNeighborY="95828">
        <dgm:presLayoutVars>
          <dgm:chMax val="0"/>
          <dgm:bulletEnabled val="1"/>
        </dgm:presLayoutVars>
      </dgm:prSet>
      <dgm:spPr/>
    </dgm:pt>
  </dgm:ptLst>
  <dgm:cxnLst>
    <dgm:cxn modelId="{8CB4FAAE-4B66-4825-8163-F5CC05BAB0E4}" type="presOf" srcId="{DA2333ED-89B8-413D-980E-00CEF2C5FF1D}" destId="{48F1FCE7-55C6-475B-9D1A-7FDA7E338652}" srcOrd="0" destOrd="0" presId="urn:microsoft.com/office/officeart/2005/8/layout/vList2"/>
    <dgm:cxn modelId="{38413CE1-BC9B-4431-9F9A-304322016287}" srcId="{DA2333ED-89B8-413D-980E-00CEF2C5FF1D}" destId="{D8404AD0-3E5A-417E-B7FA-8368D2AAC102}" srcOrd="0" destOrd="0" parTransId="{DD8F1012-1BD6-4032-AFC8-C25B350B118E}" sibTransId="{E81C893D-82AE-4D05-BA81-7A44C43A8FF5}"/>
    <dgm:cxn modelId="{3059E6EB-49A2-4C49-AF0E-A3A899D93744}" type="presOf" srcId="{D8404AD0-3E5A-417E-B7FA-8368D2AAC102}" destId="{411018F6-EDAA-46F8-8781-8C129F37088E}" srcOrd="0" destOrd="0" presId="urn:microsoft.com/office/officeart/2005/8/layout/vList2"/>
    <dgm:cxn modelId="{BA175E4D-E740-4A9A-B21A-3EE536E5AB09}" type="presParOf" srcId="{48F1FCE7-55C6-475B-9D1A-7FDA7E338652}" destId="{411018F6-EDAA-46F8-8781-8C129F37088E}"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6B3C9D-F695-41CB-9875-C7ABFE7FAC61}"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6EB4F3E2-7D2E-4B2B-AC83-F1764C56FF5B}">
      <dgm:prSet custT="1"/>
      <dgm:spPr/>
      <dgm:t>
        <a:bodyPr/>
        <a:lstStyle/>
        <a:p>
          <a:r>
            <a:rPr lang="en-IN" sz="2800" dirty="0">
              <a:latin typeface="Aptos" panose="020B0004020202020204" pitchFamily="34" charset="0"/>
            </a:rPr>
            <a:t>Transparent, standardized and timely decision-making</a:t>
          </a:r>
        </a:p>
      </dgm:t>
    </dgm:pt>
    <dgm:pt modelId="{85F9E443-7C84-437B-9F9F-A5FE4E23AD75}" type="parTrans" cxnId="{E1577B53-E0B5-417D-B06B-05A67BD6DDC5}">
      <dgm:prSet/>
      <dgm:spPr/>
      <dgm:t>
        <a:bodyPr/>
        <a:lstStyle/>
        <a:p>
          <a:endParaRPr lang="en-IN" sz="2800">
            <a:latin typeface="Aptos" panose="020B0004020202020204" pitchFamily="34" charset="0"/>
          </a:endParaRPr>
        </a:p>
      </dgm:t>
    </dgm:pt>
    <dgm:pt modelId="{4AA6B2AC-EB2C-4D04-98F4-B7A17399CDBA}" type="sibTrans" cxnId="{E1577B53-E0B5-417D-B06B-05A67BD6DDC5}">
      <dgm:prSet/>
      <dgm:spPr/>
      <dgm:t>
        <a:bodyPr/>
        <a:lstStyle/>
        <a:p>
          <a:endParaRPr lang="en-IN" sz="2800">
            <a:latin typeface="Aptos" panose="020B0004020202020204" pitchFamily="34" charset="0"/>
          </a:endParaRPr>
        </a:p>
      </dgm:t>
    </dgm:pt>
    <dgm:pt modelId="{49AE3D0D-1C43-4541-ABD2-533B525DFEE3}" type="pres">
      <dgm:prSet presAssocID="{746B3C9D-F695-41CB-9875-C7ABFE7FAC61}" presName="linear" presStyleCnt="0">
        <dgm:presLayoutVars>
          <dgm:animLvl val="lvl"/>
          <dgm:resizeHandles val="exact"/>
        </dgm:presLayoutVars>
      </dgm:prSet>
      <dgm:spPr/>
    </dgm:pt>
    <dgm:pt modelId="{011196B6-9C68-457C-951C-79C3F09583B2}" type="pres">
      <dgm:prSet presAssocID="{6EB4F3E2-7D2E-4B2B-AC83-F1764C56FF5B}" presName="parentText" presStyleLbl="node1" presStyleIdx="0" presStyleCnt="1" custLinFactNeighborX="-11479" custLinFactNeighborY="-2323">
        <dgm:presLayoutVars>
          <dgm:chMax val="0"/>
          <dgm:bulletEnabled val="1"/>
        </dgm:presLayoutVars>
      </dgm:prSet>
      <dgm:spPr/>
    </dgm:pt>
  </dgm:ptLst>
  <dgm:cxnLst>
    <dgm:cxn modelId="{E1577B53-E0B5-417D-B06B-05A67BD6DDC5}" srcId="{746B3C9D-F695-41CB-9875-C7ABFE7FAC61}" destId="{6EB4F3E2-7D2E-4B2B-AC83-F1764C56FF5B}" srcOrd="0" destOrd="0" parTransId="{85F9E443-7C84-437B-9F9F-A5FE4E23AD75}" sibTransId="{4AA6B2AC-EB2C-4D04-98F4-B7A17399CDBA}"/>
    <dgm:cxn modelId="{D811619C-CC57-4395-A7AC-AFBA21557A9B}" type="presOf" srcId="{6EB4F3E2-7D2E-4B2B-AC83-F1764C56FF5B}" destId="{011196B6-9C68-457C-951C-79C3F09583B2}" srcOrd="0" destOrd="0" presId="urn:microsoft.com/office/officeart/2005/8/layout/vList2"/>
    <dgm:cxn modelId="{773353FE-317E-4B48-B580-6B39BEDFA588}" type="presOf" srcId="{746B3C9D-F695-41CB-9875-C7ABFE7FAC61}" destId="{49AE3D0D-1C43-4541-ABD2-533B525DFEE3}" srcOrd="0" destOrd="0" presId="urn:microsoft.com/office/officeart/2005/8/layout/vList2"/>
    <dgm:cxn modelId="{34983269-E78A-48AB-BF4C-7A7AF69E4A7D}" type="presParOf" srcId="{49AE3D0D-1C43-4541-ABD2-533B525DFEE3}" destId="{011196B6-9C68-457C-951C-79C3F09583B2}"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C262B1-4527-4945-94F5-6BCABAA4D21F}">
      <dsp:nvSpPr>
        <dsp:cNvPr id="0" name=""/>
        <dsp:cNvSpPr/>
      </dsp:nvSpPr>
      <dsp:spPr>
        <a:xfrm>
          <a:off x="0" y="0"/>
          <a:ext cx="8577222" cy="87984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latin typeface="Aptos" panose="020B0004020202020204" pitchFamily="34" charset="0"/>
            </a:rPr>
            <a:t>Students apply through UMS/LMS</a:t>
          </a:r>
        </a:p>
      </dsp:txBody>
      <dsp:txXfrm>
        <a:off x="42950" y="42950"/>
        <a:ext cx="8491322" cy="7939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EC4D7-F27D-481B-AEAA-CF36AEC2E1DE}">
      <dsp:nvSpPr>
        <dsp:cNvPr id="0" name=""/>
        <dsp:cNvSpPr/>
      </dsp:nvSpPr>
      <dsp:spPr>
        <a:xfrm>
          <a:off x="0" y="0"/>
          <a:ext cx="8678822" cy="9734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latin typeface="Aptos" panose="020B0004020202020204" pitchFamily="34" charset="0"/>
            </a:rPr>
            <a:t>Standing Committee verifies eligibility and supporting documents</a:t>
          </a:r>
        </a:p>
      </dsp:txBody>
      <dsp:txXfrm>
        <a:off x="47521" y="47521"/>
        <a:ext cx="8583780" cy="8784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018F6-EDAA-46F8-8781-8C129F37088E}">
      <dsp:nvSpPr>
        <dsp:cNvPr id="0" name=""/>
        <dsp:cNvSpPr/>
      </dsp:nvSpPr>
      <dsp:spPr>
        <a:xfrm>
          <a:off x="0" y="170525"/>
          <a:ext cx="8678821" cy="84408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latin typeface="Aptos" panose="020B0004020202020204" pitchFamily="34" charset="0"/>
            </a:rPr>
            <a:t>Head of School approves course mapping and academic benefits</a:t>
          </a:r>
        </a:p>
      </dsp:txBody>
      <dsp:txXfrm>
        <a:off x="41205" y="211730"/>
        <a:ext cx="8596411" cy="7616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196B6-9C68-457C-951C-79C3F09583B2}">
      <dsp:nvSpPr>
        <dsp:cNvPr id="0" name=""/>
        <dsp:cNvSpPr/>
      </dsp:nvSpPr>
      <dsp:spPr>
        <a:xfrm>
          <a:off x="0" y="0"/>
          <a:ext cx="8667939" cy="8424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latin typeface="Aptos" panose="020B0004020202020204" pitchFamily="34" charset="0"/>
            </a:rPr>
            <a:t>Transparent, standardized and timely decision-making</a:t>
          </a:r>
        </a:p>
      </dsp:txBody>
      <dsp:txXfrm>
        <a:off x="41123" y="41123"/>
        <a:ext cx="8585693" cy="7601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34659-0ED1-4E51-86A0-9BBF4E66109E}"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35501-1542-45B6-9AF4-9929E24FB64D}" type="slidenum">
              <a:rPr lang="en-US" smtClean="0"/>
              <a:t>‹#›</a:t>
            </a:fld>
            <a:endParaRPr lang="en-US"/>
          </a:p>
        </p:txBody>
      </p:sp>
    </p:spTree>
    <p:extLst>
      <p:ext uri="{BB962C8B-B14F-4D97-AF65-F5344CB8AC3E}">
        <p14:creationId xmlns:p14="http://schemas.microsoft.com/office/powerpoint/2010/main" val="360957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F35501-1542-45B6-9AF4-9929E24FB64D}" type="slidenum">
              <a:rPr lang="en-US" smtClean="0"/>
              <a:t>3</a:t>
            </a:fld>
            <a:endParaRPr lang="en-US"/>
          </a:p>
        </p:txBody>
      </p:sp>
    </p:spTree>
    <p:extLst>
      <p:ext uri="{BB962C8B-B14F-4D97-AF65-F5344CB8AC3E}">
        <p14:creationId xmlns:p14="http://schemas.microsoft.com/office/powerpoint/2010/main" val="1166014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1409D-C730-F788-45C2-8E52F0B39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13F49-A681-B25C-6A76-684457740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0231B-5988-911B-059B-847D589BBC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096650-12DB-FD3A-2956-362180E184D1}"/>
              </a:ext>
            </a:extLst>
          </p:cNvPr>
          <p:cNvSpPr>
            <a:spLocks noGrp="1"/>
          </p:cNvSpPr>
          <p:nvPr>
            <p:ph type="sldNum" sz="quarter" idx="5"/>
          </p:nvPr>
        </p:nvSpPr>
        <p:spPr/>
        <p:txBody>
          <a:bodyPr/>
          <a:lstStyle/>
          <a:p>
            <a:fld id="{16F35501-1542-45B6-9AF4-9929E24FB64D}" type="slidenum">
              <a:rPr lang="en-US" smtClean="0"/>
              <a:t>4</a:t>
            </a:fld>
            <a:endParaRPr lang="en-US"/>
          </a:p>
        </p:txBody>
      </p:sp>
    </p:spTree>
    <p:extLst>
      <p:ext uri="{BB962C8B-B14F-4D97-AF65-F5344CB8AC3E}">
        <p14:creationId xmlns:p14="http://schemas.microsoft.com/office/powerpoint/2010/main" val="1713908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867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B6EE9A-1E3F-4087-B53F-F149DB8DFA0F}" type="slidenum">
              <a:rPr lang="en-IN" altLang="en-US"/>
              <a:pPr/>
              <a:t>12</a:t>
            </a:fld>
            <a:endParaRPr lang="en-IN" altLang="en-US"/>
          </a:p>
        </p:txBody>
      </p:sp>
    </p:spTree>
    <p:extLst>
      <p:ext uri="{BB962C8B-B14F-4D97-AF65-F5344CB8AC3E}">
        <p14:creationId xmlns:p14="http://schemas.microsoft.com/office/powerpoint/2010/main" val="2235751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F35501-1542-45B6-9AF4-9929E24FB64D}" type="slidenum">
              <a:rPr lang="en-US" smtClean="0"/>
              <a:t>14</a:t>
            </a:fld>
            <a:endParaRPr lang="en-US"/>
          </a:p>
        </p:txBody>
      </p:sp>
    </p:spTree>
    <p:extLst>
      <p:ext uri="{BB962C8B-B14F-4D97-AF65-F5344CB8AC3E}">
        <p14:creationId xmlns:p14="http://schemas.microsoft.com/office/powerpoint/2010/main" val="2981113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F35501-1542-45B6-9AF4-9929E24FB64D}" type="slidenum">
              <a:rPr lang="en-US" smtClean="0"/>
              <a:t>16</a:t>
            </a:fld>
            <a:endParaRPr lang="en-US"/>
          </a:p>
        </p:txBody>
      </p:sp>
    </p:spTree>
    <p:extLst>
      <p:ext uri="{BB962C8B-B14F-4D97-AF65-F5344CB8AC3E}">
        <p14:creationId xmlns:p14="http://schemas.microsoft.com/office/powerpoint/2010/main" val="3443618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35C035-66C3-4887-AFB5-741198C05989}" type="datetime1">
              <a:rPr lang="en-IN" smtClean="0"/>
              <a:t>27-07-2026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48688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A5DD95-F8C8-4514-86FA-F689F6E88E95}" type="datetime1">
              <a:rPr lang="en-IN" smtClean="0"/>
              <a:t>27-07-2026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756596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F81670-6007-4C62-8F59-41E1CC4F9BDC}" type="datetime1">
              <a:rPr lang="en-IN" smtClean="0"/>
              <a:t>27-07-2026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497412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0E668A-9FCB-47AB-ACD6-07FD44555D1C}" type="datetime1">
              <a:rPr lang="en-IN" smtClean="0"/>
              <a:t>27-07-2026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807190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3EC513F-6A83-4B3A-BB09-049F4E61F634}" type="datetime1">
              <a:rPr lang="en-IN" smtClean="0"/>
              <a:t>27-07-2026</a:t>
            </a:fld>
            <a:endParaRPr lang="en-IN"/>
          </a:p>
        </p:txBody>
      </p:sp>
      <p:sp>
        <p:nvSpPr>
          <p:cNvPr id="8" name="Footer Placeholder 7"/>
          <p:cNvSpPr>
            <a:spLocks noGrp="1"/>
          </p:cNvSpPr>
          <p:nvPr>
            <p:ph type="ftr" sz="quarter" idx="11"/>
          </p:nvPr>
        </p:nvSpPr>
        <p:spPr/>
        <p:txBody>
          <a:bodyPr/>
          <a:lstStyle/>
          <a:p>
            <a:r>
              <a:rPr lang="en-IN"/>
              <a:t>1/15</a:t>
            </a:r>
          </a:p>
        </p:txBody>
      </p:sp>
      <p:sp>
        <p:nvSpPr>
          <p:cNvPr id="9" name="Slide Number Placeholder 8"/>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410628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799FEFD-3C69-4305-A7B6-834AA69834DB}" type="datetime1">
              <a:rPr lang="en-IN" smtClean="0"/>
              <a:t>27-07-2026</a:t>
            </a:fld>
            <a:endParaRPr lang="en-IN"/>
          </a:p>
        </p:txBody>
      </p:sp>
      <p:sp>
        <p:nvSpPr>
          <p:cNvPr id="4" name="Footer Placeholder 3"/>
          <p:cNvSpPr>
            <a:spLocks noGrp="1"/>
          </p:cNvSpPr>
          <p:nvPr>
            <p:ph type="ftr" sz="quarter" idx="11"/>
          </p:nvPr>
        </p:nvSpPr>
        <p:spPr/>
        <p:txBody>
          <a:bodyPr/>
          <a:lstStyle/>
          <a:p>
            <a:r>
              <a:rPr lang="en-IN"/>
              <a:t>1/15</a:t>
            </a:r>
          </a:p>
        </p:txBody>
      </p:sp>
      <p:sp>
        <p:nvSpPr>
          <p:cNvPr id="5" name="Slide Number Placeholder 4"/>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202963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72B8A8-40AC-4BD4-B073-C21DF81FB59C}" type="datetime1">
              <a:rPr lang="en-IN" smtClean="0"/>
              <a:t>27-07-2026</a:t>
            </a:fld>
            <a:endParaRPr lang="en-IN"/>
          </a:p>
        </p:txBody>
      </p:sp>
      <p:sp>
        <p:nvSpPr>
          <p:cNvPr id="3" name="Footer Placeholder 2"/>
          <p:cNvSpPr>
            <a:spLocks noGrp="1"/>
          </p:cNvSpPr>
          <p:nvPr>
            <p:ph type="ftr" sz="quarter" idx="11"/>
          </p:nvPr>
        </p:nvSpPr>
        <p:spPr/>
        <p:txBody>
          <a:bodyPr/>
          <a:lstStyle/>
          <a:p>
            <a:r>
              <a:rPr lang="en-IN"/>
              <a:t>1/15</a:t>
            </a:r>
          </a:p>
        </p:txBody>
      </p:sp>
      <p:sp>
        <p:nvSpPr>
          <p:cNvPr id="4" name="Slide Number Placeholder 3"/>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548984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279324-6718-4C38-A249-E09CAC183CDE}" type="datetime1">
              <a:rPr lang="en-IN" smtClean="0"/>
              <a:t>27-07-2026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767130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59F1BC8-94F8-45FC-B95B-8E7D82B4A049}" type="datetime1">
              <a:rPr lang="en-IN" smtClean="0"/>
              <a:t>27-07-2026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69636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AC8DF-4781-438A-A2D9-AAF8FD8F57EF}" type="datetime1">
              <a:rPr lang="en-IN" smtClean="0"/>
              <a:t>27-07-2026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588713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5F1F87-1041-451E-898C-31740E1620AA}" type="datetime1">
              <a:rPr lang="en-IN" smtClean="0"/>
              <a:t>27-07-2026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954337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1765631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8891486"/>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40000"/>
                <a:lumOff val="60000"/>
              </a:schemeClr>
            </a:gs>
            <a:gs pos="21000">
              <a:srgbClr val="FFFFFF"/>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B74D95-0A6A-4FF0-A602-FE349279ABDC}" type="datetime1">
              <a:rPr lang="en-IN" smtClean="0"/>
              <a:t>27-07-2026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1/15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05F464-475C-44AD-B39D-86A1D68B524E}"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userDrawn="1"/>
        </p:nvPicPr>
        <p:blipFill>
          <a:blip r:embed="rId15"/>
          <a:stretch>
            <a:fillRect/>
          </a:stretch>
        </p:blipFill>
        <p:spPr>
          <a:xfrm>
            <a:off x="10355072" y="178307"/>
            <a:ext cx="1547520" cy="418630"/>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userDrawn="1"/>
        </p:nvPicPr>
        <p:blipFill>
          <a:blip r:embed="rId16"/>
          <a:stretch>
            <a:fillRect/>
          </a:stretch>
        </p:blipFill>
        <p:spPr>
          <a:xfrm>
            <a:off x="328281" y="178308"/>
            <a:ext cx="1581202" cy="50542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244386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72" r:id="rId12"/>
    <p:sldLayoutId id="2147483673"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cloud.google.com/kubernetes-engine/doc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hyperlink" Target="https://cloud.google.com/kubernetes-engine/docs/how-to/hardening-your-cluster" TargetMode="External"/><Relationship Id="rId4" Type="http://schemas.openxmlformats.org/officeDocument/2006/relationships/hyperlink" Target="https://cloud.google.com/kubernetes-engine/docs/concept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cloud.google.com/stackdriver/docs" TargetMode="External"/><Relationship Id="rId2" Type="http://schemas.openxmlformats.org/officeDocument/2006/relationships/hyperlink" Target="https://cloud.google.com/monitoring/docs"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Academic%20benefits.pdf"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19" Type="http://schemas.openxmlformats.org/officeDocument/2006/relationships/diagramQuickStyle" Target="../diagrams/quickStyle4.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AutoShape 6"/>
          <p:cNvSpPr>
            <a:spLocks noChangeShapeType="1"/>
          </p:cNvSpPr>
          <p:nvPr/>
        </p:nvSpPr>
        <p:spPr bwMode="auto">
          <a:xfrm>
            <a:off x="685800" y="5900209"/>
            <a:ext cx="10820400" cy="0"/>
          </a:xfrm>
          <a:prstGeom prst="line">
            <a:avLst/>
          </a:prstGeom>
          <a:noFill/>
          <a:ln w="28575">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1200"/>
          </a:p>
        </p:txBody>
      </p:sp>
      <p:sp>
        <p:nvSpPr>
          <p:cNvPr id="11269" name="AutoShape 7"/>
          <p:cNvSpPr>
            <a:spLocks noChangeShapeType="1"/>
          </p:cNvSpPr>
          <p:nvPr/>
        </p:nvSpPr>
        <p:spPr bwMode="auto">
          <a:xfrm>
            <a:off x="685800" y="6425142"/>
            <a:ext cx="10820400" cy="0"/>
          </a:xfrm>
          <a:prstGeom prst="line">
            <a:avLst/>
          </a:prstGeom>
          <a:noFill/>
          <a:ln w="28575">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1200"/>
          </a:p>
        </p:txBody>
      </p:sp>
      <p:sp>
        <p:nvSpPr>
          <p:cNvPr id="10" name="TextBox 10"/>
          <p:cNvSpPr txBox="1"/>
          <p:nvPr/>
        </p:nvSpPr>
        <p:spPr>
          <a:xfrm>
            <a:off x="1252643" y="3353458"/>
            <a:ext cx="10034484" cy="591380"/>
          </a:xfrm>
          <a:prstGeom prst="rect">
            <a:avLst/>
          </a:prstGeom>
        </p:spPr>
        <p:txBody>
          <a:bodyPr wrap="square" lIns="0" tIns="0" rIns="0" bIns="0">
            <a:spAutoFit/>
          </a:bodyPr>
          <a:lstStyle/>
          <a:p>
            <a:pPr algn="ctr">
              <a:lnSpc>
                <a:spcPts val="4484"/>
              </a:lnSpc>
              <a:defRPr/>
            </a:pPr>
            <a:r>
              <a:rPr lang="en-IN" sz="4800" b="1" dirty="0">
                <a:solidFill>
                  <a:schemeClr val="accent1">
                    <a:lumMod val="50000"/>
                  </a:schemeClr>
                </a:solidFill>
                <a:latin typeface="Times New Roman" panose="02020603050405020304" pitchFamily="18" charset="0"/>
                <a:cs typeface="Times New Roman" panose="02020603050405020304" pitchFamily="18" charset="0"/>
              </a:rPr>
              <a:t>MULTI CLOUD FOCUS COURSE</a:t>
            </a:r>
            <a:endParaRPr lang="en-US"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1274" name="TextBox 12"/>
          <p:cNvSpPr txBox="1">
            <a:spLocks noChangeArrowheads="1"/>
          </p:cNvSpPr>
          <p:nvPr/>
        </p:nvSpPr>
        <p:spPr bwMode="auto">
          <a:xfrm>
            <a:off x="3124200" y="1120676"/>
            <a:ext cx="5943600" cy="2308324"/>
          </a:xfrm>
          <a:prstGeom prst="rect">
            <a:avLst/>
          </a:prstGeom>
          <a:noFill/>
          <a:ln w="9525">
            <a:noFill/>
            <a:miter lim="800000"/>
            <a:headEnd/>
            <a:tailEnd/>
          </a:ln>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t>CSG303</a:t>
            </a:r>
          </a:p>
          <a:p>
            <a:pPr algn="ctr">
              <a:lnSpc>
                <a:spcPts val="4484"/>
              </a:lnSpc>
            </a:pPr>
            <a:b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br>
            <a: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t>Lecture Zero</a:t>
            </a:r>
          </a:p>
          <a:p>
            <a:pPr algn="ctr">
              <a:lnSpc>
                <a:spcPts val="4484"/>
              </a:lnSpc>
            </a:pPr>
            <a:endParaRPr lang="en-US" altLang="en-US" sz="4800"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75161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9" name="TextBox 13"/>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L T P</a:t>
            </a:r>
          </a:p>
        </p:txBody>
      </p:sp>
      <p:sp>
        <p:nvSpPr>
          <p:cNvPr id="12300" name="TextBox 14"/>
          <p:cNvSpPr txBox="1">
            <a:spLocks noChangeArrowheads="1"/>
          </p:cNvSpPr>
          <p:nvPr/>
        </p:nvSpPr>
        <p:spPr bwMode="auto">
          <a:xfrm>
            <a:off x="2497667" y="1778000"/>
            <a:ext cx="2817283" cy="52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nSpc>
                <a:spcPts val="4484"/>
              </a:lnSpc>
              <a:buFont typeface="Wingdings" panose="05000000000000000000" pitchFamily="2" charset="2"/>
              <a:buChar char="Ø"/>
            </a:pPr>
            <a:r>
              <a:rPr lang="en-US" altLang="en-US" sz="3200" dirty="0">
                <a:solidFill>
                  <a:srgbClr val="222222"/>
                </a:solidFill>
                <a:latin typeface="Times New Roman" panose="02020603050405020304" pitchFamily="18" charset="0"/>
                <a:cs typeface="Times New Roman" panose="02020603050405020304" pitchFamily="18" charset="0"/>
              </a:rPr>
              <a:t>Lecture - 2</a:t>
            </a:r>
          </a:p>
        </p:txBody>
      </p:sp>
      <p:sp>
        <p:nvSpPr>
          <p:cNvPr id="12301" name="TextBox 15"/>
          <p:cNvSpPr txBox="1">
            <a:spLocks noChangeArrowheads="1"/>
          </p:cNvSpPr>
          <p:nvPr/>
        </p:nvSpPr>
        <p:spPr bwMode="auto">
          <a:xfrm>
            <a:off x="2497667" y="2772834"/>
            <a:ext cx="2626783" cy="52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nSpc>
                <a:spcPts val="4484"/>
              </a:lnSpc>
              <a:buFont typeface="Wingdings" panose="05000000000000000000" pitchFamily="2" charset="2"/>
              <a:buChar char="Ø"/>
            </a:pPr>
            <a:r>
              <a:rPr lang="en-US" altLang="en-US" sz="3200" dirty="0">
                <a:solidFill>
                  <a:srgbClr val="222222"/>
                </a:solidFill>
                <a:latin typeface="Times New Roman" panose="02020603050405020304" pitchFamily="18" charset="0"/>
                <a:cs typeface="Times New Roman" panose="02020603050405020304" pitchFamily="18" charset="0"/>
              </a:rPr>
              <a:t>Tutorial - 0</a:t>
            </a:r>
          </a:p>
        </p:txBody>
      </p:sp>
      <p:sp>
        <p:nvSpPr>
          <p:cNvPr id="12302" name="TextBox 16"/>
          <p:cNvSpPr txBox="1">
            <a:spLocks noChangeArrowheads="1"/>
          </p:cNvSpPr>
          <p:nvPr/>
        </p:nvSpPr>
        <p:spPr bwMode="auto">
          <a:xfrm>
            <a:off x="2497667" y="3810000"/>
            <a:ext cx="2626783" cy="52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nSpc>
                <a:spcPts val="4484"/>
              </a:lnSpc>
              <a:buFont typeface="Wingdings" panose="05000000000000000000" pitchFamily="2" charset="2"/>
              <a:buChar char="Ø"/>
            </a:pPr>
            <a:r>
              <a:rPr lang="en-US" altLang="en-US" sz="3200" dirty="0">
                <a:solidFill>
                  <a:srgbClr val="222222"/>
                </a:solidFill>
                <a:latin typeface="Times New Roman" panose="02020603050405020304" pitchFamily="18" charset="0"/>
                <a:cs typeface="Times New Roman" panose="02020603050405020304" pitchFamily="18" charset="0"/>
              </a:rPr>
              <a:t>Practical - 2</a:t>
            </a:r>
          </a:p>
        </p:txBody>
      </p:sp>
      <p:sp>
        <p:nvSpPr>
          <p:cNvPr id="12303" name="TextBox 17"/>
          <p:cNvSpPr txBox="1">
            <a:spLocks noChangeArrowheads="1"/>
          </p:cNvSpPr>
          <p:nvPr/>
        </p:nvSpPr>
        <p:spPr bwMode="auto">
          <a:xfrm>
            <a:off x="2497667" y="4801659"/>
            <a:ext cx="2626783"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nSpc>
                <a:spcPts val="4484"/>
              </a:lnSpc>
              <a:buFont typeface="Wingdings" panose="05000000000000000000" pitchFamily="2" charset="2"/>
              <a:buChar char="Ø"/>
            </a:pPr>
            <a:r>
              <a:rPr lang="en-US" altLang="en-US" sz="3200" dirty="0">
                <a:solidFill>
                  <a:srgbClr val="222222"/>
                </a:solidFill>
                <a:latin typeface="Times New Roman" panose="02020603050405020304" pitchFamily="18" charset="0"/>
                <a:cs typeface="Times New Roman" panose="02020603050405020304" pitchFamily="18" charset="0"/>
              </a:rPr>
              <a:t>Credits</a:t>
            </a:r>
            <a:r>
              <a:rPr lang="en-US" altLang="en-US" sz="3200" dirty="0">
                <a:solidFill>
                  <a:srgbClr val="222222"/>
                </a:solidFill>
                <a:latin typeface="Times Neue Roman" charset="0"/>
              </a:rPr>
              <a:t> - 3 </a:t>
            </a:r>
          </a:p>
        </p:txBody>
      </p:sp>
    </p:spTree>
    <p:extLst>
      <p:ext uri="{BB962C8B-B14F-4D97-AF65-F5344CB8AC3E}">
        <p14:creationId xmlns:p14="http://schemas.microsoft.com/office/powerpoint/2010/main" val="1972666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TextBox 8"/>
          <p:cNvSpPr txBox="1">
            <a:spLocks noChangeArrowheads="1"/>
          </p:cNvSpPr>
          <p:nvPr/>
        </p:nvSpPr>
        <p:spPr bwMode="auto">
          <a:xfrm>
            <a:off x="685800" y="608155"/>
            <a:ext cx="107442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Course outcomes</a:t>
            </a:r>
          </a:p>
        </p:txBody>
      </p:sp>
      <p:sp>
        <p:nvSpPr>
          <p:cNvPr id="13319" name="TextBox 9"/>
          <p:cNvSpPr txBox="1">
            <a:spLocks noChangeArrowheads="1"/>
          </p:cNvSpPr>
          <p:nvPr/>
        </p:nvSpPr>
        <p:spPr bwMode="auto">
          <a:xfrm>
            <a:off x="360218" y="1205345"/>
            <a:ext cx="11405273"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endParaRPr lang="en-US" altLang="en-US" sz="2400" b="1" dirty="0">
              <a:latin typeface="Times Neue Roman"/>
              <a:cs typeface="Times New Roman" panose="02020603050405020304" pitchFamily="18" charset="0"/>
            </a:endParaRPr>
          </a:p>
          <a:p>
            <a:pPr algn="just"/>
            <a:r>
              <a:rPr lang="en-US" altLang="en-US" sz="2400" b="1" dirty="0">
                <a:latin typeface="Times Neue Roman"/>
                <a:cs typeface="Times New Roman" panose="02020603050405020304" pitchFamily="18" charset="0"/>
              </a:rPr>
              <a:t>CO1</a:t>
            </a:r>
            <a:r>
              <a:rPr lang="en-US" altLang="en-US" sz="2400" dirty="0">
                <a:latin typeface="Times Neue Roman"/>
                <a:cs typeface="Times New Roman" panose="02020603050405020304" pitchFamily="18" charset="0"/>
              </a:rPr>
              <a:t> :: </a:t>
            </a:r>
            <a:r>
              <a:rPr lang="en-IN" sz="2400" dirty="0">
                <a:latin typeface="Times Neue Roman"/>
              </a:rPr>
              <a:t>recognize scalable, resilient, and secure Google Kubernetes Engine (GKE) cluster architectures tailored for various application workloads and organizational requirements.</a:t>
            </a:r>
          </a:p>
          <a:p>
            <a:pPr algn="just"/>
            <a:endParaRPr lang="en-IN" altLang="en-US" sz="2400" b="1" dirty="0">
              <a:latin typeface="Times Neue Roman"/>
              <a:cs typeface="Times New Roman" panose="02020603050405020304" pitchFamily="18" charset="0"/>
            </a:endParaRPr>
          </a:p>
          <a:p>
            <a:pPr algn="just"/>
            <a:r>
              <a:rPr lang="en-US" altLang="en-US" sz="2400" b="1" dirty="0">
                <a:latin typeface="Times Neue Roman"/>
                <a:cs typeface="Times New Roman" panose="02020603050405020304" pitchFamily="18" charset="0"/>
              </a:rPr>
              <a:t>CO2</a:t>
            </a:r>
            <a:r>
              <a:rPr lang="en-US" altLang="en-US" sz="2400" dirty="0">
                <a:latin typeface="Times Neue Roman"/>
                <a:cs typeface="Times New Roman" panose="02020603050405020304" pitchFamily="18" charset="0"/>
              </a:rPr>
              <a:t> :: </a:t>
            </a:r>
            <a:r>
              <a:rPr lang="en-IN" sz="2400" dirty="0">
                <a:latin typeface="Times Neue Roman"/>
              </a:rPr>
              <a:t>associate complex, containerized applications onto GKE clusters, utilizing advanced deployment strategies, service mesh technologies, and workload orchestration techniques.</a:t>
            </a:r>
          </a:p>
          <a:p>
            <a:pPr algn="just"/>
            <a:endParaRPr lang="en-US" altLang="en-US" sz="2400" dirty="0">
              <a:latin typeface="Times Neue Roman"/>
              <a:cs typeface="Times New Roman" panose="02020603050405020304" pitchFamily="18" charset="0"/>
            </a:endParaRPr>
          </a:p>
          <a:p>
            <a:pPr algn="just"/>
            <a:r>
              <a:rPr lang="en-US" altLang="en-US" sz="2400" b="1" dirty="0">
                <a:latin typeface="Times Neue Roman"/>
                <a:cs typeface="Times New Roman" panose="02020603050405020304" pitchFamily="18" charset="0"/>
              </a:rPr>
              <a:t>CO3</a:t>
            </a:r>
            <a:r>
              <a:rPr lang="en-US" altLang="en-US" sz="2400" dirty="0">
                <a:latin typeface="Times Neue Roman"/>
                <a:cs typeface="Times New Roman" panose="02020603050405020304" pitchFamily="18" charset="0"/>
              </a:rPr>
              <a:t> ::</a:t>
            </a:r>
            <a:r>
              <a:rPr lang="en-IN" sz="2400" dirty="0">
                <a:latin typeface="Times Neue Roman"/>
              </a:rPr>
              <a:t>indicate robust network policies, authentication (IAM), authorization, and security best practices within GKE environments to protect cluster resources and deployed applications.</a:t>
            </a:r>
          </a:p>
          <a:p>
            <a:pPr algn="just"/>
            <a:endParaRPr lang="en-US" altLang="en-US" sz="2400" b="1" dirty="0">
              <a:latin typeface="Times Neue Roman"/>
              <a:cs typeface="Times New Roman" panose="02020603050405020304" pitchFamily="18" charset="0"/>
            </a:endParaRPr>
          </a:p>
          <a:p>
            <a:pPr algn="just"/>
            <a:r>
              <a:rPr lang="en-US" altLang="en-US" sz="2400" b="1" dirty="0">
                <a:latin typeface="Times Neue Roman"/>
                <a:cs typeface="Times New Roman" panose="02020603050405020304" pitchFamily="18" charset="0"/>
              </a:rPr>
              <a:t>CO4</a:t>
            </a:r>
            <a:r>
              <a:rPr lang="en-US" altLang="en-US" sz="2400" dirty="0">
                <a:latin typeface="Times Neue Roman"/>
                <a:cs typeface="Times New Roman" panose="02020603050405020304" pitchFamily="18" charset="0"/>
              </a:rPr>
              <a:t> ::</a:t>
            </a:r>
            <a:r>
              <a:rPr lang="en-IN" sz="2400" dirty="0">
                <a:latin typeface="Times Neue Roman"/>
              </a:rPr>
              <a:t>apply the core concepts of logging, monitoring, and tracing, and their strategic importance for achieving comprehensive application observability on Google Cloud.</a:t>
            </a:r>
            <a:endParaRPr lang="en-US" sz="2400" dirty="0">
              <a:latin typeface="Times Neue Roman"/>
              <a:cs typeface="Times New Roman" panose="02020603050405020304" pitchFamily="18" charset="0"/>
              <a:sym typeface="Inter"/>
            </a:endParaRPr>
          </a:p>
          <a:p>
            <a:pPr algn="just"/>
            <a:endParaRPr lang="en-US" altLang="en-US" sz="2400" dirty="0">
              <a:latin typeface="Times Neue Roman"/>
              <a:cs typeface="Times New Roman" panose="02020603050405020304" pitchFamily="18" charset="0"/>
            </a:endParaRPr>
          </a:p>
          <a:p>
            <a:pPr algn="just"/>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317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9B78E-F898-509E-D2BC-FF2182717CC2}"/>
            </a:ext>
          </a:extLst>
        </p:cNvPr>
        <p:cNvGrpSpPr/>
        <p:nvPr/>
      </p:nvGrpSpPr>
      <p:grpSpPr>
        <a:xfrm>
          <a:off x="0" y="0"/>
          <a:ext cx="0" cy="0"/>
          <a:chOff x="0" y="0"/>
          <a:chExt cx="0" cy="0"/>
        </a:xfrm>
      </p:grpSpPr>
      <p:sp>
        <p:nvSpPr>
          <p:cNvPr id="13318" name="TextBox 8">
            <a:extLst>
              <a:ext uri="{FF2B5EF4-FFF2-40B4-BE49-F238E27FC236}">
                <a16:creationId xmlns:a16="http://schemas.microsoft.com/office/drawing/2014/main" id="{F4A99A42-5703-88FE-EEC2-532CA1FE589D}"/>
              </a:ext>
            </a:extLst>
          </p:cNvPr>
          <p:cNvSpPr txBox="1">
            <a:spLocks noChangeArrowheads="1"/>
          </p:cNvSpPr>
          <p:nvPr/>
        </p:nvSpPr>
        <p:spPr bwMode="auto">
          <a:xfrm>
            <a:off x="685800" y="608154"/>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Course outcomes</a:t>
            </a:r>
          </a:p>
        </p:txBody>
      </p:sp>
      <p:sp>
        <p:nvSpPr>
          <p:cNvPr id="13319" name="TextBox 9">
            <a:extLst>
              <a:ext uri="{FF2B5EF4-FFF2-40B4-BE49-F238E27FC236}">
                <a16:creationId xmlns:a16="http://schemas.microsoft.com/office/drawing/2014/main" id="{7B813998-6359-D2D6-3E10-CD992F5AAAB4}"/>
              </a:ext>
            </a:extLst>
          </p:cNvPr>
          <p:cNvSpPr txBox="1">
            <a:spLocks noChangeArrowheads="1"/>
          </p:cNvSpPr>
          <p:nvPr/>
        </p:nvSpPr>
        <p:spPr bwMode="auto">
          <a:xfrm>
            <a:off x="426508" y="1364771"/>
            <a:ext cx="11338983"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b="1" dirty="0">
                <a:latin typeface="Times Neue Roman"/>
                <a:cs typeface="Times New Roman" panose="02020603050405020304" pitchFamily="18" charset="0"/>
              </a:rPr>
              <a:t>CO5</a:t>
            </a:r>
            <a:r>
              <a:rPr lang="en-US" altLang="en-US" sz="2400" dirty="0">
                <a:latin typeface="Times Neue Roman"/>
                <a:cs typeface="Times New Roman" panose="02020603050405020304" pitchFamily="18" charset="0"/>
              </a:rPr>
              <a:t> ::</a:t>
            </a:r>
            <a:r>
              <a:rPr lang="en-IN" sz="2400" dirty="0">
                <a:latin typeface="Times Neue Roman"/>
              </a:rPr>
              <a:t>articulate comprehensive monitoring dashboards, alerting policies, and custom metrics using Cloud Monitoring to effectively track the health and performance of Google Cloud resources and applications.</a:t>
            </a:r>
          </a:p>
          <a:p>
            <a:pPr algn="just"/>
            <a:endParaRPr lang="en-US" altLang="en-US" sz="2400" spc="-62" dirty="0">
              <a:solidFill>
                <a:srgbClr val="000000"/>
              </a:solidFill>
              <a:latin typeface="Times Neue Roman"/>
              <a:ea typeface="Inter"/>
              <a:cs typeface="Times New Roman" panose="02020603050405020304" pitchFamily="18" charset="0"/>
              <a:sym typeface="Inter"/>
            </a:endParaRPr>
          </a:p>
          <a:p>
            <a:pPr algn="just"/>
            <a:r>
              <a:rPr lang="en-US" altLang="en-US" sz="2400" b="1" dirty="0">
                <a:latin typeface="Times Neue Roman"/>
                <a:cs typeface="Times New Roman" panose="02020603050405020304" pitchFamily="18" charset="0"/>
              </a:rPr>
              <a:t>CO6</a:t>
            </a:r>
            <a:r>
              <a:rPr lang="en-US" altLang="en-US" sz="2400" dirty="0">
                <a:latin typeface="Times Neue Roman"/>
                <a:cs typeface="Times New Roman" panose="02020603050405020304" pitchFamily="18" charset="0"/>
              </a:rPr>
              <a:t> ::</a:t>
            </a:r>
            <a:r>
              <a:rPr lang="en-IN" sz="2400" dirty="0">
                <a:latin typeface="Times Neue Roman"/>
              </a:rPr>
              <a:t>evaluate logs and traces across distributed systems using Cloud Logging, Log Analytics, and Cloud Trace to diagnose issues, understand system </a:t>
            </a:r>
            <a:r>
              <a:rPr lang="en-IN" sz="2400" dirty="0" err="1">
                <a:latin typeface="Times Neue Roman"/>
              </a:rPr>
              <a:t>behavior</a:t>
            </a:r>
            <a:r>
              <a:rPr lang="en-IN" sz="2400" dirty="0">
                <a:latin typeface="Times Neue Roman"/>
              </a:rPr>
              <a:t>, and proactively improve application reliability and performance.</a:t>
            </a:r>
            <a:endParaRPr lang="en-US" altLang="en-US" sz="2400" dirty="0">
              <a:latin typeface="Times Neue Roman"/>
              <a:cs typeface="Times New Roman" panose="02020603050405020304" pitchFamily="18" charset="0"/>
            </a:endParaRPr>
          </a:p>
        </p:txBody>
      </p:sp>
    </p:spTree>
    <p:extLst>
      <p:ext uri="{BB962C8B-B14F-4D97-AF65-F5344CB8AC3E}">
        <p14:creationId xmlns:p14="http://schemas.microsoft.com/office/powerpoint/2010/main" val="190707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Box 8"/>
          <p:cNvSpPr txBox="1">
            <a:spLocks noChangeArrowheads="1"/>
          </p:cNvSpPr>
          <p:nvPr/>
        </p:nvSpPr>
        <p:spPr bwMode="auto">
          <a:xfrm>
            <a:off x="464975" y="602814"/>
            <a:ext cx="11262049" cy="70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800" b="1" dirty="0">
                <a:latin typeface="Times New Roman" panose="02020603050405020304" pitchFamily="18" charset="0"/>
                <a:cs typeface="Times New Roman" panose="02020603050405020304" pitchFamily="18" charset="0"/>
              </a:rPr>
              <a:t>Unit Wise Breakdown</a:t>
            </a:r>
            <a:endParaRPr lang="en-US" altLang="en-US" sz="4800" b="1" dirty="0">
              <a:solidFill>
                <a:srgbClr val="222222"/>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300083" y="792507"/>
            <a:ext cx="11262049" cy="5576976"/>
          </a:xfrm>
          <a:prstGeom prst="rect">
            <a:avLst/>
          </a:prstGeom>
          <a:noFill/>
        </p:spPr>
        <p:txBody>
          <a:bodyPr wrap="square" rtlCol="0">
            <a:spAutoFit/>
          </a:bodyPr>
          <a:lstStyle/>
          <a:p>
            <a:pPr algn="just">
              <a:lnSpc>
                <a:spcPct val="150000"/>
              </a:lnSpc>
            </a:pPr>
            <a:endParaRPr lang="en-US" sz="2000" b="1" dirty="0">
              <a:latin typeface="Times New Roman" panose="02020603050405020304" pitchFamily="18" charset="0"/>
              <a:ea typeface="Open Sans" panose="020B0604020202020204" pitchFamily="34" charset="0"/>
              <a:cs typeface="Times New Roman" panose="02020603050405020304" pitchFamily="18" charset="0"/>
            </a:endParaRPr>
          </a:p>
          <a:p>
            <a:pPr algn="just">
              <a:lnSpc>
                <a:spcPct val="150000"/>
              </a:lnSpc>
            </a:pPr>
            <a:r>
              <a:rPr lang="en-US" sz="2000" b="1" u="sng" dirty="0">
                <a:latin typeface="Times Neue Roman"/>
                <a:ea typeface="Open Sans" panose="020B0604020202020204" pitchFamily="34" charset="0"/>
                <a:cs typeface="Times New Roman" panose="02020603050405020304" pitchFamily="18" charset="0"/>
              </a:rPr>
              <a:t>Unit 1: </a:t>
            </a:r>
            <a:endParaRPr lang="en-US" sz="2000" u="sng" dirty="0">
              <a:latin typeface="Times Neue Roman"/>
              <a:ea typeface="Open Sans" panose="020B0604020202020204" pitchFamily="34" charset="0"/>
              <a:cs typeface="Times New Roman" panose="02020603050405020304" pitchFamily="18" charset="0"/>
            </a:endParaRPr>
          </a:p>
          <a:p>
            <a:pPr algn="just">
              <a:lnSpc>
                <a:spcPct val="150000"/>
              </a:lnSpc>
            </a:pPr>
            <a:r>
              <a:rPr lang="en-IN" sz="2000" b="1" dirty="0">
                <a:latin typeface="Times Neue Roman"/>
              </a:rPr>
              <a:t>Kubernetes Operations :</a:t>
            </a:r>
            <a:r>
              <a:rPr lang="en-IN" sz="2000" dirty="0">
                <a:latin typeface="Times Neue Roman"/>
              </a:rPr>
              <a:t> Introduction to Containers, Introduction to Kubernetes and GKE, Kubernetes Architecture, Inspect the cluster and Pods, View a Pod’s console output, Sign in to a Pod interactively, Introspection </a:t>
            </a:r>
          </a:p>
          <a:p>
            <a:pPr algn="just">
              <a:lnSpc>
                <a:spcPct val="150000"/>
              </a:lnSpc>
            </a:pPr>
            <a:r>
              <a:rPr lang="en-IN" sz="2000" b="1" dirty="0">
                <a:latin typeface="Times Neue Roman"/>
              </a:rPr>
              <a:t>Deployments, Jobs, and Scaling : </a:t>
            </a:r>
            <a:r>
              <a:rPr lang="en-IN" sz="2000" dirty="0">
                <a:latin typeface="Times Neue Roman"/>
              </a:rPr>
              <a:t>Deployments, Jobs and </a:t>
            </a:r>
            <a:r>
              <a:rPr lang="en-IN" sz="2000" dirty="0" err="1">
                <a:latin typeface="Times Neue Roman"/>
              </a:rPr>
              <a:t>CronJobs</a:t>
            </a:r>
            <a:r>
              <a:rPr lang="en-IN" sz="2000" dirty="0">
                <a:latin typeface="Times Neue Roman"/>
              </a:rPr>
              <a:t>, Cluster Scaling, Controlling Pod Placement, Getting Software into Your Cluster</a:t>
            </a:r>
            <a:endParaRPr lang="en-US" sz="2000" dirty="0">
              <a:latin typeface="Times Neue Roman"/>
              <a:cs typeface="Times New Roman" panose="02020603050405020304" pitchFamily="18" charset="0"/>
            </a:endParaRPr>
          </a:p>
          <a:p>
            <a:pPr algn="just">
              <a:lnSpc>
                <a:spcPct val="150000"/>
              </a:lnSpc>
            </a:pPr>
            <a:endParaRPr lang="en-US" sz="2000" dirty="0">
              <a:latin typeface="Times Neue Roman"/>
              <a:cs typeface="Times New Roman" panose="02020603050405020304" pitchFamily="18" charset="0"/>
            </a:endParaRPr>
          </a:p>
          <a:p>
            <a:pPr algn="just">
              <a:lnSpc>
                <a:spcPct val="150000"/>
              </a:lnSpc>
            </a:pPr>
            <a:r>
              <a:rPr lang="en-US" sz="2000" b="1" u="sng" dirty="0">
                <a:latin typeface="Times Neue Roman"/>
                <a:ea typeface="Open Sans" panose="020B0604020202020204" pitchFamily="34" charset="0"/>
                <a:cs typeface="Times New Roman" panose="02020603050405020304" pitchFamily="18" charset="0"/>
              </a:rPr>
              <a:t>Unit 2:</a:t>
            </a:r>
            <a:endParaRPr lang="en-US" sz="2000" u="sng" dirty="0">
              <a:latin typeface="Times Neue Roman"/>
              <a:ea typeface="Open Sans" panose="020B0604020202020204" pitchFamily="34" charset="0"/>
              <a:cs typeface="Times New Roman" panose="02020603050405020304" pitchFamily="18" charset="0"/>
            </a:endParaRPr>
          </a:p>
          <a:p>
            <a:pPr algn="just">
              <a:lnSpc>
                <a:spcPct val="150000"/>
              </a:lnSpc>
            </a:pPr>
            <a:r>
              <a:rPr lang="en-IN" sz="2000" b="1" dirty="0">
                <a:latin typeface="Times Neue Roman"/>
              </a:rPr>
              <a:t>Google Kubernetes Engine (GKE) Networking : </a:t>
            </a:r>
            <a:r>
              <a:rPr lang="en-IN" sz="2000" dirty="0">
                <a:latin typeface="Times Neue Roman"/>
              </a:rPr>
              <a:t>Pod Networking, Services, Service Types and Load Balancers, Ingress Resource, Container-Native Load Balancing, Network Security</a:t>
            </a:r>
          </a:p>
          <a:p>
            <a:pPr algn="just">
              <a:lnSpc>
                <a:spcPct val="150000"/>
              </a:lnSpc>
            </a:pPr>
            <a:r>
              <a:rPr lang="en-IN" sz="2000" dirty="0">
                <a:latin typeface="Times Neue Roman"/>
              </a:rPr>
              <a:t> </a:t>
            </a:r>
            <a:r>
              <a:rPr lang="en-IN" sz="2000" b="1" dirty="0">
                <a:latin typeface="Times Neue Roman"/>
              </a:rPr>
              <a:t>Persistent Data and Storage : </a:t>
            </a:r>
            <a:r>
              <a:rPr lang="en-IN" sz="2000" dirty="0">
                <a:latin typeface="Times Neue Roman"/>
              </a:rPr>
              <a:t>Volumes, </a:t>
            </a:r>
            <a:r>
              <a:rPr lang="en-IN" sz="2000" dirty="0" err="1">
                <a:latin typeface="Times Neue Roman"/>
              </a:rPr>
              <a:t>StatefulSets</a:t>
            </a:r>
            <a:r>
              <a:rPr lang="en-IN" sz="2000" dirty="0">
                <a:latin typeface="Times Neue Roman"/>
              </a:rPr>
              <a:t>, </a:t>
            </a:r>
            <a:r>
              <a:rPr lang="en-IN" sz="2000" dirty="0" err="1">
                <a:latin typeface="Times Neue Roman"/>
              </a:rPr>
              <a:t>ConfigMaps</a:t>
            </a:r>
            <a:r>
              <a:rPr lang="en-IN" sz="2000" dirty="0">
                <a:latin typeface="Times Neue Roman"/>
              </a:rPr>
              <a:t>, Secrets</a:t>
            </a:r>
            <a:endParaRPr lang="en-US" sz="2000" dirty="0">
              <a:latin typeface="Times Neue Roman"/>
              <a:cs typeface="Times New Roman" panose="02020603050405020304" pitchFamily="18" charset="0"/>
            </a:endParaRPr>
          </a:p>
        </p:txBody>
      </p:sp>
    </p:spTree>
    <p:extLst>
      <p:ext uri="{BB962C8B-B14F-4D97-AF65-F5344CB8AC3E}">
        <p14:creationId xmlns:p14="http://schemas.microsoft.com/office/powerpoint/2010/main" val="1338630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Box 8"/>
          <p:cNvSpPr txBox="1">
            <a:spLocks noChangeArrowheads="1"/>
          </p:cNvSpPr>
          <p:nvPr/>
        </p:nvSpPr>
        <p:spPr bwMode="auto">
          <a:xfrm>
            <a:off x="469208" y="638658"/>
            <a:ext cx="11262049" cy="70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800" b="1" dirty="0">
                <a:latin typeface="Times New Roman" panose="02020603050405020304" pitchFamily="18" charset="0"/>
                <a:cs typeface="Times New Roman" panose="02020603050405020304" pitchFamily="18" charset="0"/>
              </a:rPr>
              <a:t>Unit Wise Breakdown</a:t>
            </a:r>
            <a:endParaRPr lang="en-US" altLang="en-US" sz="4800" b="1" dirty="0">
              <a:solidFill>
                <a:srgbClr val="222222"/>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345054" y="1518154"/>
            <a:ext cx="11262049" cy="4191981"/>
          </a:xfrm>
          <a:prstGeom prst="rect">
            <a:avLst/>
          </a:prstGeom>
          <a:noFill/>
        </p:spPr>
        <p:txBody>
          <a:bodyPr wrap="square" rtlCol="0">
            <a:spAutoFit/>
          </a:bodyPr>
          <a:lstStyle/>
          <a:p>
            <a:pPr algn="just">
              <a:lnSpc>
                <a:spcPct val="150000"/>
              </a:lnSpc>
            </a:pPr>
            <a:r>
              <a:rPr lang="en-US" sz="2000" b="1" u="sng" dirty="0">
                <a:latin typeface="Times Neue Roman"/>
                <a:ea typeface="Open Sans" panose="020B0604020202020204" pitchFamily="34" charset="0"/>
                <a:cs typeface="Times New Roman" panose="02020603050405020304" pitchFamily="18" charset="0"/>
              </a:rPr>
              <a:t>Unit 3: </a:t>
            </a:r>
            <a:endParaRPr lang="en-US" sz="2000" u="sng" dirty="0">
              <a:latin typeface="Times Neue Roman"/>
              <a:ea typeface="Open Sans" panose="020B0604020202020204" pitchFamily="34" charset="0"/>
              <a:cs typeface="Times New Roman" panose="02020603050405020304" pitchFamily="18" charset="0"/>
            </a:endParaRPr>
          </a:p>
          <a:p>
            <a:pPr algn="just">
              <a:lnSpc>
                <a:spcPct val="150000"/>
              </a:lnSpc>
            </a:pPr>
            <a:r>
              <a:rPr lang="en-IN" sz="2000" b="1" dirty="0">
                <a:latin typeface="Times Neue Roman"/>
              </a:rPr>
              <a:t>Access Control and Security in Kubernetes and Google: </a:t>
            </a:r>
            <a:r>
              <a:rPr lang="en-IN" sz="2000" dirty="0">
                <a:latin typeface="Times Neue Roman"/>
              </a:rPr>
              <a:t>Kubernetes Engine (GKE), Authentication and Authorization, Cloud IAM, Kubernetes RBAC, Kubernetes Control Plane Security, Pod Security</a:t>
            </a:r>
            <a:endParaRPr lang="en-US" sz="2000" dirty="0">
              <a:latin typeface="Times Neue Roman"/>
              <a:cs typeface="Times New Roman" panose="02020603050405020304" pitchFamily="18" charset="0"/>
            </a:endParaRPr>
          </a:p>
          <a:p>
            <a:pPr algn="just">
              <a:lnSpc>
                <a:spcPct val="150000"/>
              </a:lnSpc>
            </a:pPr>
            <a:endParaRPr lang="en-US" sz="2000" dirty="0">
              <a:latin typeface="Times Neue Roman"/>
              <a:cs typeface="Times New Roman" panose="02020603050405020304" pitchFamily="18" charset="0"/>
            </a:endParaRPr>
          </a:p>
          <a:p>
            <a:pPr algn="just">
              <a:lnSpc>
                <a:spcPct val="150000"/>
              </a:lnSpc>
            </a:pPr>
            <a:r>
              <a:rPr lang="en-US" sz="2000" b="1" u="sng" dirty="0">
                <a:latin typeface="Times Neue Roman"/>
                <a:ea typeface="Open Sans" panose="020B0604020202020204" pitchFamily="34" charset="0"/>
                <a:cs typeface="Times New Roman" panose="02020603050405020304" pitchFamily="18" charset="0"/>
              </a:rPr>
              <a:t>Unit 4: </a:t>
            </a:r>
          </a:p>
          <a:p>
            <a:pPr>
              <a:lnSpc>
                <a:spcPct val="150000"/>
              </a:lnSpc>
            </a:pPr>
            <a:r>
              <a:rPr lang="en-IN" sz="2000" b="1" dirty="0">
                <a:latin typeface="Times Neue Roman"/>
              </a:rPr>
              <a:t>Google Kubernetes Engine (GKE) Logging and Monitoring: </a:t>
            </a:r>
            <a:r>
              <a:rPr lang="en-IN" sz="2000" dirty="0">
                <a:latin typeface="Times Neue Roman"/>
              </a:rPr>
              <a:t>Stack driver, Logging, Monitoring, Probes, Monitoring and Logging </a:t>
            </a:r>
          </a:p>
          <a:p>
            <a:pPr>
              <a:lnSpc>
                <a:spcPct val="150000"/>
              </a:lnSpc>
            </a:pPr>
            <a:r>
              <a:rPr lang="en-IN" sz="2000" b="1" dirty="0">
                <a:latin typeface="Times Neue Roman"/>
              </a:rPr>
              <a:t>Using GCP Managed Storage Services :</a:t>
            </a:r>
            <a:r>
              <a:rPr lang="en-IN" sz="2000" dirty="0">
                <a:latin typeface="Times Neue Roman"/>
              </a:rPr>
              <a:t> Kubernetes Engine (GKE), Using GCP Services, Using Cloud Storage, Using GCP Databases</a:t>
            </a:r>
            <a:endParaRPr lang="en-US" sz="2000" u="sng" dirty="0">
              <a:latin typeface="Times Neue Roman"/>
              <a:ea typeface="Open Sans"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41789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Box 8"/>
          <p:cNvSpPr txBox="1">
            <a:spLocks noChangeArrowheads="1"/>
          </p:cNvSpPr>
          <p:nvPr/>
        </p:nvSpPr>
        <p:spPr bwMode="auto">
          <a:xfrm>
            <a:off x="688906" y="626457"/>
            <a:ext cx="10814181" cy="70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800" b="1" dirty="0">
                <a:latin typeface="Times New Roman" panose="02020603050405020304" pitchFamily="18" charset="0"/>
                <a:cs typeface="Times New Roman" panose="02020603050405020304" pitchFamily="18" charset="0"/>
              </a:rPr>
              <a:t>Unit Wise Breakdown</a:t>
            </a:r>
            <a:endParaRPr lang="en-US" altLang="en-US" sz="4800" b="1" dirty="0">
              <a:solidFill>
                <a:srgbClr val="222222"/>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 y="1777073"/>
            <a:ext cx="12191999" cy="4191981"/>
          </a:xfrm>
          <a:prstGeom prst="rect">
            <a:avLst/>
          </a:prstGeom>
          <a:noFill/>
        </p:spPr>
        <p:txBody>
          <a:bodyPr wrap="square" rtlCol="0">
            <a:spAutoFit/>
          </a:bodyPr>
          <a:lstStyle/>
          <a:p>
            <a:pPr algn="just">
              <a:lnSpc>
                <a:spcPct val="150000"/>
              </a:lnSpc>
            </a:pPr>
            <a:r>
              <a:rPr lang="en-US" sz="2000" b="1" u="sng" dirty="0">
                <a:latin typeface="Times Neue Roman"/>
                <a:ea typeface="Open Sans" panose="020B0604020202020204" pitchFamily="34" charset="0"/>
                <a:cs typeface="Times New Roman" panose="02020603050405020304" pitchFamily="18" charset="0"/>
              </a:rPr>
              <a:t>Unit 5: </a:t>
            </a:r>
            <a:endParaRPr lang="en-US" sz="2000" u="sng" dirty="0">
              <a:latin typeface="Times Neue Roman"/>
              <a:ea typeface="Open Sans" panose="020B0604020202020204" pitchFamily="34" charset="0"/>
              <a:cs typeface="Times New Roman" panose="02020603050405020304" pitchFamily="18" charset="0"/>
            </a:endParaRPr>
          </a:p>
          <a:p>
            <a:pPr>
              <a:lnSpc>
                <a:spcPct val="150000"/>
              </a:lnSpc>
            </a:pPr>
            <a:r>
              <a:rPr lang="en-IN" sz="2000" b="1" dirty="0">
                <a:latin typeface="Times Neue Roman"/>
              </a:rPr>
              <a:t>Introduction to Google Cloud Monitoring Tools :</a:t>
            </a:r>
            <a:r>
              <a:rPr lang="en-IN" sz="2000" dirty="0">
                <a:latin typeface="Times Neue Roman"/>
              </a:rPr>
              <a:t> Overview of Google Cloud Monitoring Tools, Operations-Based Tools, Application Performance Management Tools</a:t>
            </a:r>
          </a:p>
          <a:p>
            <a:pPr>
              <a:lnSpc>
                <a:spcPct val="150000"/>
              </a:lnSpc>
            </a:pPr>
            <a:endParaRPr lang="en-US" sz="2000" dirty="0">
              <a:latin typeface="Times Neue Roman"/>
              <a:cs typeface="Times New Roman" panose="02020603050405020304" pitchFamily="18" charset="0"/>
            </a:endParaRPr>
          </a:p>
          <a:p>
            <a:pPr algn="just">
              <a:lnSpc>
                <a:spcPct val="150000"/>
              </a:lnSpc>
            </a:pPr>
            <a:r>
              <a:rPr lang="en-US" sz="2000" b="1" u="sng" dirty="0">
                <a:latin typeface="Times Neue Roman"/>
                <a:ea typeface="Open Sans" panose="020B0604020202020204" pitchFamily="34" charset="0"/>
                <a:cs typeface="Times New Roman" panose="02020603050405020304" pitchFamily="18" charset="0"/>
              </a:rPr>
              <a:t>Unit 6: </a:t>
            </a:r>
          </a:p>
          <a:p>
            <a:pPr algn="just">
              <a:lnSpc>
                <a:spcPct val="150000"/>
              </a:lnSpc>
            </a:pPr>
            <a:r>
              <a:rPr lang="en-IN" sz="2000" b="1" dirty="0">
                <a:latin typeface="Times Neue Roman"/>
              </a:rPr>
              <a:t>Avoiding Customer Pain :</a:t>
            </a:r>
            <a:r>
              <a:rPr lang="en-IN" sz="2000" dirty="0">
                <a:latin typeface="Times Neue Roman"/>
              </a:rPr>
              <a:t> Critical Measures, Four Golden Signals, SLIs, SLOs, SLAs, Specifying SLIs, Developing SLOs and SLIs </a:t>
            </a:r>
          </a:p>
          <a:p>
            <a:pPr algn="just">
              <a:lnSpc>
                <a:spcPct val="150000"/>
              </a:lnSpc>
            </a:pPr>
            <a:r>
              <a:rPr lang="en-IN" sz="2000" b="1" dirty="0">
                <a:latin typeface="Times Neue Roman"/>
              </a:rPr>
              <a:t>Alerting Policies : </a:t>
            </a:r>
            <a:r>
              <a:rPr lang="en-IN" sz="2000" dirty="0">
                <a:latin typeface="Times Neue Roman"/>
              </a:rPr>
              <a:t>Developing an Alerting Strategy, Creating Alerts, Creating Alerting Policies with the CLI, Service Monitoring</a:t>
            </a:r>
            <a:endParaRPr lang="en-US" sz="2000" dirty="0">
              <a:latin typeface="Times Neue Roman"/>
              <a:cs typeface="Times New Roman" panose="02020603050405020304" pitchFamily="18" charset="0"/>
            </a:endParaRPr>
          </a:p>
        </p:txBody>
      </p:sp>
    </p:spTree>
    <p:extLst>
      <p:ext uri="{BB962C8B-B14F-4D97-AF65-F5344CB8AC3E}">
        <p14:creationId xmlns:p14="http://schemas.microsoft.com/office/powerpoint/2010/main" val="4252886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9">
            <a:extLst>
              <a:ext uri="{FF2B5EF4-FFF2-40B4-BE49-F238E27FC236}">
                <a16:creationId xmlns:a16="http://schemas.microsoft.com/office/drawing/2014/main" id="{A0AB20AD-8283-57D6-687F-0CC3DEDF4E9F}"/>
              </a:ext>
            </a:extLst>
          </p:cNvPr>
          <p:cNvSpPr txBox="1">
            <a:spLocks noChangeArrowheads="1"/>
          </p:cNvSpPr>
          <p:nvPr/>
        </p:nvSpPr>
        <p:spPr bwMode="auto">
          <a:xfrm>
            <a:off x="333807" y="1245796"/>
            <a:ext cx="11524385" cy="501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PO1:</a:t>
            </a:r>
            <a:r>
              <a:rPr lang="en-US" altLang="en-US" dirty="0">
                <a:solidFill>
                  <a:srgbClr val="222222"/>
                </a:solidFill>
                <a:latin typeface="Times New Roman" panose="02020603050405020304" pitchFamily="18" charset="0"/>
                <a:cs typeface="Times New Roman" panose="02020603050405020304" pitchFamily="18" charset="0"/>
              </a:rPr>
              <a:t> </a:t>
            </a:r>
            <a:r>
              <a:rPr lang="en-US" altLang="en-US" b="1" dirty="0">
                <a:solidFill>
                  <a:srgbClr val="222222"/>
                </a:solidFill>
                <a:latin typeface="Times New Roman" panose="02020603050405020304" pitchFamily="18" charset="0"/>
                <a:cs typeface="Times New Roman" panose="02020603050405020304" pitchFamily="18" charset="0"/>
              </a:rPr>
              <a:t>Engineering knowledge </a:t>
            </a:r>
            <a:r>
              <a:rPr lang="en-US" altLang="en-US" dirty="0">
                <a:solidFill>
                  <a:srgbClr val="222222"/>
                </a:solidFill>
                <a:latin typeface="Times New Roman" panose="02020603050405020304" pitchFamily="18" charset="0"/>
                <a:cs typeface="Times New Roman" panose="02020603050405020304" pitchFamily="18" charset="0"/>
              </a:rPr>
              <a:t>-Apply the knowledge of mathematics, science, engineering fundamentals, and an engineering specialization to the solution of complex engineering problems.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PO2: Problem analysis </a:t>
            </a:r>
            <a:r>
              <a:rPr lang="en-US" altLang="en-US" dirty="0">
                <a:solidFill>
                  <a:srgbClr val="222222"/>
                </a:solidFill>
                <a:latin typeface="Times New Roman" panose="02020603050405020304" pitchFamily="18" charset="0"/>
                <a:cs typeface="Times New Roman" panose="02020603050405020304" pitchFamily="18" charset="0"/>
              </a:rPr>
              <a:t>-Identify, formulate, research literature, and analyze complex engineering problems reaching substantiated conclusions using first principles of mathematics, natural sciences, and engineering sciences.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PO3:</a:t>
            </a:r>
            <a:r>
              <a:rPr lang="en-US" altLang="en-US" dirty="0">
                <a:solidFill>
                  <a:srgbClr val="222222"/>
                </a:solidFill>
                <a:latin typeface="Times New Roman" panose="02020603050405020304" pitchFamily="18" charset="0"/>
                <a:cs typeface="Times New Roman" panose="02020603050405020304" pitchFamily="18" charset="0"/>
              </a:rPr>
              <a:t> </a:t>
            </a:r>
            <a:r>
              <a:rPr lang="en-US" altLang="en-US" b="1" dirty="0">
                <a:solidFill>
                  <a:srgbClr val="222222"/>
                </a:solidFill>
                <a:latin typeface="Times New Roman" panose="02020603050405020304" pitchFamily="18" charset="0"/>
                <a:cs typeface="Times New Roman" panose="02020603050405020304" pitchFamily="18" charset="0"/>
              </a:rPr>
              <a:t>Design/development of solutions-Design </a:t>
            </a:r>
            <a:r>
              <a:rPr lang="en-US" altLang="en-US" dirty="0">
                <a:solidFill>
                  <a:srgbClr val="222222"/>
                </a:solidFill>
                <a:latin typeface="Times New Roman" panose="02020603050405020304" pitchFamily="18" charset="0"/>
                <a:cs typeface="Times New Roman" panose="02020603050405020304" pitchFamily="18" charset="0"/>
              </a:rPr>
              <a:t>solutions for complex engineering problems and design system components or processes that meet the specified needs with appropriate consideration for the public health and safety, and the cultural, societal, and environmental considerations.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PO4: </a:t>
            </a:r>
            <a:r>
              <a:rPr lang="en-US" b="1" dirty="0">
                <a:solidFill>
                  <a:srgbClr val="222222"/>
                </a:solidFill>
                <a:latin typeface="Times New Roman" panose="02020603050405020304" pitchFamily="18" charset="0"/>
                <a:ea typeface="Open Sans"/>
                <a:cs typeface="Times New Roman" panose="02020603050405020304" pitchFamily="18" charset="0"/>
                <a:sym typeface="Open Sans"/>
              </a:rPr>
              <a:t>The Engineer and Society -</a:t>
            </a:r>
            <a:r>
              <a:rPr lang="en-US" dirty="0">
                <a:solidFill>
                  <a:srgbClr val="222222"/>
                </a:solidFill>
                <a:latin typeface="Times New Roman" panose="02020603050405020304" pitchFamily="18" charset="0"/>
                <a:ea typeface="Open Sans"/>
                <a:cs typeface="Times New Roman" panose="02020603050405020304" pitchFamily="18" charset="0"/>
                <a:sym typeface="Open Sans"/>
              </a:rPr>
              <a:t>Apply reasoning informed by the contextual knowledge to assess societal, health, safety, legal and cultural issues and the consequent responsibilities relevant to the professional engineering practice.</a:t>
            </a:r>
            <a:endParaRPr lang="en-US" altLang="en-US" dirty="0">
              <a:solidFill>
                <a:srgbClr val="222222"/>
              </a:solidFill>
              <a:latin typeface="Times New Roman" panose="02020603050405020304" pitchFamily="18" charset="0"/>
              <a:cs typeface="Times New Roman" panose="02020603050405020304" pitchFamily="18" charset="0"/>
            </a:endParaRP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PO5: </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Environment and sustainability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-Understand the impact of the professional engineering solutions in societal and environmental contexts, and demonstrate the knowledge of, and need for sustainable development.</a:t>
            </a:r>
            <a:endParaRPr lang="en-US" altLang="en-US"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CEBA81-A663-12A7-A5CA-A74752791D45}"/>
              </a:ext>
            </a:extLst>
          </p:cNvPr>
          <p:cNvSpPr txBox="1">
            <a:spLocks noChangeArrowheads="1"/>
          </p:cNvSpPr>
          <p:nvPr/>
        </p:nvSpPr>
        <p:spPr bwMode="auto">
          <a:xfrm>
            <a:off x="685800" y="418266"/>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Program Outcomes</a:t>
            </a:r>
          </a:p>
        </p:txBody>
      </p:sp>
    </p:spTree>
    <p:extLst>
      <p:ext uri="{BB962C8B-B14F-4D97-AF65-F5344CB8AC3E}">
        <p14:creationId xmlns:p14="http://schemas.microsoft.com/office/powerpoint/2010/main" val="148811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F3AC0C-237A-6695-A8A0-0FD79B7D79B8}"/>
              </a:ext>
            </a:extLst>
          </p:cNvPr>
          <p:cNvSpPr>
            <a:spLocks noGrp="1"/>
          </p:cNvSpPr>
          <p:nvPr>
            <p:ph type="ftr" sz="quarter" idx="11"/>
          </p:nvPr>
        </p:nvSpPr>
        <p:spPr/>
        <p:txBody>
          <a:bodyPr/>
          <a:lstStyle/>
          <a:p>
            <a:r>
              <a:rPr lang="en-IN"/>
              <a:t>1/15</a:t>
            </a:r>
          </a:p>
        </p:txBody>
      </p:sp>
      <p:sp>
        <p:nvSpPr>
          <p:cNvPr id="7" name="TextBox 6">
            <a:extLst>
              <a:ext uri="{FF2B5EF4-FFF2-40B4-BE49-F238E27FC236}">
                <a16:creationId xmlns:a16="http://schemas.microsoft.com/office/drawing/2014/main" id="{6ECEB03B-1255-629E-5AB5-6E812CB61F37}"/>
              </a:ext>
            </a:extLst>
          </p:cNvPr>
          <p:cNvSpPr txBox="1"/>
          <p:nvPr/>
        </p:nvSpPr>
        <p:spPr>
          <a:xfrm>
            <a:off x="125730" y="1219824"/>
            <a:ext cx="12066270" cy="5571012"/>
          </a:xfrm>
          <a:prstGeom prst="rect">
            <a:avLst/>
          </a:prstGeom>
          <a:noFill/>
        </p:spPr>
        <p:txBody>
          <a:bodyPr wrap="square">
            <a:spAutoFit/>
          </a:bodyPr>
          <a:lstStyle/>
          <a:p>
            <a:pPr algn="just">
              <a:lnSpc>
                <a:spcPts val="3550"/>
              </a:lnSpc>
              <a:spcBef>
                <a:spcPct val="0"/>
              </a:spcBef>
              <a:buClr>
                <a:srgbClr val="222222"/>
              </a:buClr>
              <a:buSzPts val="3500"/>
            </a:pPr>
            <a:r>
              <a:rPr lang="en-US" altLang="en-US" b="1" dirty="0">
                <a:solidFill>
                  <a:srgbClr val="222222"/>
                </a:solidFill>
                <a:latin typeface="Times New Roman" panose="02020603050405020304" pitchFamily="18" charset="0"/>
                <a:cs typeface="Times New Roman" panose="02020603050405020304" pitchFamily="18" charset="0"/>
              </a:rPr>
              <a:t>PO6: </a:t>
            </a:r>
            <a:r>
              <a:rPr lang="en-US" b="1" dirty="0">
                <a:solidFill>
                  <a:srgbClr val="222222"/>
                </a:solidFill>
                <a:latin typeface="Times New Roman" panose="02020603050405020304" pitchFamily="18" charset="0"/>
                <a:cs typeface="Times New Roman" panose="02020603050405020304" pitchFamily="18" charset="0"/>
              </a:rPr>
              <a:t>Communication -</a:t>
            </a:r>
            <a:r>
              <a:rPr lang="en-US" dirty="0">
                <a:solidFill>
                  <a:srgbClr val="222222"/>
                </a:solidFill>
                <a:latin typeface="Times New Roman" panose="02020603050405020304" pitchFamily="18" charset="0"/>
                <a:cs typeface="Times New Roman" panose="02020603050405020304" pitchFamily="18" charset="0"/>
              </a:rPr>
              <a:t>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algn="just">
              <a:lnSpc>
                <a:spcPts val="3550"/>
              </a:lnSpc>
              <a:spcBef>
                <a:spcPct val="0"/>
              </a:spcBef>
              <a:buClr>
                <a:srgbClr val="222222"/>
              </a:buClr>
              <a:buSzPts val="3500"/>
            </a:pPr>
            <a:r>
              <a:rPr lang="en-US" altLang="en-US" b="1" dirty="0">
                <a:solidFill>
                  <a:srgbClr val="222222"/>
                </a:solidFill>
                <a:latin typeface="Times New Roman" panose="02020603050405020304" pitchFamily="18" charset="0"/>
                <a:cs typeface="Times New Roman" panose="02020603050405020304" pitchFamily="18" charset="0"/>
              </a:rPr>
              <a:t>PO7: Project Management and Finance -</a:t>
            </a:r>
            <a:r>
              <a:rPr lang="en-US" altLang="en-US" dirty="0">
                <a:solidFill>
                  <a:srgbClr val="222222"/>
                </a:solidFill>
                <a:latin typeface="Times New Roman" panose="02020603050405020304" pitchFamily="18" charset="0"/>
                <a:cs typeface="Times New Roman" panose="02020603050405020304" pitchFamily="18" charset="0"/>
              </a:rPr>
              <a:t>Demonstrate knowledge and understanding of the engineering, management principles and apply the same to one’s own work, as a member or a leader in a team, manage projects efficiently in respective disciplines and multidisciplinary environments after consideration of economic and financial factors.</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PO8: </a:t>
            </a:r>
            <a:r>
              <a:rPr lang="en-US" altLang="en-US" b="1" dirty="0">
                <a:solidFill>
                  <a:srgbClr val="222222"/>
                </a:solidFill>
                <a:latin typeface="Times New Roman" panose="02020603050405020304" pitchFamily="18" charset="0"/>
                <a:cs typeface="Times New Roman" panose="02020603050405020304" pitchFamily="18" charset="0"/>
                <a:sym typeface="Open Sans" panose="020B0606030504020204" pitchFamily="34" charset="0"/>
              </a:rPr>
              <a:t>Life-long Learning -</a:t>
            </a:r>
            <a:r>
              <a:rPr lang="en-US" altLang="en-US" dirty="0">
                <a:solidFill>
                  <a:srgbClr val="222222"/>
                </a:solidFill>
                <a:latin typeface="Times New Roman" panose="02020603050405020304" pitchFamily="18" charset="0"/>
                <a:cs typeface="Times New Roman" panose="02020603050405020304" pitchFamily="18" charset="0"/>
                <a:sym typeface="Open Sans" panose="020B0606030504020204" pitchFamily="34" charset="0"/>
              </a:rPr>
              <a:t>Recognize the need for, and have the preparation and ability to engage in independent and life-long learning in the broadest context of technological change.</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PO9: </a:t>
            </a:r>
            <a:r>
              <a:rPr lang="en-US" altLang="en-US" b="1" dirty="0">
                <a:solidFill>
                  <a:srgbClr val="222222"/>
                </a:solidFill>
                <a:latin typeface="Times New Roman" panose="02020603050405020304" pitchFamily="18" charset="0"/>
                <a:cs typeface="Times New Roman" panose="02020603050405020304" pitchFamily="18" charset="0"/>
                <a:sym typeface="Open Sans" panose="020B0606030504020204" pitchFamily="34" charset="0"/>
              </a:rPr>
              <a:t>Competitive Skills -</a:t>
            </a:r>
            <a:r>
              <a:rPr lang="en-US" altLang="en-US" dirty="0">
                <a:solidFill>
                  <a:srgbClr val="222222"/>
                </a:solidFill>
                <a:latin typeface="Times New Roman" panose="02020603050405020304" pitchFamily="18" charset="0"/>
                <a:cs typeface="Times New Roman" panose="02020603050405020304" pitchFamily="18" charset="0"/>
                <a:sym typeface="Open Sans" panose="020B0606030504020204" pitchFamily="34" charset="0"/>
              </a:rPr>
              <a:t>Ability to compete in national and international technical events and building the competitive spirit.</a:t>
            </a:r>
          </a:p>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sym typeface="Open Sans" panose="020B0606030504020204" pitchFamily="34" charset="0"/>
              </a:rPr>
              <a:t>PO10:</a:t>
            </a:r>
            <a:r>
              <a:rPr lang="en-US" altLang="en-US" b="1" dirty="0">
                <a:solidFill>
                  <a:srgbClr val="222222"/>
                </a:solidFill>
                <a:latin typeface="Times New Roman" panose="02020603050405020304" pitchFamily="18" charset="0"/>
                <a:cs typeface="Times New Roman" panose="02020603050405020304" pitchFamily="18" charset="0"/>
              </a:rPr>
              <a:t> Communication -</a:t>
            </a:r>
            <a:r>
              <a:rPr lang="en-US" altLang="en-US" dirty="0">
                <a:solidFill>
                  <a:srgbClr val="222222"/>
                </a:solidFill>
                <a:latin typeface="Times New Roman" panose="02020603050405020304" pitchFamily="18" charset="0"/>
                <a:cs typeface="Times New Roman" panose="02020603050405020304" pitchFamily="18" charset="0"/>
              </a:rPr>
              <a:t>Communicate effectively on complex engineering activities with the engineering community and with society at large, such as, being able to comprehend and write effective reports and design documentation, make effective presentations, and give and receive clear instructions. </a:t>
            </a:r>
            <a:endParaRPr lang="en-US" altLang="en-US" dirty="0">
              <a:solidFill>
                <a:srgbClr val="222222"/>
              </a:solidFill>
              <a:latin typeface="Times New Roman" panose="02020603050405020304" pitchFamily="18" charset="0"/>
              <a:cs typeface="Times New Roman" panose="02020603050405020304" pitchFamily="18" charset="0"/>
              <a:sym typeface="Open Sans" panose="020B0606030504020204" pitchFamily="34" charset="0"/>
            </a:endParaRPr>
          </a:p>
        </p:txBody>
      </p:sp>
      <p:sp>
        <p:nvSpPr>
          <p:cNvPr id="9" name="TextBox 8">
            <a:extLst>
              <a:ext uri="{FF2B5EF4-FFF2-40B4-BE49-F238E27FC236}">
                <a16:creationId xmlns:a16="http://schemas.microsoft.com/office/drawing/2014/main" id="{CF89AAA9-6C37-30CB-2B4E-B0757434D37B}"/>
              </a:ext>
            </a:extLst>
          </p:cNvPr>
          <p:cNvSpPr txBox="1">
            <a:spLocks noChangeArrowheads="1"/>
          </p:cNvSpPr>
          <p:nvPr/>
        </p:nvSpPr>
        <p:spPr bwMode="auto">
          <a:xfrm>
            <a:off x="685800" y="418266"/>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Program Outcomes Contd..</a:t>
            </a:r>
          </a:p>
        </p:txBody>
      </p:sp>
    </p:spTree>
    <p:extLst>
      <p:ext uri="{BB962C8B-B14F-4D97-AF65-F5344CB8AC3E}">
        <p14:creationId xmlns:p14="http://schemas.microsoft.com/office/powerpoint/2010/main" val="480841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53E0D-E198-B816-6263-E9B5752964E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30CFF83-5383-106A-4CC0-D25440624373}"/>
              </a:ext>
            </a:extLst>
          </p:cNvPr>
          <p:cNvSpPr>
            <a:spLocks noGrp="1"/>
          </p:cNvSpPr>
          <p:nvPr>
            <p:ph type="ftr" sz="quarter" idx="11"/>
          </p:nvPr>
        </p:nvSpPr>
        <p:spPr/>
        <p:txBody>
          <a:bodyPr/>
          <a:lstStyle/>
          <a:p>
            <a:r>
              <a:rPr lang="en-IN"/>
              <a:t>1/15</a:t>
            </a:r>
          </a:p>
        </p:txBody>
      </p:sp>
      <p:sp>
        <p:nvSpPr>
          <p:cNvPr id="7" name="TextBox 6">
            <a:extLst>
              <a:ext uri="{FF2B5EF4-FFF2-40B4-BE49-F238E27FC236}">
                <a16:creationId xmlns:a16="http://schemas.microsoft.com/office/drawing/2014/main" id="{18AA3303-296E-4B81-B68E-C732F02A5A3A}"/>
              </a:ext>
            </a:extLst>
          </p:cNvPr>
          <p:cNvSpPr txBox="1"/>
          <p:nvPr/>
        </p:nvSpPr>
        <p:spPr>
          <a:xfrm>
            <a:off x="62865" y="1717730"/>
            <a:ext cx="12066270" cy="1416029"/>
          </a:xfrm>
          <a:prstGeom prst="rect">
            <a:avLst/>
          </a:prstGeom>
          <a:noFill/>
        </p:spPr>
        <p:txBody>
          <a:bodyPr wrap="square">
            <a:spAutoFit/>
          </a:bodyPr>
          <a:lstStyle/>
          <a:p>
            <a:pPr algn="just">
              <a:lnSpc>
                <a:spcPts val="3550"/>
              </a:lnSpc>
            </a:pPr>
            <a:r>
              <a:rPr lang="en-US" altLang="en-US" b="1" dirty="0">
                <a:solidFill>
                  <a:srgbClr val="222222"/>
                </a:solidFill>
                <a:latin typeface="Times New Roman" panose="02020603050405020304" pitchFamily="18" charset="0"/>
                <a:cs typeface="Times New Roman" panose="02020603050405020304" pitchFamily="18" charset="0"/>
              </a:rPr>
              <a:t>PO11: Project management and finance -</a:t>
            </a:r>
            <a:r>
              <a:rPr lang="en-US" altLang="en-US" dirty="0">
                <a:solidFill>
                  <a:srgbClr val="222222"/>
                </a:solidFill>
                <a:latin typeface="Times New Roman" panose="02020603050405020304" pitchFamily="18" charset="0"/>
                <a:cs typeface="Times New Roman" panose="02020603050405020304" pitchFamily="18" charset="0"/>
              </a:rPr>
              <a:t>Demonstrate knowledge and understanding of the engineering, management principles and apply the same to one’s own work, as a member or a leader in a team, manage projects efficiently in respective disciplines and multidisciplinary environments after consideration of economic and financial factors. </a:t>
            </a:r>
          </a:p>
        </p:txBody>
      </p:sp>
      <p:sp>
        <p:nvSpPr>
          <p:cNvPr id="9" name="TextBox 8">
            <a:extLst>
              <a:ext uri="{FF2B5EF4-FFF2-40B4-BE49-F238E27FC236}">
                <a16:creationId xmlns:a16="http://schemas.microsoft.com/office/drawing/2014/main" id="{F7D80F85-CC25-24D1-B1E2-E85760CC2F5E}"/>
              </a:ext>
            </a:extLst>
          </p:cNvPr>
          <p:cNvSpPr txBox="1">
            <a:spLocks noChangeArrowheads="1"/>
          </p:cNvSpPr>
          <p:nvPr/>
        </p:nvSpPr>
        <p:spPr bwMode="auto">
          <a:xfrm>
            <a:off x="685800" y="418266"/>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Program Outcomes Contd..</a:t>
            </a:r>
          </a:p>
        </p:txBody>
      </p:sp>
    </p:spTree>
    <p:extLst>
      <p:ext uri="{BB962C8B-B14F-4D97-AF65-F5344CB8AC3E}">
        <p14:creationId xmlns:p14="http://schemas.microsoft.com/office/powerpoint/2010/main" val="2449446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TextBox 8"/>
          <p:cNvSpPr txBox="1">
            <a:spLocks noChangeArrowheads="1"/>
          </p:cNvSpPr>
          <p:nvPr/>
        </p:nvSpPr>
        <p:spPr bwMode="auto">
          <a:xfrm>
            <a:off x="353482" y="1096347"/>
            <a:ext cx="11152717"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Program Specific Outcomes</a:t>
            </a:r>
          </a:p>
        </p:txBody>
      </p:sp>
      <p:sp>
        <p:nvSpPr>
          <p:cNvPr id="15367" name="TextBox 9"/>
          <p:cNvSpPr txBox="1">
            <a:spLocks noChangeArrowheads="1"/>
          </p:cNvSpPr>
          <p:nvPr/>
        </p:nvSpPr>
        <p:spPr bwMode="auto">
          <a:xfrm>
            <a:off x="353482" y="2306268"/>
            <a:ext cx="11048526" cy="512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pPr>
            <a:r>
              <a:rPr lang="en-IN" b="1" dirty="0">
                <a:solidFill>
                  <a:srgbClr val="0070C1"/>
                </a:solidFill>
                <a:latin typeface="Times New Roman" panose="02020603050405020304" pitchFamily="18" charset="0"/>
                <a:cs typeface="Times New Roman" panose="02020603050405020304" pitchFamily="18" charset="0"/>
              </a:rPr>
              <a:t>PSO 1: Cloud Infrastructure and Platform Engineering</a:t>
            </a:r>
          </a:p>
          <a:p>
            <a:pPr algn="just">
              <a:lnSpc>
                <a:spcPct val="150000"/>
              </a:lnSpc>
            </a:pPr>
            <a:r>
              <a:rPr lang="en-IN" dirty="0">
                <a:latin typeface="Times New Roman" panose="02020603050405020304" pitchFamily="18" charset="0"/>
                <a:cs typeface="Times New Roman" panose="02020603050405020304" pitchFamily="18" charset="0"/>
              </a:rPr>
              <a:t>Apply principles of cloud computing, virtualization, networking, storage systems, distributed computing, and DevOps practices to design, deploy, secure, monitor, and optimize scalable cloud infrastructure and services across modern cloud platforms.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solidFill>
                  <a:srgbClr val="0070C1"/>
                </a:solidFill>
                <a:latin typeface="Times New Roman" panose="02020603050405020304" pitchFamily="18" charset="0"/>
                <a:cs typeface="Times New Roman" panose="02020603050405020304" pitchFamily="18" charset="0"/>
              </a:rPr>
              <a:t>PSO 2: Cloud-Native Application Development and Data-Driven Solutions</a:t>
            </a:r>
          </a:p>
          <a:p>
            <a:pPr algn="just">
              <a:lnSpc>
                <a:spcPct val="150000"/>
              </a:lnSpc>
            </a:pPr>
            <a:r>
              <a:rPr lang="en-US" dirty="0">
                <a:latin typeface="Times New Roman" panose="02020603050405020304" pitchFamily="18" charset="0"/>
                <a:cs typeface="Times New Roman" panose="02020603050405020304" pitchFamily="18" charset="0"/>
              </a:rPr>
              <a:t>Develop and manage cloud-native applications by integrating software engineering principles, databases, web technologies, data analytics, machine learning</a:t>
            </a:r>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automation, and site reliability practices to deliver efficient, secure, and business-oriented solutions</a:t>
            </a:r>
            <a:r>
              <a:rPr lang="en-US" sz="2000" b="1" dirty="0">
                <a:solidFill>
                  <a:srgbClr val="0070C1"/>
                </a:solidFill>
                <a:latin typeface="Times New Roman" panose="02020603050405020304" pitchFamily="18" charset="0"/>
                <a:cs typeface="Times New Roman" panose="02020603050405020304" pitchFamily="18" charset="0"/>
              </a:rPr>
              <a:t>.</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795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3" name="TextBox 18"/>
          <p:cNvSpPr txBox="1">
            <a:spLocks noChangeArrowheads="1"/>
          </p:cNvSpPr>
          <p:nvPr/>
        </p:nvSpPr>
        <p:spPr bwMode="auto">
          <a:xfrm>
            <a:off x="685800" y="723901"/>
            <a:ext cx="108204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IN" sz="4800" b="1" dirty="0">
                <a:latin typeface="Times New Roman" panose="02020603050405020304" pitchFamily="18" charset="0"/>
                <a:cs typeface="Times New Roman" panose="02020603050405020304" pitchFamily="18" charset="0"/>
              </a:rPr>
              <a:t>Assessment Model</a:t>
            </a:r>
            <a:endParaRPr lang="en-US" sz="4800" dirty="0">
              <a:latin typeface="Times New Roman" panose="02020603050405020304" pitchFamily="18" charset="0"/>
              <a:cs typeface="Times New Roman" panose="02020603050405020304" pitchFamily="18" charset="0"/>
            </a:endParaRPr>
          </a:p>
        </p:txBody>
      </p:sp>
      <p:sp>
        <p:nvSpPr>
          <p:cNvPr id="19" name="TextBox 19"/>
          <p:cNvSpPr txBox="1"/>
          <p:nvPr/>
        </p:nvSpPr>
        <p:spPr>
          <a:xfrm>
            <a:off x="8992471" y="4019261"/>
            <a:ext cx="2513729" cy="1502784"/>
          </a:xfrm>
          <a:prstGeom prst="rect">
            <a:avLst/>
          </a:prstGeom>
        </p:spPr>
        <p:txBody>
          <a:bodyPr wrap="square" lIns="0" tIns="0" rIns="0" bIns="0">
            <a:spAutoFit/>
          </a:bodyPr>
          <a:lstStyle/>
          <a:p>
            <a:pPr algn="ctr">
              <a:lnSpc>
                <a:spcPts val="2986"/>
              </a:lnSpc>
              <a:defRPr/>
            </a:pPr>
            <a:r>
              <a:rPr lang="en-US" sz="2000" dirty="0">
                <a:solidFill>
                  <a:srgbClr val="222222"/>
                </a:solidFill>
                <a:latin typeface="Times New Roman" panose="02020603050405020304" pitchFamily="18" charset="0"/>
                <a:cs typeface="Times New Roman" panose="02020603050405020304" pitchFamily="18" charset="0"/>
              </a:rPr>
              <a:t>MCQ test, </a:t>
            </a:r>
          </a:p>
          <a:p>
            <a:pPr algn="ctr">
              <a:lnSpc>
                <a:spcPts val="2986"/>
              </a:lnSpc>
              <a:defRPr/>
            </a:pPr>
            <a:r>
              <a:rPr lang="en-US" sz="2000" dirty="0">
                <a:solidFill>
                  <a:srgbClr val="222222"/>
                </a:solidFill>
                <a:latin typeface="Times New Roman" panose="02020603050405020304" pitchFamily="18" charset="0"/>
                <a:cs typeface="Times New Roman" panose="02020603050405020304" pitchFamily="18" charset="0"/>
              </a:rPr>
              <a:t>30 marks</a:t>
            </a:r>
          </a:p>
          <a:p>
            <a:pPr algn="ctr">
              <a:lnSpc>
                <a:spcPts val="2986"/>
              </a:lnSpc>
              <a:defRPr/>
            </a:pPr>
            <a:r>
              <a:rPr lang="en-IN" sz="2000" dirty="0">
                <a:solidFill>
                  <a:srgbClr val="222222"/>
                </a:solidFill>
                <a:latin typeface="Times New Roman" panose="02020603050405020304" pitchFamily="18" charset="0"/>
                <a:cs typeface="Times New Roman" panose="02020603050405020304" pitchFamily="18" charset="0"/>
              </a:rPr>
              <a:t>Online</a:t>
            </a:r>
          </a:p>
          <a:p>
            <a:pPr algn="ctr">
              <a:lnSpc>
                <a:spcPts val="2986"/>
              </a:lnSpc>
              <a:defRPr/>
            </a:pPr>
            <a:endParaRPr lang="en-US" sz="2000" dirty="0">
              <a:solidFill>
                <a:srgbClr val="222222"/>
              </a:solidFill>
              <a:latin typeface="Times New Roman" panose="02020603050405020304" pitchFamily="18" charset="0"/>
              <a:cs typeface="Times New Roman" panose="02020603050405020304" pitchFamily="18" charset="0"/>
            </a:endParaRPr>
          </a:p>
        </p:txBody>
      </p:sp>
      <p:sp>
        <p:nvSpPr>
          <p:cNvPr id="18445" name="TextBox 20"/>
          <p:cNvSpPr txBox="1">
            <a:spLocks noChangeArrowheads="1"/>
          </p:cNvSpPr>
          <p:nvPr/>
        </p:nvSpPr>
        <p:spPr bwMode="auto">
          <a:xfrm>
            <a:off x="7965438" y="4191711"/>
            <a:ext cx="1027033"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3600" b="1" dirty="0">
                <a:solidFill>
                  <a:srgbClr val="222222"/>
                </a:solidFill>
                <a:latin typeface="Times New Roman" panose="02020603050405020304" pitchFamily="18" charset="0"/>
                <a:cs typeface="Times New Roman" panose="02020603050405020304" pitchFamily="18" charset="0"/>
              </a:rPr>
              <a:t>CA 2</a:t>
            </a:r>
          </a:p>
        </p:txBody>
      </p:sp>
      <p:sp>
        <p:nvSpPr>
          <p:cNvPr id="21" name="TextBox 21"/>
          <p:cNvSpPr txBox="1"/>
          <p:nvPr/>
        </p:nvSpPr>
        <p:spPr>
          <a:xfrm>
            <a:off x="2093094" y="4019261"/>
            <a:ext cx="2743461" cy="1554913"/>
          </a:xfrm>
          <a:prstGeom prst="rect">
            <a:avLst/>
          </a:prstGeom>
        </p:spPr>
        <p:txBody>
          <a:bodyPr wrap="square" lIns="0" tIns="0" rIns="0" bIns="0">
            <a:spAutoFit/>
          </a:bodyPr>
          <a:lstStyle/>
          <a:p>
            <a:pPr algn="ctr">
              <a:lnSpc>
                <a:spcPts val="3079"/>
              </a:lnSpc>
              <a:defRPr/>
            </a:pPr>
            <a:r>
              <a:rPr lang="en-US" sz="2133" dirty="0">
                <a:solidFill>
                  <a:srgbClr val="222222"/>
                </a:solidFill>
                <a:latin typeface="Times New Roman" panose="02020603050405020304" pitchFamily="18" charset="0"/>
                <a:cs typeface="Times New Roman" panose="02020603050405020304" pitchFamily="18" charset="0"/>
              </a:rPr>
              <a:t>MCQ test, </a:t>
            </a:r>
          </a:p>
          <a:p>
            <a:pPr algn="ctr">
              <a:lnSpc>
                <a:spcPts val="3079"/>
              </a:lnSpc>
              <a:defRPr/>
            </a:pPr>
            <a:r>
              <a:rPr lang="en-US" sz="2133" dirty="0">
                <a:solidFill>
                  <a:srgbClr val="222222"/>
                </a:solidFill>
                <a:latin typeface="Times New Roman" panose="02020603050405020304" pitchFamily="18" charset="0"/>
                <a:cs typeface="Times New Roman" panose="02020603050405020304" pitchFamily="18" charset="0"/>
              </a:rPr>
              <a:t>30 marks</a:t>
            </a:r>
          </a:p>
          <a:p>
            <a:pPr algn="ctr">
              <a:lnSpc>
                <a:spcPts val="3079"/>
              </a:lnSpc>
              <a:defRPr/>
            </a:pPr>
            <a:r>
              <a:rPr lang="en-IN" sz="2133" dirty="0">
                <a:solidFill>
                  <a:srgbClr val="222222"/>
                </a:solidFill>
                <a:latin typeface="Times New Roman" panose="02020603050405020304" pitchFamily="18" charset="0"/>
                <a:cs typeface="Times New Roman" panose="02020603050405020304" pitchFamily="18" charset="0"/>
              </a:rPr>
              <a:t>Online </a:t>
            </a:r>
          </a:p>
          <a:p>
            <a:pPr algn="ctr">
              <a:lnSpc>
                <a:spcPts val="3079"/>
              </a:lnSpc>
              <a:defRPr/>
            </a:pPr>
            <a:endParaRPr lang="en-US" sz="2133" dirty="0">
              <a:solidFill>
                <a:srgbClr val="222222"/>
              </a:solidFill>
              <a:latin typeface="Times New Roman" panose="02020603050405020304" pitchFamily="18" charset="0"/>
              <a:cs typeface="Times New Roman" panose="02020603050405020304" pitchFamily="18" charset="0"/>
            </a:endParaRPr>
          </a:p>
        </p:txBody>
      </p:sp>
      <p:sp>
        <p:nvSpPr>
          <p:cNvPr id="18447" name="TextBox 22"/>
          <p:cNvSpPr txBox="1">
            <a:spLocks noChangeArrowheads="1"/>
          </p:cNvSpPr>
          <p:nvPr/>
        </p:nvSpPr>
        <p:spPr bwMode="auto">
          <a:xfrm>
            <a:off x="3355443" y="4100878"/>
            <a:ext cx="1026585" cy="540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endParaRPr lang="en-US" altLang="en-US" sz="3600" b="1" dirty="0">
              <a:solidFill>
                <a:srgbClr val="222222"/>
              </a:solidFill>
              <a:latin typeface="Times New Roman" panose="02020603050405020304" pitchFamily="18" charset="0"/>
              <a:cs typeface="Times New Roman" panose="02020603050405020304" pitchFamily="18" charset="0"/>
            </a:endParaRPr>
          </a:p>
        </p:txBody>
      </p:sp>
      <p:pic>
        <p:nvPicPr>
          <p:cNvPr id="18450" name="Picture 1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0675" y="1605558"/>
            <a:ext cx="2435058" cy="2218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31782" y="1704837"/>
            <a:ext cx="2294344" cy="209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87355" y="4191711"/>
            <a:ext cx="1281698" cy="510717"/>
          </a:xfrm>
          <a:prstGeom prst="rect">
            <a:avLst/>
          </a:prstGeom>
        </p:spPr>
        <p:txBody>
          <a:bodyPr wrap="none">
            <a:spAutoFit/>
          </a:bodyPr>
          <a:lstStyle/>
          <a:p>
            <a:pPr algn="ctr">
              <a:lnSpc>
                <a:spcPts val="3079"/>
              </a:lnSpc>
              <a:defRPr/>
            </a:pPr>
            <a:r>
              <a:rPr lang="en-US" altLang="en-US" sz="4000" b="1" dirty="0">
                <a:solidFill>
                  <a:srgbClr val="222222"/>
                </a:solidFill>
                <a:latin typeface="Times New Roman" panose="02020603050405020304" pitchFamily="18" charset="0"/>
                <a:cs typeface="Times New Roman" panose="02020603050405020304" pitchFamily="18" charset="0"/>
              </a:rPr>
              <a:t>CA 1</a:t>
            </a:r>
          </a:p>
        </p:txBody>
      </p:sp>
      <p:sp>
        <p:nvSpPr>
          <p:cNvPr id="3" name="Down Arrow 2"/>
          <p:cNvSpPr/>
          <p:nvPr/>
        </p:nvSpPr>
        <p:spPr>
          <a:xfrm>
            <a:off x="2978687" y="1704837"/>
            <a:ext cx="972273" cy="2090104"/>
          </a:xfrm>
          <a:prstGeom prst="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p:cNvSpPr/>
          <p:nvPr/>
        </p:nvSpPr>
        <p:spPr>
          <a:xfrm>
            <a:off x="9763198" y="1704837"/>
            <a:ext cx="972273" cy="2090104"/>
          </a:xfrm>
          <a:prstGeom prst="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B8F922C-354A-53C1-946D-2ACF2F9F6C79}"/>
              </a:ext>
            </a:extLst>
          </p:cNvPr>
          <p:cNvSpPr/>
          <p:nvPr/>
        </p:nvSpPr>
        <p:spPr>
          <a:xfrm>
            <a:off x="4207933" y="2514600"/>
            <a:ext cx="2986777" cy="10668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dirty="0"/>
              <a:t>Compulsory</a:t>
            </a:r>
          </a:p>
        </p:txBody>
      </p:sp>
    </p:spTree>
    <p:extLst>
      <p:ext uri="{BB962C8B-B14F-4D97-AF65-F5344CB8AC3E}">
        <p14:creationId xmlns:p14="http://schemas.microsoft.com/office/powerpoint/2010/main" val="415429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1825625"/>
            <a:ext cx="516467" cy="51646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741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2849033"/>
            <a:ext cx="516467" cy="51646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741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3873500"/>
            <a:ext cx="516467" cy="51646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7416" name="Picture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4897967"/>
            <a:ext cx="516467" cy="51540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7419" name="TextBox 13"/>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Weightage division</a:t>
            </a:r>
          </a:p>
        </p:txBody>
      </p:sp>
      <p:sp>
        <p:nvSpPr>
          <p:cNvPr id="17420" name="TextBox 14"/>
          <p:cNvSpPr txBox="1">
            <a:spLocks noChangeArrowheads="1"/>
          </p:cNvSpPr>
          <p:nvPr/>
        </p:nvSpPr>
        <p:spPr bwMode="auto">
          <a:xfrm>
            <a:off x="2497667" y="1778000"/>
            <a:ext cx="3884472"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w Roman" panose="02020603050405020304" pitchFamily="18" charset="0"/>
                <a:cs typeface="Times New Roman" panose="02020603050405020304" pitchFamily="18" charset="0"/>
              </a:rPr>
              <a:t>Attendance - 5 marks</a:t>
            </a:r>
          </a:p>
        </p:txBody>
      </p:sp>
      <p:sp>
        <p:nvSpPr>
          <p:cNvPr id="17421" name="TextBox 15"/>
          <p:cNvSpPr txBox="1">
            <a:spLocks noChangeArrowheads="1"/>
          </p:cNvSpPr>
          <p:nvPr/>
        </p:nvSpPr>
        <p:spPr bwMode="auto">
          <a:xfrm>
            <a:off x="2497667" y="2772834"/>
            <a:ext cx="3137401"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w Roman" panose="02020603050405020304" pitchFamily="18" charset="0"/>
                <a:cs typeface="Times New Roman" panose="02020603050405020304" pitchFamily="18" charset="0"/>
              </a:rPr>
              <a:t>CA - 25 marks</a:t>
            </a:r>
          </a:p>
        </p:txBody>
      </p:sp>
      <p:sp>
        <p:nvSpPr>
          <p:cNvPr id="17422" name="TextBox 16"/>
          <p:cNvSpPr txBox="1">
            <a:spLocks noChangeArrowheads="1"/>
          </p:cNvSpPr>
          <p:nvPr/>
        </p:nvSpPr>
        <p:spPr bwMode="auto">
          <a:xfrm>
            <a:off x="2497667" y="3810000"/>
            <a:ext cx="5088466"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w Roman" panose="02020603050405020304" pitchFamily="18" charset="0"/>
                <a:cs typeface="Times New Roman" panose="02020603050405020304" pitchFamily="18" charset="0"/>
              </a:rPr>
              <a:t>MTE - 20 marks (MCQs)</a:t>
            </a:r>
          </a:p>
        </p:txBody>
      </p:sp>
      <p:sp>
        <p:nvSpPr>
          <p:cNvPr id="17423" name="TextBox 17"/>
          <p:cNvSpPr txBox="1">
            <a:spLocks noChangeArrowheads="1"/>
          </p:cNvSpPr>
          <p:nvPr/>
        </p:nvSpPr>
        <p:spPr bwMode="auto">
          <a:xfrm>
            <a:off x="2497667" y="4801659"/>
            <a:ext cx="4673600"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w Roman" panose="02020603050405020304" pitchFamily="18" charset="0"/>
                <a:cs typeface="Times New Roman" panose="02020603050405020304" pitchFamily="18" charset="0"/>
              </a:rPr>
              <a:t>ETE - 50 marks (MCQs)</a:t>
            </a:r>
          </a:p>
        </p:txBody>
      </p:sp>
    </p:spTree>
    <p:extLst>
      <p:ext uri="{BB962C8B-B14F-4D97-AF65-F5344CB8AC3E}">
        <p14:creationId xmlns:p14="http://schemas.microsoft.com/office/powerpoint/2010/main" val="3235496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TextBox 8"/>
          <p:cNvSpPr txBox="1">
            <a:spLocks noChangeArrowheads="1"/>
          </p:cNvSpPr>
          <p:nvPr/>
        </p:nvSpPr>
        <p:spPr bwMode="auto">
          <a:xfrm>
            <a:off x="905070" y="231151"/>
            <a:ext cx="10582469" cy="675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3600" b="1" dirty="0">
                <a:latin typeface="Times New Roman" panose="02020603050405020304" pitchFamily="18" charset="0"/>
                <a:cs typeface="Times New Roman" panose="02020603050405020304" pitchFamily="18" charset="0"/>
              </a:rPr>
              <a:t>Open Education Resources</a:t>
            </a:r>
            <a:endParaRPr lang="en-US" altLang="en-US" sz="3600" b="1" dirty="0">
              <a:solidFill>
                <a:srgbClr val="222222"/>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864576070"/>
              </p:ext>
            </p:extLst>
          </p:nvPr>
        </p:nvGraphicFramePr>
        <p:xfrm>
          <a:off x="0" y="906785"/>
          <a:ext cx="12192001" cy="5846556"/>
        </p:xfrm>
        <a:graphic>
          <a:graphicData uri="http://schemas.openxmlformats.org/drawingml/2006/table">
            <a:tbl>
              <a:tblPr firstRow="1" firstCol="1" bandRow="1">
                <a:tableStyleId>{5C22544A-7EE6-4342-B048-85BDC9FD1C3A}</a:tableStyleId>
              </a:tblPr>
              <a:tblGrid>
                <a:gridCol w="2154461">
                  <a:extLst>
                    <a:ext uri="{9D8B030D-6E8A-4147-A177-3AD203B41FA5}">
                      <a16:colId xmlns:a16="http://schemas.microsoft.com/office/drawing/2014/main" val="4023941724"/>
                    </a:ext>
                  </a:extLst>
                </a:gridCol>
                <a:gridCol w="2154461">
                  <a:extLst>
                    <a:ext uri="{9D8B030D-6E8A-4147-A177-3AD203B41FA5}">
                      <a16:colId xmlns:a16="http://schemas.microsoft.com/office/drawing/2014/main" val="3136758805"/>
                    </a:ext>
                  </a:extLst>
                </a:gridCol>
                <a:gridCol w="1664620">
                  <a:extLst>
                    <a:ext uri="{9D8B030D-6E8A-4147-A177-3AD203B41FA5}">
                      <a16:colId xmlns:a16="http://schemas.microsoft.com/office/drawing/2014/main" val="4079781721"/>
                    </a:ext>
                  </a:extLst>
                </a:gridCol>
                <a:gridCol w="1664620">
                  <a:extLst>
                    <a:ext uri="{9D8B030D-6E8A-4147-A177-3AD203B41FA5}">
                      <a16:colId xmlns:a16="http://schemas.microsoft.com/office/drawing/2014/main" val="3671608410"/>
                    </a:ext>
                  </a:extLst>
                </a:gridCol>
                <a:gridCol w="1455679">
                  <a:extLst>
                    <a:ext uri="{9D8B030D-6E8A-4147-A177-3AD203B41FA5}">
                      <a16:colId xmlns:a16="http://schemas.microsoft.com/office/drawing/2014/main" val="1449702834"/>
                    </a:ext>
                  </a:extLst>
                </a:gridCol>
                <a:gridCol w="3098160">
                  <a:extLst>
                    <a:ext uri="{9D8B030D-6E8A-4147-A177-3AD203B41FA5}">
                      <a16:colId xmlns:a16="http://schemas.microsoft.com/office/drawing/2014/main" val="2734593867"/>
                    </a:ext>
                  </a:extLst>
                </a:gridCol>
              </a:tblGrid>
              <a:tr h="1040531">
                <a:tc>
                  <a:txBody>
                    <a:bodyPr/>
                    <a:lstStyle/>
                    <a:p>
                      <a:pPr algn="ctr">
                        <a:lnSpc>
                          <a:spcPct val="106000"/>
                        </a:lnSpc>
                        <a:spcAft>
                          <a:spcPts val="0"/>
                        </a:spcAft>
                      </a:pPr>
                      <a:r>
                        <a:rPr lang="en-US" sz="1200" dirty="0">
                          <a:effectLst/>
                          <a:latin typeface="Times New Roman" panose="02020603050405020304" pitchFamily="18" charset="0"/>
                          <a:cs typeface="Times New Roman" panose="02020603050405020304" pitchFamily="18" charset="0"/>
                        </a:rPr>
                        <a:t>Unit mapped</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0199" marR="50199" marT="0" marB="0" anchor="ctr"/>
                </a:tc>
                <a:tc>
                  <a:txBody>
                    <a:bodyPr/>
                    <a:lstStyle/>
                    <a:p>
                      <a:pPr algn="ctr">
                        <a:lnSpc>
                          <a:spcPct val="106000"/>
                        </a:lnSpc>
                        <a:spcAft>
                          <a:spcPts val="0"/>
                        </a:spcAft>
                      </a:pPr>
                      <a:r>
                        <a:rPr lang="en-US" sz="1200" dirty="0">
                          <a:effectLst/>
                          <a:latin typeface="Times New Roman" panose="02020603050405020304" pitchFamily="18" charset="0"/>
                          <a:cs typeface="Times New Roman" panose="02020603050405020304" pitchFamily="18" charset="0"/>
                        </a:rPr>
                        <a:t>Broad topic/Sub Topic</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0199" marR="50199" marT="0" marB="0" anchor="ctr"/>
                </a:tc>
                <a:tc>
                  <a:txBody>
                    <a:bodyPr/>
                    <a:lstStyle/>
                    <a:p>
                      <a:pPr algn="ctr">
                        <a:lnSpc>
                          <a:spcPct val="106000"/>
                        </a:lnSpc>
                        <a:spcAft>
                          <a:spcPts val="0"/>
                        </a:spcAft>
                      </a:pPr>
                      <a:r>
                        <a:rPr lang="en-US" sz="1200" dirty="0">
                          <a:effectLst/>
                          <a:latin typeface="Times New Roman" panose="02020603050405020304" pitchFamily="18" charset="0"/>
                          <a:cs typeface="Times New Roman" panose="02020603050405020304" pitchFamily="18" charset="0"/>
                        </a:rPr>
                        <a:t>OER Type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0199" marR="50199" marT="0" marB="0" anchor="ctr"/>
                </a:tc>
                <a:tc>
                  <a:txBody>
                    <a:bodyPr/>
                    <a:lstStyle/>
                    <a:p>
                      <a:pPr algn="ctr">
                        <a:lnSpc>
                          <a:spcPct val="106000"/>
                        </a:lnSpc>
                        <a:spcAft>
                          <a:spcPts val="0"/>
                        </a:spcAft>
                      </a:pPr>
                      <a:r>
                        <a:rPr lang="en-US" sz="1200" dirty="0">
                          <a:effectLst/>
                          <a:latin typeface="Times New Roman" panose="02020603050405020304" pitchFamily="18" charset="0"/>
                          <a:cs typeface="Times New Roman" panose="02020603050405020304" pitchFamily="18" charset="0"/>
                        </a:rPr>
                        <a:t>Title of OER</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0199" marR="50199" marT="0" marB="0" anchor="ctr"/>
                </a:tc>
                <a:tc>
                  <a:txBody>
                    <a:bodyPr/>
                    <a:lstStyle/>
                    <a:p>
                      <a:pPr algn="ctr">
                        <a:lnSpc>
                          <a:spcPct val="106000"/>
                        </a:lnSpc>
                        <a:spcAft>
                          <a:spcPts val="0"/>
                        </a:spcAft>
                      </a:pPr>
                      <a:r>
                        <a:rPr lang="en-US" sz="1200" dirty="0">
                          <a:effectLst/>
                          <a:latin typeface="Times New Roman" panose="02020603050405020304" pitchFamily="18" charset="0"/>
                          <a:cs typeface="Times New Roman" panose="02020603050405020304" pitchFamily="18" charset="0"/>
                        </a:rPr>
                        <a:t>*%age unit mapped with OER (</a:t>
                      </a:r>
                      <a:r>
                        <a:rPr lang="en-US" sz="1200" dirty="0" err="1">
                          <a:effectLst/>
                          <a:latin typeface="Times New Roman" panose="02020603050405020304" pitchFamily="18" charset="0"/>
                          <a:cs typeface="Times New Roman" panose="02020603050405020304" pitchFamily="18" charset="0"/>
                        </a:rPr>
                        <a:t>approx</a:t>
                      </a:r>
                      <a:r>
                        <a:rPr lang="en-US" sz="1200" dirty="0">
                          <a:effectLst/>
                          <a:latin typeface="Times New Roman" panose="02020603050405020304" pitchFamily="18"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0199" marR="50199" marT="0" marB="0" anchor="ctr"/>
                </a:tc>
                <a:tc>
                  <a:txBody>
                    <a:bodyPr/>
                    <a:lstStyle/>
                    <a:p>
                      <a:pPr algn="ctr">
                        <a:lnSpc>
                          <a:spcPct val="106000"/>
                        </a:lnSpc>
                        <a:spcAft>
                          <a:spcPts val="0"/>
                        </a:spcAft>
                      </a:pPr>
                      <a:r>
                        <a:rPr lang="en-US" sz="1200" dirty="0">
                          <a:effectLst/>
                          <a:latin typeface="Times New Roman" panose="02020603050405020304" pitchFamily="18" charset="0"/>
                          <a:cs typeface="Times New Roman" panose="02020603050405020304" pitchFamily="18" charset="0"/>
                        </a:rPr>
                        <a:t>Source URL</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0199" marR="50199" marT="0" marB="0" anchor="ctr"/>
                </a:tc>
                <a:extLst>
                  <a:ext uri="{0D108BD9-81ED-4DB2-BD59-A6C34878D82A}">
                    <a16:rowId xmlns:a16="http://schemas.microsoft.com/office/drawing/2014/main" val="2476869164"/>
                  </a:ext>
                </a:extLst>
              </a:tr>
              <a:tr h="1006215">
                <a:tc>
                  <a:txBody>
                    <a:bodyPr/>
                    <a:lstStyle/>
                    <a:p>
                      <a:pPr algn="ctr">
                        <a:buNone/>
                      </a:pPr>
                      <a:r>
                        <a:rPr lang="en-IN" sz="1100" b="1" dirty="0">
                          <a:effectLst/>
                          <a:latin typeface="Times New Roman" panose="02020603050405020304" pitchFamily="18" charset="0"/>
                          <a:ea typeface="Times New Roman" panose="02020603050405020304" pitchFamily="18" charset="0"/>
                        </a:rPr>
                        <a:t>Unit 1</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tc>
                <a:tc>
                  <a:txBody>
                    <a:bodyPr/>
                    <a:lstStyle/>
                    <a:p>
                      <a:pPr>
                        <a:buNone/>
                      </a:pPr>
                      <a:r>
                        <a:rPr lang="en-IN" sz="1100" dirty="0">
                          <a:effectLst/>
                          <a:latin typeface="Times New Roman" panose="02020603050405020304" pitchFamily="18" charset="0"/>
                          <a:ea typeface="Times New Roman" panose="02020603050405020304" pitchFamily="18" charset="0"/>
                        </a:rPr>
                        <a:t>Kubernetes Operations</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OER (Documentation)</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Google Kubernetes Engine (GKE) Documentation – Concepts and Workloads</a:t>
                      </a:r>
                    </a:p>
                  </a:txBody>
                  <a:tcPr marL="63500" marR="63500" marT="31750" marB="31750" anchor="ctr">
                    <a:solidFill>
                      <a:schemeClr val="accent1"/>
                    </a:solidFill>
                  </a:tcPr>
                </a:tc>
                <a:tc>
                  <a:txBody>
                    <a:bodyPr/>
                    <a:lstStyle/>
                    <a:p>
                      <a:pPr algn="ctr">
                        <a:buNone/>
                      </a:pPr>
                      <a:r>
                        <a:rPr lang="en-IN" sz="1100" b="1" dirty="0">
                          <a:effectLst/>
                          <a:latin typeface="Times New Roman" panose="02020603050405020304" pitchFamily="18" charset="0"/>
                          <a:ea typeface="Times New Roman" panose="02020603050405020304" pitchFamily="18" charset="0"/>
                        </a:rPr>
                        <a:t>100%</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buNone/>
                      </a:pPr>
                      <a:r>
                        <a:rPr lang="en-IN" sz="1100" u="sng" dirty="0">
                          <a:solidFill>
                            <a:srgbClr val="0563C1"/>
                          </a:solidFill>
                          <a:effectLst/>
                          <a:latin typeface="Times New Roman" panose="02020603050405020304" pitchFamily="18" charset="0"/>
                          <a:ea typeface="Times New Roman" panose="02020603050405020304" pitchFamily="18" charset="0"/>
                          <a:hlinkClick r:id="rId3"/>
                        </a:rPr>
                        <a:t>https://cloud.google.com/kubernetes-engine/docs</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extLst>
                  <a:ext uri="{0D108BD9-81ED-4DB2-BD59-A6C34878D82A}">
                    <a16:rowId xmlns:a16="http://schemas.microsoft.com/office/drawing/2014/main" val="2099684518"/>
                  </a:ext>
                </a:extLst>
              </a:tr>
              <a:tr h="1634280">
                <a:tc>
                  <a:txBody>
                    <a:bodyPr/>
                    <a:lstStyle/>
                    <a:p>
                      <a:pPr algn="ctr">
                        <a:buNone/>
                      </a:pPr>
                      <a:r>
                        <a:rPr lang="en-IN" sz="1100" b="1" dirty="0">
                          <a:effectLst/>
                          <a:latin typeface="Times New Roman" panose="02020603050405020304" pitchFamily="18" charset="0"/>
                          <a:ea typeface="Times New Roman" panose="02020603050405020304" pitchFamily="18" charset="0"/>
                        </a:rPr>
                        <a:t>Unit 2</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tc>
                <a:tc>
                  <a:txBody>
                    <a:bodyPr/>
                    <a:lstStyle/>
                    <a:p>
                      <a:pPr>
                        <a:buNone/>
                      </a:pPr>
                      <a:r>
                        <a:rPr lang="en-IN" sz="1100" dirty="0">
                          <a:effectLst/>
                          <a:latin typeface="Times New Roman" panose="02020603050405020304" pitchFamily="18" charset="0"/>
                          <a:ea typeface="Times New Roman" panose="02020603050405020304" pitchFamily="18" charset="0"/>
                        </a:rPr>
                        <a:t>Google Kubernetes Engine Networking and Persistent Storage</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OER (Documentation)</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GKE Networking and Storage Documentation</a:t>
                      </a:r>
                    </a:p>
                  </a:txBody>
                  <a:tcPr marL="63500" marR="63500" marT="31750" marB="31750" anchor="ctr">
                    <a:solidFill>
                      <a:schemeClr val="accent1"/>
                    </a:solidFill>
                  </a:tcPr>
                </a:tc>
                <a:tc>
                  <a:txBody>
                    <a:bodyPr/>
                    <a:lstStyle/>
                    <a:p>
                      <a:pPr algn="ctr">
                        <a:buNone/>
                      </a:pPr>
                      <a:r>
                        <a:rPr lang="en-IN" sz="1100" b="1" dirty="0">
                          <a:effectLst/>
                          <a:latin typeface="Times New Roman" panose="02020603050405020304" pitchFamily="18" charset="0"/>
                          <a:ea typeface="Times New Roman" panose="02020603050405020304" pitchFamily="18" charset="0"/>
                        </a:rPr>
                        <a:t>100%</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buNone/>
                      </a:pPr>
                      <a:r>
                        <a:rPr lang="en-IN" sz="1100" u="sng" dirty="0">
                          <a:solidFill>
                            <a:srgbClr val="0563C1"/>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https://cloud.google.com/kubernetes-engine/docs/concepts</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extLst>
                  <a:ext uri="{0D108BD9-81ED-4DB2-BD59-A6C34878D82A}">
                    <a16:rowId xmlns:a16="http://schemas.microsoft.com/office/drawing/2014/main" val="1655712247"/>
                  </a:ext>
                </a:extLst>
              </a:tr>
              <a:tr h="2165530">
                <a:tc>
                  <a:txBody>
                    <a:bodyPr/>
                    <a:lstStyle/>
                    <a:p>
                      <a:pPr algn="ctr">
                        <a:buNone/>
                      </a:pPr>
                      <a:r>
                        <a:rPr lang="en-IN" sz="1100" b="1" dirty="0">
                          <a:effectLst/>
                          <a:latin typeface="Times New Roman" panose="02020603050405020304" pitchFamily="18" charset="0"/>
                          <a:ea typeface="Times New Roman" panose="02020603050405020304" pitchFamily="18" charset="0"/>
                        </a:rPr>
                        <a:t>Unit 3</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tc>
                <a:tc>
                  <a:txBody>
                    <a:bodyPr/>
                    <a:lstStyle/>
                    <a:p>
                      <a:pPr>
                        <a:buNone/>
                      </a:pPr>
                      <a:r>
                        <a:rPr lang="en-IN" sz="1100" dirty="0">
                          <a:effectLst/>
                          <a:latin typeface="Times New Roman" panose="02020603050405020304" pitchFamily="18" charset="0"/>
                          <a:ea typeface="Times New Roman" panose="02020603050405020304" pitchFamily="18" charset="0"/>
                        </a:rPr>
                        <a:t>Access Control and Security in Kubernetes and GKE</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OER (Documentation)</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Secure Google Kubernetes Engine</a:t>
                      </a:r>
                    </a:p>
                  </a:txBody>
                  <a:tcPr marL="63500" marR="63500" marT="31750" marB="31750" anchor="ctr">
                    <a:solidFill>
                      <a:schemeClr val="accent1"/>
                    </a:solidFill>
                  </a:tcPr>
                </a:tc>
                <a:tc>
                  <a:txBody>
                    <a:bodyPr/>
                    <a:lstStyle/>
                    <a:p>
                      <a:pPr algn="ctr">
                        <a:buNone/>
                      </a:pPr>
                      <a:r>
                        <a:rPr lang="en-IN" sz="1100" b="1" dirty="0">
                          <a:effectLst/>
                          <a:latin typeface="Times New Roman" panose="02020603050405020304" pitchFamily="18" charset="0"/>
                          <a:ea typeface="Times New Roman" panose="02020603050405020304" pitchFamily="18" charset="0"/>
                        </a:rPr>
                        <a:t>100%</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buNone/>
                      </a:pPr>
                      <a:r>
                        <a:rPr lang="en-IN" sz="1100" u="sng" dirty="0">
                          <a:solidFill>
                            <a:srgbClr val="0563C1"/>
                          </a:solidFill>
                          <a:effectLst/>
                          <a:latin typeface="Times New Roman" panose="02020603050405020304" pitchFamily="18" charset="0"/>
                          <a:ea typeface="Times New Roman" panose="02020603050405020304" pitchFamily="18" charset="0"/>
                          <a:hlinkClick r:id="rId5"/>
                        </a:rPr>
                        <a:t>https://cloud.google.com/kubernetes-engine/docs/how-to/hardening-your-cluster</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extLst>
                  <a:ext uri="{0D108BD9-81ED-4DB2-BD59-A6C34878D82A}">
                    <a16:rowId xmlns:a16="http://schemas.microsoft.com/office/drawing/2014/main" val="4242627964"/>
                  </a:ext>
                </a:extLst>
              </a:tr>
            </a:tbl>
          </a:graphicData>
        </a:graphic>
      </p:graphicFrame>
    </p:spTree>
    <p:extLst>
      <p:ext uri="{BB962C8B-B14F-4D97-AF65-F5344CB8AC3E}">
        <p14:creationId xmlns:p14="http://schemas.microsoft.com/office/powerpoint/2010/main" val="1863169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TextBox 8"/>
          <p:cNvSpPr txBox="1">
            <a:spLocks noChangeArrowheads="1"/>
          </p:cNvSpPr>
          <p:nvPr/>
        </p:nvSpPr>
        <p:spPr bwMode="auto">
          <a:xfrm>
            <a:off x="933062" y="410202"/>
            <a:ext cx="10582469"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5400" dirty="0">
                <a:latin typeface="Times New Roman" panose="02020603050405020304" pitchFamily="18" charset="0"/>
                <a:cs typeface="Times New Roman" panose="02020603050405020304" pitchFamily="18" charset="0"/>
              </a:rPr>
              <a:t>Open Education Resources</a:t>
            </a:r>
            <a:endParaRPr lang="en-US" altLang="en-US" sz="5334" b="1" dirty="0">
              <a:solidFill>
                <a:srgbClr val="222222"/>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135888302"/>
              </p:ext>
            </p:extLst>
          </p:nvPr>
        </p:nvGraphicFramePr>
        <p:xfrm>
          <a:off x="0" y="1082351"/>
          <a:ext cx="12192000" cy="5670990"/>
        </p:xfrm>
        <a:graphic>
          <a:graphicData uri="http://schemas.openxmlformats.org/drawingml/2006/table">
            <a:tbl>
              <a:tblPr firstRow="1" firstCol="1" bandRow="1">
                <a:tableStyleId>{5C22544A-7EE6-4342-B048-85BDC9FD1C3A}</a:tableStyleId>
              </a:tblPr>
              <a:tblGrid>
                <a:gridCol w="1510486">
                  <a:extLst>
                    <a:ext uri="{9D8B030D-6E8A-4147-A177-3AD203B41FA5}">
                      <a16:colId xmlns:a16="http://schemas.microsoft.com/office/drawing/2014/main" val="2557986305"/>
                    </a:ext>
                  </a:extLst>
                </a:gridCol>
                <a:gridCol w="2328600">
                  <a:extLst>
                    <a:ext uri="{9D8B030D-6E8A-4147-A177-3AD203B41FA5}">
                      <a16:colId xmlns:a16="http://schemas.microsoft.com/office/drawing/2014/main" val="977236143"/>
                    </a:ext>
                  </a:extLst>
                </a:gridCol>
                <a:gridCol w="1804918">
                  <a:extLst>
                    <a:ext uri="{9D8B030D-6E8A-4147-A177-3AD203B41FA5}">
                      <a16:colId xmlns:a16="http://schemas.microsoft.com/office/drawing/2014/main" val="2390568185"/>
                    </a:ext>
                  </a:extLst>
                </a:gridCol>
                <a:gridCol w="1591371">
                  <a:extLst>
                    <a:ext uri="{9D8B030D-6E8A-4147-A177-3AD203B41FA5}">
                      <a16:colId xmlns:a16="http://schemas.microsoft.com/office/drawing/2014/main" val="572343014"/>
                    </a:ext>
                  </a:extLst>
                </a:gridCol>
                <a:gridCol w="1584433">
                  <a:extLst>
                    <a:ext uri="{9D8B030D-6E8A-4147-A177-3AD203B41FA5}">
                      <a16:colId xmlns:a16="http://schemas.microsoft.com/office/drawing/2014/main" val="4185572907"/>
                    </a:ext>
                  </a:extLst>
                </a:gridCol>
                <a:gridCol w="3372192">
                  <a:extLst>
                    <a:ext uri="{9D8B030D-6E8A-4147-A177-3AD203B41FA5}">
                      <a16:colId xmlns:a16="http://schemas.microsoft.com/office/drawing/2014/main" val="3728532316"/>
                    </a:ext>
                  </a:extLst>
                </a:gridCol>
              </a:tblGrid>
              <a:tr h="1590247">
                <a:tc>
                  <a:txBody>
                    <a:bodyPr/>
                    <a:lstStyle/>
                    <a:p>
                      <a:pPr algn="ctr">
                        <a:buNone/>
                      </a:pPr>
                      <a:r>
                        <a:rPr lang="en-IN" sz="1100" b="1" dirty="0">
                          <a:effectLst/>
                          <a:latin typeface="Times New Roman" panose="02020603050405020304" pitchFamily="18" charset="0"/>
                          <a:ea typeface="Times New Roman" panose="02020603050405020304" pitchFamily="18" charset="0"/>
                        </a:rPr>
                        <a:t>Unit 4</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buNone/>
                      </a:pPr>
                      <a:r>
                        <a:rPr lang="en-IN" sz="1100" dirty="0">
                          <a:solidFill>
                            <a:schemeClr val="tx1"/>
                          </a:solidFill>
                          <a:effectLst/>
                          <a:latin typeface="Times New Roman" panose="02020603050405020304" pitchFamily="18" charset="0"/>
                          <a:ea typeface="Times New Roman" panose="02020603050405020304" pitchFamily="18" charset="0"/>
                        </a:rPr>
                        <a:t>Logging, Monitoring and Managed Storage Services</a:t>
                      </a:r>
                    </a:p>
                  </a:txBody>
                  <a:tcPr marL="63500" marR="63500" marT="31750" marB="31750" anchor="ctr">
                    <a:solidFill>
                      <a:schemeClr val="accent1"/>
                    </a:solidFill>
                  </a:tcPr>
                </a:tc>
                <a:tc>
                  <a:txBody>
                    <a:bodyPr/>
                    <a:lstStyle/>
                    <a:p>
                      <a:pPr>
                        <a:buNone/>
                      </a:pPr>
                      <a:r>
                        <a:rPr lang="en-IN" sz="1100" dirty="0">
                          <a:solidFill>
                            <a:schemeClr val="tx1"/>
                          </a:solidFill>
                          <a:effectLst/>
                          <a:latin typeface="Times New Roman" panose="02020603050405020304" pitchFamily="18" charset="0"/>
                          <a:ea typeface="Times New Roman" panose="02020603050405020304" pitchFamily="18" charset="0"/>
                        </a:rPr>
                        <a:t>OER (Documentation)</a:t>
                      </a:r>
                    </a:p>
                  </a:txBody>
                  <a:tcPr marL="63500" marR="63500" marT="31750" marB="31750" anchor="ctr">
                    <a:solidFill>
                      <a:schemeClr val="accent1"/>
                    </a:solidFill>
                  </a:tcPr>
                </a:tc>
                <a:tc>
                  <a:txBody>
                    <a:bodyPr/>
                    <a:lstStyle/>
                    <a:p>
                      <a:pPr>
                        <a:buNone/>
                      </a:pPr>
                      <a:r>
                        <a:rPr lang="en-IN" sz="1100" dirty="0">
                          <a:solidFill>
                            <a:schemeClr val="tx1"/>
                          </a:solidFill>
                          <a:effectLst/>
                          <a:latin typeface="Times New Roman" panose="02020603050405020304" pitchFamily="18" charset="0"/>
                          <a:ea typeface="Times New Roman" panose="02020603050405020304" pitchFamily="18" charset="0"/>
                        </a:rPr>
                        <a:t>Google Cloud Operations Suite Documentation</a:t>
                      </a:r>
                    </a:p>
                  </a:txBody>
                  <a:tcPr marL="63500" marR="63500" marT="31750" marB="31750" anchor="ctr">
                    <a:solidFill>
                      <a:schemeClr val="accent1"/>
                    </a:solidFill>
                  </a:tcPr>
                </a:tc>
                <a:tc>
                  <a:txBody>
                    <a:bodyPr/>
                    <a:lstStyle/>
                    <a:p>
                      <a:pPr algn="ctr">
                        <a:buNone/>
                      </a:pPr>
                      <a:r>
                        <a:rPr lang="en-IN" sz="1100" b="1" dirty="0">
                          <a:solidFill>
                            <a:schemeClr val="tx1"/>
                          </a:solidFill>
                          <a:effectLst/>
                          <a:latin typeface="Times New Roman" panose="02020603050405020304" pitchFamily="18" charset="0"/>
                          <a:ea typeface="Times New Roman" panose="02020603050405020304" pitchFamily="18" charset="0"/>
                        </a:rPr>
                        <a:t>95%</a:t>
                      </a:r>
                      <a:endParaRPr lang="en-IN" sz="1100" dirty="0">
                        <a:solidFill>
                          <a:schemeClr val="tx1"/>
                        </a:solidFill>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lgn="ctr">
                        <a:lnSpc>
                          <a:spcPct val="106000"/>
                        </a:lnSpc>
                        <a:spcAft>
                          <a:spcPts val="0"/>
                        </a:spcAft>
                      </a:pPr>
                      <a:endPar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endParaRPr>
                    </a:p>
                    <a:p>
                      <a:pPr algn="ctr">
                        <a:lnSpc>
                          <a:spcPct val="106000"/>
                        </a:lnSpc>
                        <a:spcAft>
                          <a:spcPts val="0"/>
                        </a:spcAft>
                      </a:pPr>
                      <a:endPar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endParaRPr>
                    </a:p>
                    <a:p>
                      <a:pPr algn="ctr">
                        <a:lnSpc>
                          <a:spcPct val="106000"/>
                        </a:lnSpc>
                        <a:spcAft>
                          <a:spcPts val="0"/>
                        </a:spcAft>
                      </a:pPr>
                      <a:endPar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endParaRPr>
                    </a:p>
                    <a:p>
                      <a:pPr algn="ctr">
                        <a:lnSpc>
                          <a:spcPct val="106000"/>
                        </a:lnSpc>
                        <a:spcAft>
                          <a:spcPts val="0"/>
                        </a:spcAft>
                      </a:pPr>
                      <a:r>
                        <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https://cloud.google.com/monitoring/docs</a:t>
                      </a:r>
                      <a:endParaRPr lang="en-US" sz="1200" dirty="0">
                        <a:effectLst/>
                        <a:latin typeface="Times New Roman" panose="02020603050405020304" pitchFamily="18" charset="0"/>
                        <a:cs typeface="Times New Roman" panose="02020603050405020304" pitchFamily="18" charset="0"/>
                      </a:endParaRPr>
                    </a:p>
                  </a:txBody>
                  <a:tcPr marL="68580" marR="68580" marT="0" marB="0">
                    <a:solidFill>
                      <a:schemeClr val="accent1"/>
                    </a:solidFill>
                  </a:tcPr>
                </a:tc>
                <a:extLst>
                  <a:ext uri="{0D108BD9-81ED-4DB2-BD59-A6C34878D82A}">
                    <a16:rowId xmlns:a16="http://schemas.microsoft.com/office/drawing/2014/main" val="4174135097"/>
                  </a:ext>
                </a:extLst>
              </a:tr>
              <a:tr h="1590247">
                <a:tc>
                  <a:txBody>
                    <a:bodyPr/>
                    <a:lstStyle/>
                    <a:p>
                      <a:pPr algn="ctr">
                        <a:buNone/>
                      </a:pPr>
                      <a:r>
                        <a:rPr lang="en-IN" sz="1100" b="1" dirty="0">
                          <a:effectLst/>
                          <a:latin typeface="Times New Roman" panose="02020603050405020304" pitchFamily="18" charset="0"/>
                          <a:ea typeface="Times New Roman" panose="02020603050405020304" pitchFamily="18" charset="0"/>
                        </a:rPr>
                        <a:t>Unit 5</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buNone/>
                      </a:pPr>
                      <a:r>
                        <a:rPr lang="en-IN" sz="1100" dirty="0">
                          <a:solidFill>
                            <a:schemeClr val="tx1"/>
                          </a:solidFill>
                          <a:effectLst/>
                          <a:latin typeface="Times New Roman" panose="02020603050405020304" pitchFamily="18" charset="0"/>
                          <a:ea typeface="Times New Roman" panose="02020603050405020304" pitchFamily="18" charset="0"/>
                        </a:rPr>
                        <a:t>Google Cloud Monitoring Tools</a:t>
                      </a:r>
                    </a:p>
                  </a:txBody>
                  <a:tcPr marL="63500" marR="63500" marT="31750" marB="31750" anchor="ctr">
                    <a:solidFill>
                      <a:schemeClr val="accent1"/>
                    </a:solidFill>
                  </a:tcPr>
                </a:tc>
                <a:tc>
                  <a:txBody>
                    <a:bodyPr/>
                    <a:lstStyle/>
                    <a:p>
                      <a:pPr>
                        <a:buNone/>
                      </a:pPr>
                      <a:r>
                        <a:rPr lang="en-IN" sz="1100" dirty="0">
                          <a:solidFill>
                            <a:schemeClr val="tx1"/>
                          </a:solidFill>
                          <a:effectLst/>
                          <a:latin typeface="Times New Roman" panose="02020603050405020304" pitchFamily="18" charset="0"/>
                          <a:ea typeface="Times New Roman" panose="02020603050405020304" pitchFamily="18" charset="0"/>
                        </a:rPr>
                        <a:t>OER (Documentation)</a:t>
                      </a:r>
                    </a:p>
                  </a:txBody>
                  <a:tcPr marL="63500" marR="63500" marT="31750" marB="31750" anchor="ctr">
                    <a:solidFill>
                      <a:schemeClr val="accent1"/>
                    </a:solidFill>
                  </a:tcPr>
                </a:tc>
                <a:tc>
                  <a:txBody>
                    <a:bodyPr/>
                    <a:lstStyle/>
                    <a:p>
                      <a:pPr>
                        <a:buNone/>
                      </a:pPr>
                      <a:r>
                        <a:rPr lang="en-IN" sz="1100" dirty="0">
                          <a:solidFill>
                            <a:schemeClr val="tx1"/>
                          </a:solidFill>
                          <a:effectLst/>
                          <a:latin typeface="Times New Roman" panose="02020603050405020304" pitchFamily="18" charset="0"/>
                          <a:ea typeface="Times New Roman" panose="02020603050405020304" pitchFamily="18" charset="0"/>
                        </a:rPr>
                        <a:t>Google Cloud Monitoring Documentation</a:t>
                      </a:r>
                    </a:p>
                  </a:txBody>
                  <a:tcPr marL="63500" marR="63500" marT="31750" marB="31750" anchor="ctr">
                    <a:solidFill>
                      <a:schemeClr val="accent1"/>
                    </a:solidFill>
                  </a:tcPr>
                </a:tc>
                <a:tc>
                  <a:txBody>
                    <a:bodyPr/>
                    <a:lstStyle/>
                    <a:p>
                      <a:pPr algn="ctr">
                        <a:buNone/>
                      </a:pPr>
                      <a:r>
                        <a:rPr lang="en-IN" sz="1100" b="1" dirty="0">
                          <a:solidFill>
                            <a:schemeClr val="tx1"/>
                          </a:solidFill>
                          <a:effectLst/>
                          <a:latin typeface="Times New Roman" panose="02020603050405020304" pitchFamily="18" charset="0"/>
                          <a:ea typeface="Times New Roman" panose="02020603050405020304" pitchFamily="18" charset="0"/>
                        </a:rPr>
                        <a:t>100%</a:t>
                      </a:r>
                      <a:endParaRPr lang="en-IN" sz="1100" dirty="0">
                        <a:solidFill>
                          <a:schemeClr val="tx1"/>
                        </a:solidFill>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lgn="ctr">
                        <a:lnSpc>
                          <a:spcPct val="106000"/>
                        </a:lnSpc>
                        <a:spcAft>
                          <a:spcPts val="0"/>
                        </a:spcAft>
                      </a:pPr>
                      <a:endPar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endParaRPr>
                    </a:p>
                    <a:p>
                      <a:pPr algn="ctr">
                        <a:lnSpc>
                          <a:spcPct val="106000"/>
                        </a:lnSpc>
                        <a:spcAft>
                          <a:spcPts val="0"/>
                        </a:spcAft>
                      </a:pPr>
                      <a:endPar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endParaRPr>
                    </a:p>
                    <a:p>
                      <a:pPr algn="ctr">
                        <a:lnSpc>
                          <a:spcPct val="106000"/>
                        </a:lnSpc>
                        <a:spcAft>
                          <a:spcPts val="0"/>
                        </a:spcAft>
                      </a:pPr>
                      <a:endPar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endParaRPr>
                    </a:p>
                    <a:p>
                      <a:pPr algn="ctr">
                        <a:lnSpc>
                          <a:spcPct val="106000"/>
                        </a:lnSpc>
                        <a:spcAft>
                          <a:spcPts val="0"/>
                        </a:spcAft>
                      </a:pPr>
                      <a:r>
                        <a:rPr lang="en-IN" sz="1200" u="sng" dirty="0">
                          <a:solidFill>
                            <a:srgbClr val="0563C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https://cloud.google.com/monitoring/docs</a:t>
                      </a:r>
                      <a:endParaRPr lang="en-US" sz="1200" dirty="0">
                        <a:effectLst/>
                        <a:latin typeface="Times New Roman" panose="02020603050405020304" pitchFamily="18" charset="0"/>
                        <a:cs typeface="Times New Roman" panose="02020603050405020304" pitchFamily="18" charset="0"/>
                      </a:endParaRPr>
                    </a:p>
                  </a:txBody>
                  <a:tcPr marL="68580" marR="68580" marT="0" marB="0">
                    <a:solidFill>
                      <a:schemeClr val="accent1"/>
                    </a:solidFill>
                  </a:tcPr>
                </a:tc>
                <a:extLst>
                  <a:ext uri="{0D108BD9-81ED-4DB2-BD59-A6C34878D82A}">
                    <a16:rowId xmlns:a16="http://schemas.microsoft.com/office/drawing/2014/main" val="2653194776"/>
                  </a:ext>
                </a:extLst>
              </a:tr>
              <a:tr h="2490496">
                <a:tc>
                  <a:txBody>
                    <a:bodyPr/>
                    <a:lstStyle/>
                    <a:p>
                      <a:pPr algn="ctr">
                        <a:buNone/>
                      </a:pPr>
                      <a:r>
                        <a:rPr lang="en-IN" sz="1100" b="1" dirty="0">
                          <a:effectLst/>
                          <a:latin typeface="Times New Roman" panose="02020603050405020304" pitchFamily="18" charset="0"/>
                          <a:ea typeface="Times New Roman" panose="02020603050405020304" pitchFamily="18" charset="0"/>
                        </a:rPr>
                        <a:t>Unit 6</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tc>
                <a:tc>
                  <a:txBody>
                    <a:bodyPr/>
                    <a:lstStyle/>
                    <a:p>
                      <a:pPr>
                        <a:buNone/>
                      </a:pPr>
                      <a:r>
                        <a:rPr lang="en-IN" sz="1100" dirty="0">
                          <a:effectLst/>
                          <a:latin typeface="Times New Roman" panose="02020603050405020304" pitchFamily="18" charset="0"/>
                          <a:ea typeface="Times New Roman" panose="02020603050405020304" pitchFamily="18" charset="0"/>
                        </a:rPr>
                        <a:t>Service Reliability and Alerting</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OER (Documentation)</a:t>
                      </a:r>
                    </a:p>
                  </a:txBody>
                  <a:tcPr marL="63500" marR="63500" marT="31750" marB="31750" anchor="ctr">
                    <a:solidFill>
                      <a:schemeClr val="accent1"/>
                    </a:solidFill>
                  </a:tcPr>
                </a:tc>
                <a:tc>
                  <a:txBody>
                    <a:bodyPr/>
                    <a:lstStyle/>
                    <a:p>
                      <a:pPr>
                        <a:buNone/>
                      </a:pPr>
                      <a:r>
                        <a:rPr lang="en-IN" sz="1100" dirty="0">
                          <a:effectLst/>
                          <a:latin typeface="Times New Roman" panose="02020603050405020304" pitchFamily="18" charset="0"/>
                          <a:ea typeface="Times New Roman" panose="02020603050405020304" pitchFamily="18" charset="0"/>
                        </a:rPr>
                        <a:t>Site Reliability Engineering (SRE) and Cloud Monitoring Documentation</a:t>
                      </a:r>
                    </a:p>
                  </a:txBody>
                  <a:tcPr marL="63500" marR="63500" marT="31750" marB="31750" anchor="ctr">
                    <a:solidFill>
                      <a:schemeClr val="accent1"/>
                    </a:solidFill>
                  </a:tcPr>
                </a:tc>
                <a:tc>
                  <a:txBody>
                    <a:bodyPr/>
                    <a:lstStyle/>
                    <a:p>
                      <a:pPr algn="ctr">
                        <a:buNone/>
                      </a:pPr>
                      <a:r>
                        <a:rPr lang="en-IN" sz="1100" b="1" dirty="0">
                          <a:effectLst/>
                          <a:latin typeface="Times New Roman" panose="02020603050405020304" pitchFamily="18" charset="0"/>
                          <a:ea typeface="Times New Roman" panose="02020603050405020304" pitchFamily="18" charset="0"/>
                        </a:rPr>
                        <a:t>100%</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tc>
                  <a:txBody>
                    <a:bodyPr/>
                    <a:lstStyle/>
                    <a:p>
                      <a:pPr>
                        <a:buNone/>
                      </a:pPr>
                      <a:r>
                        <a:rPr lang="en-IN" sz="1100" u="sng" dirty="0">
                          <a:solidFill>
                            <a:srgbClr val="0563C1"/>
                          </a:solidFill>
                          <a:effectLst/>
                          <a:latin typeface="Times New Roman" panose="02020603050405020304" pitchFamily="18" charset="0"/>
                          <a:ea typeface="Times New Roman" panose="02020603050405020304" pitchFamily="18" charset="0"/>
                          <a:hlinkClick r:id="rId3"/>
                        </a:rPr>
                        <a:t>https://cloud.google.com/stackdriver/docs</a:t>
                      </a:r>
                      <a:endParaRPr lang="en-IN" sz="1100" dirty="0">
                        <a:effectLst/>
                        <a:latin typeface="Times New Roman" panose="02020603050405020304" pitchFamily="18" charset="0"/>
                        <a:ea typeface="Times New Roman" panose="02020603050405020304" pitchFamily="18" charset="0"/>
                      </a:endParaRPr>
                    </a:p>
                  </a:txBody>
                  <a:tcPr marL="63500" marR="63500" marT="31750" marB="31750" anchor="ctr">
                    <a:solidFill>
                      <a:schemeClr val="accent1"/>
                    </a:solidFill>
                  </a:tcPr>
                </a:tc>
                <a:extLst>
                  <a:ext uri="{0D108BD9-81ED-4DB2-BD59-A6C34878D82A}">
                    <a16:rowId xmlns:a16="http://schemas.microsoft.com/office/drawing/2014/main" val="3760081621"/>
                  </a:ext>
                </a:extLst>
              </a:tr>
            </a:tbl>
          </a:graphicData>
        </a:graphic>
      </p:graphicFrame>
    </p:spTree>
    <p:extLst>
      <p:ext uri="{BB962C8B-B14F-4D97-AF65-F5344CB8AC3E}">
        <p14:creationId xmlns:p14="http://schemas.microsoft.com/office/powerpoint/2010/main" val="2571663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ea typeface="Open Sans" panose="020B0604020202020204" pitchFamily="34" charset="0"/>
                <a:cs typeface="Times New Roman" panose="02020603050405020304" pitchFamily="18" charset="0"/>
              </a:rPr>
              <a:t>Additional Tools / Activities</a:t>
            </a:r>
            <a:endParaRPr lang="en-US" b="1" dirty="0">
              <a:latin typeface="Times New Roman" panose="02020603050405020304" pitchFamily="18" charset="0"/>
              <a:ea typeface="Open Sans" panose="020B0604020202020204" pitchFamily="34" charset="0"/>
              <a:cs typeface="Times New Roman" panose="02020603050405020304" pitchFamily="18" charset="0"/>
            </a:endParaRPr>
          </a:p>
        </p:txBody>
      </p:sp>
      <p:sp>
        <p:nvSpPr>
          <p:cNvPr id="3" name="Content Placeholder 2"/>
          <p:cNvSpPr>
            <a:spLocks noGrp="1"/>
          </p:cNvSpPr>
          <p:nvPr>
            <p:ph idx="1"/>
          </p:nvPr>
        </p:nvSpPr>
        <p:spPr>
          <a:xfrm>
            <a:off x="279918" y="1436915"/>
            <a:ext cx="11635274" cy="4711958"/>
          </a:xfrm>
        </p:spPr>
        <p:txBody>
          <a:bodyPr>
            <a:noAutofit/>
          </a:bodyPr>
          <a:lstStyle/>
          <a:p>
            <a:pPr lvl="0" algn="just">
              <a:lnSpc>
                <a:spcPts val="5952"/>
              </a:lnSpc>
              <a:buFont typeface="Wingdings" panose="05000000000000000000" pitchFamily="2" charset="2"/>
              <a:buChar char="ü"/>
            </a:pPr>
            <a:r>
              <a:rPr lang="en-US" sz="2000" spc="-62" dirty="0">
                <a:solidFill>
                  <a:srgbClr val="000000"/>
                </a:solidFill>
                <a:latin typeface="Inter"/>
                <a:ea typeface="Inter"/>
                <a:cs typeface="Inter"/>
                <a:sym typeface="Inter"/>
              </a:rPr>
              <a:t>Since this is an industry collaborative course, it aligns with Google Cloud Documentation and Hence all study material will be readily available to each student through industry experts</a:t>
            </a:r>
          </a:p>
          <a:p>
            <a:pPr lvl="0" algn="just">
              <a:lnSpc>
                <a:spcPts val="5952"/>
              </a:lnSpc>
              <a:buFont typeface="Wingdings" panose="05000000000000000000" pitchFamily="2" charset="2"/>
              <a:buChar char="ü"/>
            </a:pPr>
            <a:r>
              <a:rPr lang="en-US" sz="2000" spc="-62" dirty="0">
                <a:solidFill>
                  <a:srgbClr val="000000"/>
                </a:solidFill>
                <a:latin typeface="Inter"/>
                <a:ea typeface="Inter"/>
                <a:cs typeface="Inter"/>
                <a:sym typeface="Inter"/>
              </a:rPr>
              <a:t>Edu-revolution benefits cannot be extended to this subject due to its industry collaboration and mapping of syllabus with Certification</a:t>
            </a:r>
          </a:p>
          <a:p>
            <a:pPr lvl="0" algn="just">
              <a:lnSpc>
                <a:spcPts val="5952"/>
              </a:lnSpc>
              <a:buFont typeface="Wingdings" panose="05000000000000000000" pitchFamily="2" charset="2"/>
              <a:buChar char="ü"/>
            </a:pPr>
            <a:r>
              <a:rPr lang="en-US" sz="2000" spc="-62" dirty="0">
                <a:solidFill>
                  <a:srgbClr val="000000"/>
                </a:solidFill>
                <a:latin typeface="Inter"/>
                <a:ea typeface="Inter"/>
                <a:cs typeface="Inter"/>
                <a:sym typeface="Inter"/>
              </a:rPr>
              <a:t>The course aligns with Google Badges which students can collect while working on lab sessions.</a:t>
            </a:r>
          </a:p>
        </p:txBody>
      </p:sp>
    </p:spTree>
    <p:extLst>
      <p:ext uri="{BB962C8B-B14F-4D97-AF65-F5344CB8AC3E}">
        <p14:creationId xmlns:p14="http://schemas.microsoft.com/office/powerpoint/2010/main" val="271866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Box 8"/>
          <p:cNvSpPr txBox="1">
            <a:spLocks noChangeArrowheads="1"/>
          </p:cNvSpPr>
          <p:nvPr/>
        </p:nvSpPr>
        <p:spPr bwMode="auto">
          <a:xfrm>
            <a:off x="2794001" y="520961"/>
            <a:ext cx="6551083"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Bloom’s taxonomy</a:t>
            </a:r>
          </a:p>
        </p:txBody>
      </p:sp>
      <p:pic>
        <p:nvPicPr>
          <p:cNvPr id="21510" name="Picture 2" descr="Melding Bloom's Taxonomy and Universal Design for Learning"/>
          <p:cNvPicPr>
            <a:picLocks noChangeAspect="1" noChangeArrowheads="1"/>
          </p:cNvPicPr>
          <p:nvPr/>
        </p:nvPicPr>
        <p:blipFill>
          <a:blip r:embed="rId2">
            <a:extLst>
              <a:ext uri="{28A0092B-C50C-407E-A947-70E740481C1C}">
                <a14:useLocalDpi xmlns:a14="http://schemas.microsoft.com/office/drawing/2010/main" val="0"/>
              </a:ext>
            </a:extLst>
          </a:blip>
          <a:srcRect t="19308"/>
          <a:stretch>
            <a:fillRect/>
          </a:stretch>
        </p:blipFill>
        <p:spPr bwMode="auto">
          <a:xfrm>
            <a:off x="1270000" y="1398771"/>
            <a:ext cx="9753600" cy="509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47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10058400" cy="914400"/>
          </a:xfrm>
          <a:prstGeom prst="rect">
            <a:avLst/>
          </a:prstGeom>
          <a:noFill/>
        </p:spPr>
        <p:txBody>
          <a:bodyPr wrap="none">
            <a:spAutoFit/>
          </a:bodyPr>
          <a:lstStyle/>
          <a:p>
            <a:pPr algn="l">
              <a:defRPr sz="3000" b="1">
                <a:solidFill>
                  <a:srgbClr val="FFFFFF"/>
                </a:solidFill>
              </a:defRPr>
            </a:pPr>
            <a:r>
              <a:t>EDU Revolution</a:t>
            </a:r>
          </a:p>
          <a:p>
            <a:pPr>
              <a:defRPr sz="1800">
                <a:solidFill>
                  <a:srgbClr val="E6E6E6"/>
                </a:solidFill>
              </a:defRPr>
            </a:pPr>
            <a:r>
              <a:t>Learning Beyond the Classroom</a:t>
            </a:r>
            <a:br/>
            <a:r>
              <a:t>Division of Academic Affairs</a:t>
            </a:r>
          </a:p>
        </p:txBody>
      </p:sp>
      <p:pic>
        <p:nvPicPr>
          <p:cNvPr id="4" name="Picture 3">
            <a:extLst>
              <a:ext uri="{FF2B5EF4-FFF2-40B4-BE49-F238E27FC236}">
                <a16:creationId xmlns:a16="http://schemas.microsoft.com/office/drawing/2014/main" id="{7E6BFD40-5826-1731-FA59-0D45F6201553}"/>
              </a:ext>
            </a:extLst>
          </p:cNvPr>
          <p:cNvPicPr>
            <a:picLocks noChangeAspect="1"/>
          </p:cNvPicPr>
          <p:nvPr/>
        </p:nvPicPr>
        <p:blipFill>
          <a:blip r:embed="rId2"/>
          <a:stretch>
            <a:fillRect/>
          </a:stretch>
        </p:blipFill>
        <p:spPr>
          <a:xfrm>
            <a:off x="-1"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3215680" y="983407"/>
            <a:ext cx="5760639" cy="1008112"/>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charset="0"/>
              </a:defRPr>
            </a:lvl2pPr>
            <a:lvl3pPr algn="ctr" rtl="0" eaLnBrk="0" fontAlgn="base" hangingPunct="0">
              <a:spcBef>
                <a:spcPct val="0"/>
              </a:spcBef>
              <a:spcAft>
                <a:spcPct val="0"/>
              </a:spcAft>
              <a:defRPr sz="4400">
                <a:solidFill>
                  <a:schemeClr val="tx1"/>
                </a:solidFill>
                <a:latin typeface="Calibri" panose="020F0502020204030204" charset="0"/>
              </a:defRPr>
            </a:lvl3pPr>
            <a:lvl4pPr algn="ctr" rtl="0" eaLnBrk="0" fontAlgn="base" hangingPunct="0">
              <a:spcBef>
                <a:spcPct val="0"/>
              </a:spcBef>
              <a:spcAft>
                <a:spcPct val="0"/>
              </a:spcAft>
              <a:defRPr sz="4400">
                <a:solidFill>
                  <a:schemeClr val="tx1"/>
                </a:solidFill>
                <a:latin typeface="Calibri" panose="020F0502020204030204" charset="0"/>
              </a:defRPr>
            </a:lvl4pPr>
            <a:lvl5pPr algn="ctr" rtl="0" eaLnBrk="0" fontAlgn="base" hangingPunct="0">
              <a:spcBef>
                <a:spcPct val="0"/>
              </a:spcBef>
              <a:spcAft>
                <a:spcPct val="0"/>
              </a:spcAft>
              <a:defRPr sz="4400">
                <a:solidFill>
                  <a:schemeClr val="tx1"/>
                </a:solidFill>
                <a:latin typeface="Calibri" panose="020F0502020204030204" charset="0"/>
              </a:defRPr>
            </a:lvl5pPr>
            <a:lvl6pPr marL="457200" algn="ctr" rtl="0" fontAlgn="base">
              <a:spcBef>
                <a:spcPct val="0"/>
              </a:spcBef>
              <a:spcAft>
                <a:spcPct val="0"/>
              </a:spcAft>
              <a:defRPr sz="4400">
                <a:solidFill>
                  <a:schemeClr val="tx1"/>
                </a:solidFill>
                <a:latin typeface="Calibri" panose="020F0502020204030204" charset="0"/>
              </a:defRPr>
            </a:lvl6pPr>
            <a:lvl7pPr marL="914400" algn="ctr" rtl="0" fontAlgn="base">
              <a:spcBef>
                <a:spcPct val="0"/>
              </a:spcBef>
              <a:spcAft>
                <a:spcPct val="0"/>
              </a:spcAft>
              <a:defRPr sz="4400">
                <a:solidFill>
                  <a:schemeClr val="tx1"/>
                </a:solidFill>
                <a:latin typeface="Calibri" panose="020F0502020204030204" charset="0"/>
              </a:defRPr>
            </a:lvl7pPr>
            <a:lvl8pPr marL="1371600" algn="ctr" rtl="0" fontAlgn="base">
              <a:spcBef>
                <a:spcPct val="0"/>
              </a:spcBef>
              <a:spcAft>
                <a:spcPct val="0"/>
              </a:spcAft>
              <a:defRPr sz="4400">
                <a:solidFill>
                  <a:schemeClr val="tx1"/>
                </a:solidFill>
                <a:latin typeface="Calibri" panose="020F0502020204030204" charset="0"/>
              </a:defRPr>
            </a:lvl8pPr>
            <a:lvl9pPr marL="1828800" algn="ctr" rtl="0" fontAlgn="base">
              <a:spcBef>
                <a:spcPct val="0"/>
              </a:spcBef>
              <a:spcAft>
                <a:spcPct val="0"/>
              </a:spcAft>
              <a:defRPr sz="4400">
                <a:solidFill>
                  <a:schemeClr val="tx1"/>
                </a:solidFill>
                <a:latin typeface="Calibri" panose="020F0502020204030204" charset="0"/>
              </a:defRPr>
            </a:lvl9pPr>
          </a:lstStyle>
          <a:p>
            <a:r>
              <a:rPr lang="en-US" sz="4000" b="1" dirty="0">
                <a:solidFill>
                  <a:schemeClr val="accent6">
                    <a:lumMod val="75000"/>
                  </a:schemeClr>
                </a:solidFill>
                <a:latin typeface="Aptos" panose="020B0004020202020204" pitchFamily="34" charset="0"/>
                <a:cs typeface="Bahnschrift SemiCondensed" panose="020B0502040204020203" charset="0"/>
              </a:rPr>
              <a:t>Why EDU-Revolution!!!</a:t>
            </a:r>
          </a:p>
        </p:txBody>
      </p:sp>
      <p:sp>
        <p:nvSpPr>
          <p:cNvPr id="5" name="Content Placeholder 2"/>
          <p:cNvSpPr>
            <a:spLocks noGrp="1"/>
          </p:cNvSpPr>
          <p:nvPr/>
        </p:nvSpPr>
        <p:spPr>
          <a:xfrm>
            <a:off x="1008380" y="1805305"/>
            <a:ext cx="10175240" cy="505269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835" lvl="1" indent="-342900">
              <a:lnSpc>
                <a:spcPct val="150000"/>
              </a:lnSpc>
              <a:spcBef>
                <a:spcPts val="0"/>
              </a:spcBef>
              <a:buFont typeface="Arial" panose="020B0604020202020204" pitchFamily="34" charset="0"/>
              <a:buChar char="•"/>
            </a:pPr>
            <a:r>
              <a:rPr lang="en-US" altLang="en-US" dirty="0">
                <a:latin typeface="Aptos" panose="020B0004020202020204" pitchFamily="34" charset="0"/>
                <a:cs typeface="Arial Rounded MT Bold" panose="020F0704030504030204" charset="0"/>
              </a:rPr>
              <a:t>Supports the 'Earn Your Fee' vision through real-world achievements</a:t>
            </a:r>
          </a:p>
          <a:p>
            <a:pPr marL="457835" lvl="1" indent="-342900">
              <a:lnSpc>
                <a:spcPct val="150000"/>
              </a:lnSpc>
              <a:spcBef>
                <a:spcPts val="0"/>
              </a:spcBef>
              <a:buFont typeface="Arial" panose="020B0604020202020204" pitchFamily="34" charset="0"/>
              <a:buChar char="•"/>
            </a:pPr>
            <a:r>
              <a:rPr lang="en-US" altLang="en-US" dirty="0">
                <a:latin typeface="Aptos" panose="020B0004020202020204" pitchFamily="34" charset="0"/>
                <a:cs typeface="Arial Rounded MT Bold" panose="020F0704030504030204" charset="0"/>
              </a:rPr>
              <a:t>Career Readiness</a:t>
            </a:r>
          </a:p>
          <a:p>
            <a:pPr marL="457835" lvl="1" indent="-342900">
              <a:lnSpc>
                <a:spcPct val="150000"/>
              </a:lnSpc>
              <a:spcBef>
                <a:spcPts val="0"/>
              </a:spcBef>
              <a:buFont typeface="Arial" panose="020B0604020202020204" pitchFamily="34" charset="0"/>
              <a:buChar char="•"/>
            </a:pPr>
            <a:r>
              <a:rPr lang="en-US" altLang="en-US" dirty="0">
                <a:latin typeface="Aptos" panose="020B0004020202020204" pitchFamily="34" charset="0"/>
                <a:cs typeface="Arial Rounded MT Bold" panose="020F0704030504030204" charset="0"/>
              </a:rPr>
              <a:t>Enhance Real World Skills</a:t>
            </a:r>
          </a:p>
          <a:p>
            <a:pPr marL="457835" lvl="1" indent="-342900">
              <a:lnSpc>
                <a:spcPct val="150000"/>
              </a:lnSpc>
              <a:spcBef>
                <a:spcPts val="0"/>
              </a:spcBef>
              <a:buFont typeface="Arial" panose="020B0604020202020204" pitchFamily="34" charset="0"/>
              <a:buChar char="•"/>
            </a:pPr>
            <a:r>
              <a:rPr lang="en-US" altLang="en-US" dirty="0">
                <a:latin typeface="Aptos" panose="020B0004020202020204" pitchFamily="34" charset="0"/>
                <a:cs typeface="Arial Rounded MT Bold" panose="020F0704030504030204" charset="0"/>
              </a:rPr>
              <a:t>Promote Innovation and Creativity</a:t>
            </a:r>
          </a:p>
          <a:p>
            <a:pPr marL="457835" lvl="1" indent="-342900">
              <a:lnSpc>
                <a:spcPct val="150000"/>
              </a:lnSpc>
              <a:spcBef>
                <a:spcPts val="0"/>
              </a:spcBef>
              <a:buFont typeface="Arial" panose="020B0604020202020204" pitchFamily="34" charset="0"/>
              <a:buChar char="•"/>
            </a:pPr>
            <a:r>
              <a:rPr lang="en-US" altLang="en-US" dirty="0">
                <a:latin typeface="Aptos" panose="020B0004020202020204" pitchFamily="34" charset="0"/>
                <a:cs typeface="Arial Rounded MT Bold" panose="020F0704030504030204" charset="0"/>
              </a:rPr>
              <a:t>Promote Lifelong Learning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53F33A-D662-9594-A24B-BB2C53876EF9}"/>
              </a:ext>
            </a:extLst>
          </p:cNvPr>
          <p:cNvSpPr txBox="1"/>
          <p:nvPr/>
        </p:nvSpPr>
        <p:spPr>
          <a:xfrm>
            <a:off x="2424545" y="539056"/>
            <a:ext cx="7905999" cy="584775"/>
          </a:xfrm>
          <a:prstGeom prst="rect">
            <a:avLst/>
          </a:prstGeom>
          <a:noFill/>
        </p:spPr>
        <p:txBody>
          <a:bodyPr wrap="square" rtlCol="0">
            <a:spAutoFit/>
          </a:bodyPr>
          <a:lstStyle/>
          <a:p>
            <a:r>
              <a:rPr lang="en-IN" sz="3200" b="1" dirty="0">
                <a:solidFill>
                  <a:schemeClr val="accent1">
                    <a:lumMod val="75000"/>
                  </a:schemeClr>
                </a:solidFill>
              </a:rPr>
              <a:t>Academic initiatives under EDU Revolution </a:t>
            </a:r>
          </a:p>
        </p:txBody>
      </p:sp>
      <p:pic>
        <p:nvPicPr>
          <p:cNvPr id="5" name="Picture 4">
            <a:extLst>
              <a:ext uri="{FF2B5EF4-FFF2-40B4-BE49-F238E27FC236}">
                <a16:creationId xmlns:a16="http://schemas.microsoft.com/office/drawing/2014/main" id="{C9622217-FF14-4C55-B001-AF887E05A352}"/>
              </a:ext>
            </a:extLst>
          </p:cNvPr>
          <p:cNvPicPr>
            <a:picLocks noChangeAspect="1"/>
          </p:cNvPicPr>
          <p:nvPr/>
        </p:nvPicPr>
        <p:blipFill>
          <a:blip r:embed="rId2"/>
          <a:stretch>
            <a:fillRect/>
          </a:stretch>
        </p:blipFill>
        <p:spPr>
          <a:xfrm>
            <a:off x="1288473" y="1205345"/>
            <a:ext cx="9896986" cy="5472546"/>
          </a:xfrm>
          <a:prstGeom prst="rect">
            <a:avLst/>
          </a:prstGeom>
        </p:spPr>
      </p:pic>
    </p:spTree>
    <p:extLst>
      <p:ext uri="{BB962C8B-B14F-4D97-AF65-F5344CB8AC3E}">
        <p14:creationId xmlns:p14="http://schemas.microsoft.com/office/powerpoint/2010/main" val="1767841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79843" y="609600"/>
            <a:ext cx="3327514" cy="584775"/>
          </a:xfrm>
          <a:prstGeom prst="rect">
            <a:avLst/>
          </a:prstGeom>
          <a:noFill/>
        </p:spPr>
        <p:txBody>
          <a:bodyPr wrap="none">
            <a:spAutoFit/>
          </a:bodyPr>
          <a:lstStyle/>
          <a:p>
            <a:pPr algn="ctr">
              <a:defRPr sz="2400" b="1"/>
            </a:pPr>
            <a:r>
              <a:rPr sz="3200" dirty="0">
                <a:solidFill>
                  <a:schemeClr val="accent4">
                    <a:lumMod val="75000"/>
                  </a:schemeClr>
                </a:solidFill>
                <a:hlinkClick r:id="rId2" action="ppaction://hlinkfile">
                  <a:extLst>
                    <a:ext uri="{A12FA001-AC4F-418D-AE19-62706E023703}">
                      <ahyp:hlinkClr xmlns:ahyp="http://schemas.microsoft.com/office/drawing/2018/hyperlinkcolor" val="tx"/>
                    </a:ext>
                  </a:extLst>
                </a:hlinkClick>
              </a:rPr>
              <a:t>Academic Benefits</a:t>
            </a:r>
            <a:endParaRPr sz="3200" dirty="0">
              <a:solidFill>
                <a:schemeClr val="accent4">
                  <a:lumMod val="75000"/>
                </a:schemeClr>
              </a:solidFill>
            </a:endParaRPr>
          </a:p>
        </p:txBody>
      </p:sp>
      <p:pic>
        <p:nvPicPr>
          <p:cNvPr id="4" name="Picture 3">
            <a:extLst>
              <a:ext uri="{FF2B5EF4-FFF2-40B4-BE49-F238E27FC236}">
                <a16:creationId xmlns:a16="http://schemas.microsoft.com/office/drawing/2014/main" id="{16CCF904-66F6-DBDE-51D3-F8B7F06C6469}"/>
              </a:ext>
            </a:extLst>
          </p:cNvPr>
          <p:cNvPicPr>
            <a:picLocks noChangeAspect="1"/>
          </p:cNvPicPr>
          <p:nvPr/>
        </p:nvPicPr>
        <p:blipFill>
          <a:blip r:embed="rId3"/>
          <a:stretch>
            <a:fillRect/>
          </a:stretch>
        </p:blipFill>
        <p:spPr>
          <a:xfrm>
            <a:off x="1230086" y="1371600"/>
            <a:ext cx="10011737" cy="4876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F6DEB0-171F-BC24-D16C-4CFDC2DA3D2C}"/>
              </a:ext>
            </a:extLst>
          </p:cNvPr>
          <p:cNvSpPr txBox="1"/>
          <p:nvPr/>
        </p:nvSpPr>
        <p:spPr>
          <a:xfrm>
            <a:off x="1001487" y="2263676"/>
            <a:ext cx="10570028" cy="3693319"/>
          </a:xfrm>
          <a:prstGeom prst="rect">
            <a:avLst/>
          </a:prstGeom>
          <a:noFill/>
        </p:spPr>
        <p:txBody>
          <a:bodyPr wrap="square">
            <a:spAutoFit/>
          </a:bodyPr>
          <a:lstStyle/>
          <a:p>
            <a:pPr algn="just"/>
            <a:r>
              <a:rPr lang="en-IN" sz="2400" b="1" dirty="0">
                <a:latin typeface="Aptos" panose="020B0004020202020204" pitchFamily="34" charset="0"/>
              </a:rPr>
              <a:t>Criteria Sheet- </a:t>
            </a:r>
            <a:r>
              <a:rPr lang="en-IN" sz="2400" dirty="0">
                <a:latin typeface="Aptos" panose="020B0004020202020204" pitchFamily="34" charset="0"/>
              </a:rPr>
              <a:t>it is a structured framework for evaluating EDU Revolution submissions to ensure </a:t>
            </a:r>
            <a:r>
              <a:rPr lang="en-IN" sz="2400" b="1" dirty="0">
                <a:latin typeface="Aptos" panose="020B0004020202020204" pitchFamily="34" charset="0"/>
              </a:rPr>
              <a:t>transparency, consistency, and standardization</a:t>
            </a:r>
            <a:r>
              <a:rPr lang="en-IN" sz="2400" dirty="0">
                <a:latin typeface="Aptos" panose="020B0004020202020204" pitchFamily="34" charset="0"/>
              </a:rPr>
              <a:t> in assessment. It defines: </a:t>
            </a:r>
          </a:p>
          <a:p>
            <a:pPr algn="just"/>
            <a:endParaRPr lang="en-IN" sz="2400" dirty="0">
              <a:latin typeface="Aptos" panose="020B0004020202020204" pitchFamily="34" charset="0"/>
            </a:endParaRPr>
          </a:p>
          <a:p>
            <a:pPr marL="285750" indent="-285750" algn="just">
              <a:buFont typeface="Arial" panose="020B0604020202020204" pitchFamily="34" charset="0"/>
              <a:buChar char="•"/>
            </a:pPr>
            <a:r>
              <a:rPr lang="en-IN" sz="2400" b="1" dirty="0">
                <a:latin typeface="Aptos" panose="020B0004020202020204" pitchFamily="34" charset="0"/>
              </a:rPr>
              <a:t>Eligibility criteria</a:t>
            </a:r>
            <a:r>
              <a:rPr lang="en-IN" sz="2400" dirty="0">
                <a:latin typeface="Aptos" panose="020B0004020202020204" pitchFamily="34" charset="0"/>
              </a:rPr>
              <a:t> </a:t>
            </a:r>
          </a:p>
          <a:p>
            <a:pPr marL="285750" indent="-285750" algn="just">
              <a:buFont typeface="Arial" panose="020B0604020202020204" pitchFamily="34" charset="0"/>
              <a:buChar char="•"/>
            </a:pPr>
            <a:r>
              <a:rPr lang="en-IN" sz="2400" b="1" dirty="0">
                <a:latin typeface="Aptos" panose="020B0004020202020204" pitchFamily="34" charset="0"/>
              </a:rPr>
              <a:t>Required evidence</a:t>
            </a:r>
            <a:r>
              <a:rPr lang="en-IN" sz="2400" dirty="0">
                <a:latin typeface="Aptos" panose="020B0004020202020204" pitchFamily="34" charset="0"/>
              </a:rPr>
              <a:t> </a:t>
            </a:r>
          </a:p>
          <a:p>
            <a:pPr marL="285750" indent="-285750" algn="just">
              <a:buFont typeface="Arial" panose="020B0604020202020204" pitchFamily="34" charset="0"/>
              <a:buChar char="•"/>
            </a:pPr>
            <a:r>
              <a:rPr lang="en-IN" sz="2400" b="1" dirty="0">
                <a:latin typeface="Aptos" panose="020B0004020202020204" pitchFamily="34" charset="0"/>
              </a:rPr>
              <a:t>Evaluation parameters</a:t>
            </a:r>
            <a:r>
              <a:rPr lang="en-IN" sz="2400" dirty="0">
                <a:latin typeface="Aptos" panose="020B0004020202020204" pitchFamily="34" charset="0"/>
              </a:rPr>
              <a:t> </a:t>
            </a:r>
          </a:p>
          <a:p>
            <a:pPr marL="285750" indent="-285750" algn="just">
              <a:buFont typeface="Arial" panose="020B0604020202020204" pitchFamily="34" charset="0"/>
              <a:buChar char="•"/>
            </a:pPr>
            <a:r>
              <a:rPr lang="en-IN" sz="2400" b="1" dirty="0">
                <a:latin typeface="Aptos" panose="020B0004020202020204" pitchFamily="34" charset="0"/>
              </a:rPr>
              <a:t>Academic benefits</a:t>
            </a:r>
            <a:r>
              <a:rPr lang="en-IN" sz="2400" dirty="0">
                <a:latin typeface="Aptos" panose="020B0004020202020204" pitchFamily="34" charset="0"/>
              </a:rPr>
              <a:t> </a:t>
            </a:r>
          </a:p>
          <a:p>
            <a:pPr algn="just"/>
            <a:endParaRPr lang="en-IN" sz="2400" dirty="0">
              <a:latin typeface="Aptos" panose="020B0004020202020204" pitchFamily="34" charset="0"/>
            </a:endParaRPr>
          </a:p>
          <a:p>
            <a:pPr algn="just"/>
            <a:r>
              <a:rPr lang="en-IN" sz="2000" dirty="0"/>
              <a:t> </a:t>
            </a:r>
          </a:p>
        </p:txBody>
      </p:sp>
      <p:sp>
        <p:nvSpPr>
          <p:cNvPr id="5" name="TextBox 4">
            <a:extLst>
              <a:ext uri="{FF2B5EF4-FFF2-40B4-BE49-F238E27FC236}">
                <a16:creationId xmlns:a16="http://schemas.microsoft.com/office/drawing/2014/main" id="{0969308F-ED37-853D-8DE2-2A9484D79A94}"/>
              </a:ext>
            </a:extLst>
          </p:cNvPr>
          <p:cNvSpPr txBox="1"/>
          <p:nvPr/>
        </p:nvSpPr>
        <p:spPr>
          <a:xfrm>
            <a:off x="1001487" y="805934"/>
            <a:ext cx="6096000" cy="584775"/>
          </a:xfrm>
          <a:prstGeom prst="rect">
            <a:avLst/>
          </a:prstGeom>
          <a:noFill/>
        </p:spPr>
        <p:txBody>
          <a:bodyPr wrap="square">
            <a:spAutoFit/>
          </a:bodyPr>
          <a:lstStyle/>
          <a:p>
            <a:r>
              <a:rPr lang="en-IN" sz="3200" b="1" dirty="0">
                <a:latin typeface="Aptos" panose="020B0004020202020204" pitchFamily="34" charset="0"/>
              </a:rPr>
              <a:t>Review &amp; Approval Process</a:t>
            </a:r>
          </a:p>
        </p:txBody>
      </p:sp>
    </p:spTree>
    <p:extLst>
      <p:ext uri="{BB962C8B-B14F-4D97-AF65-F5344CB8AC3E}">
        <p14:creationId xmlns:p14="http://schemas.microsoft.com/office/powerpoint/2010/main" val="1243972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22AC04-FD20-841F-CF3B-36185F2AFFAA}"/>
              </a:ext>
            </a:extLst>
          </p:cNvPr>
          <p:cNvSpPr txBox="1"/>
          <p:nvPr/>
        </p:nvSpPr>
        <p:spPr>
          <a:xfrm>
            <a:off x="1142999" y="2029323"/>
            <a:ext cx="10363201" cy="2462213"/>
          </a:xfrm>
          <a:prstGeom prst="rect">
            <a:avLst/>
          </a:prstGeom>
          <a:noFill/>
        </p:spPr>
        <p:txBody>
          <a:bodyPr wrap="square">
            <a:spAutoFit/>
          </a:bodyPr>
          <a:lstStyle/>
          <a:p>
            <a:r>
              <a:rPr lang="en-IN" sz="2200" b="1" dirty="0">
                <a:latin typeface="Aptos" panose="020B0004020202020204" pitchFamily="34" charset="0"/>
              </a:rPr>
              <a:t>Standing Committee- </a:t>
            </a:r>
            <a:r>
              <a:rPr lang="en-IN" sz="2200" dirty="0">
                <a:latin typeface="Aptos" panose="020B0004020202020204" pitchFamily="34" charset="0"/>
              </a:rPr>
              <a:t>it</a:t>
            </a:r>
            <a:r>
              <a:rPr lang="en-IN" sz="2200" b="1" dirty="0">
                <a:latin typeface="Aptos" panose="020B0004020202020204" pitchFamily="34" charset="0"/>
              </a:rPr>
              <a:t> r</a:t>
            </a:r>
            <a:r>
              <a:rPr lang="en-IN" sz="2200" dirty="0">
                <a:latin typeface="Aptos" panose="020B0004020202020204" pitchFamily="34" charset="0"/>
              </a:rPr>
              <a:t>eviews EDU Revolution nominations and recommends eligible academic benefits. </a:t>
            </a:r>
          </a:p>
          <a:p>
            <a:endParaRPr lang="en-IN" sz="2200" dirty="0">
              <a:latin typeface="Aptos" panose="020B0004020202020204" pitchFamily="34" charset="0"/>
            </a:endParaRPr>
          </a:p>
          <a:p>
            <a:r>
              <a:rPr lang="en-IN" sz="2200" dirty="0">
                <a:latin typeface="Aptos" panose="020B0004020202020204" pitchFamily="34" charset="0"/>
              </a:rPr>
              <a:t>Composition-</a:t>
            </a:r>
          </a:p>
          <a:p>
            <a:pPr marL="285750" indent="-285750">
              <a:buFont typeface="Arial" panose="020B0604020202020204" pitchFamily="34" charset="0"/>
              <a:buChar char="•"/>
            </a:pPr>
            <a:r>
              <a:rPr lang="en-IN" sz="2200" b="1" dirty="0">
                <a:latin typeface="Aptos" panose="020B0004020202020204" pitchFamily="34" charset="0"/>
              </a:rPr>
              <a:t>5–7 members</a:t>
            </a:r>
            <a:r>
              <a:rPr lang="en-IN" sz="2200" dirty="0">
                <a:latin typeface="Aptos" panose="020B0004020202020204" pitchFamily="34" charset="0"/>
              </a:rPr>
              <a:t> constituted by the </a:t>
            </a:r>
            <a:r>
              <a:rPr lang="en-IN" sz="2200" dirty="0" err="1">
                <a:latin typeface="Aptos" panose="020B0004020202020204" pitchFamily="34" charset="0"/>
              </a:rPr>
              <a:t>HoS.</a:t>
            </a:r>
            <a:r>
              <a:rPr lang="en-IN" sz="2200" dirty="0">
                <a:latin typeface="Aptos" panose="020B0004020202020204" pitchFamily="34" charset="0"/>
              </a:rPr>
              <a:t> </a:t>
            </a:r>
          </a:p>
          <a:p>
            <a:pPr marL="285750" indent="-285750">
              <a:buFont typeface="Arial" panose="020B0604020202020204" pitchFamily="34" charset="0"/>
              <a:buChar char="•"/>
            </a:pPr>
            <a:r>
              <a:rPr lang="en-IN" sz="2200" dirty="0">
                <a:latin typeface="Aptos" panose="020B0004020202020204" pitchFamily="34" charset="0"/>
              </a:rPr>
              <a:t>Additional members may be nominated by the </a:t>
            </a:r>
            <a:r>
              <a:rPr lang="en-IN" sz="2200" dirty="0" err="1">
                <a:latin typeface="Aptos" panose="020B0004020202020204" pitchFamily="34" charset="0"/>
              </a:rPr>
              <a:t>HoS.</a:t>
            </a:r>
            <a:r>
              <a:rPr lang="en-IN" sz="2200" dirty="0">
                <a:latin typeface="Aptos" panose="020B0004020202020204" pitchFamily="34" charset="0"/>
              </a:rPr>
              <a:t> </a:t>
            </a:r>
          </a:p>
          <a:p>
            <a:pPr marL="285750" indent="-285750">
              <a:buFont typeface="Arial" panose="020B0604020202020204" pitchFamily="34" charset="0"/>
              <a:buChar char="•"/>
            </a:pPr>
            <a:r>
              <a:rPr lang="en-IN" sz="2200" dirty="0">
                <a:latin typeface="Aptos" panose="020B0004020202020204" pitchFamily="34" charset="0"/>
              </a:rPr>
              <a:t>All relevant committee coordinators are members. </a:t>
            </a:r>
          </a:p>
        </p:txBody>
      </p:sp>
      <p:sp>
        <p:nvSpPr>
          <p:cNvPr id="5" name="TextBox 4">
            <a:extLst>
              <a:ext uri="{FF2B5EF4-FFF2-40B4-BE49-F238E27FC236}">
                <a16:creationId xmlns:a16="http://schemas.microsoft.com/office/drawing/2014/main" id="{74E6AD0E-6AD7-6B91-A0CD-2B8991518B16}"/>
              </a:ext>
            </a:extLst>
          </p:cNvPr>
          <p:cNvSpPr txBox="1"/>
          <p:nvPr/>
        </p:nvSpPr>
        <p:spPr>
          <a:xfrm>
            <a:off x="1230086" y="1001877"/>
            <a:ext cx="8817428" cy="646331"/>
          </a:xfrm>
          <a:prstGeom prst="rect">
            <a:avLst/>
          </a:prstGeom>
          <a:noFill/>
        </p:spPr>
        <p:txBody>
          <a:bodyPr wrap="square">
            <a:spAutoFit/>
          </a:bodyPr>
          <a:lstStyle/>
          <a:p>
            <a:r>
              <a:rPr lang="en-IN" sz="3600" b="1" dirty="0">
                <a:latin typeface="Aptos" panose="020B0004020202020204" pitchFamily="34" charset="0"/>
              </a:rPr>
              <a:t>Standing Committee</a:t>
            </a:r>
            <a:endParaRPr lang="en-IN" sz="3600" dirty="0"/>
          </a:p>
        </p:txBody>
      </p:sp>
    </p:spTree>
    <p:extLst>
      <p:ext uri="{BB962C8B-B14F-4D97-AF65-F5344CB8AC3E}">
        <p14:creationId xmlns:p14="http://schemas.microsoft.com/office/powerpoint/2010/main" val="399205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2329" y="378507"/>
            <a:ext cx="8577222" cy="646331"/>
          </a:xfrm>
          <a:prstGeom prst="rect">
            <a:avLst/>
          </a:prstGeom>
          <a:noFill/>
        </p:spPr>
        <p:txBody>
          <a:bodyPr wrap="square">
            <a:spAutoFit/>
          </a:bodyPr>
          <a:lstStyle/>
          <a:p>
            <a:pPr algn="ctr">
              <a:defRPr sz="2400" b="1"/>
            </a:pPr>
            <a:r>
              <a:rPr sz="3600" dirty="0">
                <a:latin typeface="Aptos" panose="020B0004020202020204" pitchFamily="34" charset="0"/>
              </a:rPr>
              <a:t>Processing of Student Nominations</a:t>
            </a:r>
          </a:p>
        </p:txBody>
      </p:sp>
      <p:graphicFrame>
        <p:nvGraphicFramePr>
          <p:cNvPr id="7" name="Diagram 6">
            <a:extLst>
              <a:ext uri="{FF2B5EF4-FFF2-40B4-BE49-F238E27FC236}">
                <a16:creationId xmlns:a16="http://schemas.microsoft.com/office/drawing/2014/main" id="{96A99EDE-67E1-DC48-2280-56C07B1C1AC3}"/>
              </a:ext>
            </a:extLst>
          </p:cNvPr>
          <p:cNvGraphicFramePr/>
          <p:nvPr/>
        </p:nvGraphicFramePr>
        <p:xfrm>
          <a:off x="1658978" y="1024838"/>
          <a:ext cx="8577222" cy="885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0A331C09-B5DA-29FB-49E3-2326DD78AA33}"/>
              </a:ext>
            </a:extLst>
          </p:cNvPr>
          <p:cNvGraphicFramePr/>
          <p:nvPr/>
        </p:nvGraphicFramePr>
        <p:xfrm>
          <a:off x="1658978" y="2607831"/>
          <a:ext cx="8678822" cy="97441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Diagram 9">
            <a:extLst>
              <a:ext uri="{FF2B5EF4-FFF2-40B4-BE49-F238E27FC236}">
                <a16:creationId xmlns:a16="http://schemas.microsoft.com/office/drawing/2014/main" id="{A8540A4D-56CC-7781-19E2-55419998BF26}"/>
              </a:ext>
            </a:extLst>
          </p:cNvPr>
          <p:cNvGraphicFramePr/>
          <p:nvPr/>
        </p:nvGraphicFramePr>
        <p:xfrm>
          <a:off x="1680752" y="4103937"/>
          <a:ext cx="8678821" cy="101461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1" name="Diagram 10">
            <a:extLst>
              <a:ext uri="{FF2B5EF4-FFF2-40B4-BE49-F238E27FC236}">
                <a16:creationId xmlns:a16="http://schemas.microsoft.com/office/drawing/2014/main" id="{E4E04888-4D94-227B-DAA6-DAFF27AE39CF}"/>
              </a:ext>
            </a:extLst>
          </p:cNvPr>
          <p:cNvGraphicFramePr/>
          <p:nvPr>
            <p:extLst>
              <p:ext uri="{D42A27DB-BD31-4B8C-83A1-F6EECF244321}">
                <p14:modId xmlns:p14="http://schemas.microsoft.com/office/powerpoint/2010/main" val="952996169"/>
              </p:ext>
            </p:extLst>
          </p:nvPr>
        </p:nvGraphicFramePr>
        <p:xfrm>
          <a:off x="1664419" y="5833162"/>
          <a:ext cx="8667939" cy="84408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2" name="Arrow: Down 11">
            <a:extLst>
              <a:ext uri="{FF2B5EF4-FFF2-40B4-BE49-F238E27FC236}">
                <a16:creationId xmlns:a16="http://schemas.microsoft.com/office/drawing/2014/main" id="{6241E865-9D5B-3E99-D259-5F62526B058B}"/>
              </a:ext>
            </a:extLst>
          </p:cNvPr>
          <p:cNvSpPr/>
          <p:nvPr/>
        </p:nvSpPr>
        <p:spPr>
          <a:xfrm>
            <a:off x="5497283" y="2068023"/>
            <a:ext cx="413657" cy="50292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4" name="Arrow: Down 13">
            <a:extLst>
              <a:ext uri="{FF2B5EF4-FFF2-40B4-BE49-F238E27FC236}">
                <a16:creationId xmlns:a16="http://schemas.microsoft.com/office/drawing/2014/main" id="{9EF27A64-DF70-B3D4-2179-2746CE032DF7}"/>
              </a:ext>
            </a:extLst>
          </p:cNvPr>
          <p:cNvSpPr/>
          <p:nvPr/>
        </p:nvSpPr>
        <p:spPr>
          <a:xfrm>
            <a:off x="5524494" y="3651016"/>
            <a:ext cx="413657" cy="50292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Arrow: Down 15">
            <a:extLst>
              <a:ext uri="{FF2B5EF4-FFF2-40B4-BE49-F238E27FC236}">
                <a16:creationId xmlns:a16="http://schemas.microsoft.com/office/drawing/2014/main" id="{86EB70D2-1077-31EE-7238-19CC56B36243}"/>
              </a:ext>
            </a:extLst>
          </p:cNvPr>
          <p:cNvSpPr/>
          <p:nvPr/>
        </p:nvSpPr>
        <p:spPr>
          <a:xfrm>
            <a:off x="5540823" y="5184010"/>
            <a:ext cx="413657" cy="50292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2987" y="1604962"/>
            <a:ext cx="10106025" cy="3648075"/>
          </a:xfrm>
          <a:prstGeom prst="rect">
            <a:avLst/>
          </a:prstGeom>
        </p:spPr>
      </p:pic>
    </p:spTree>
    <p:extLst>
      <p:ext uri="{BB962C8B-B14F-4D97-AF65-F5344CB8AC3E}">
        <p14:creationId xmlns:p14="http://schemas.microsoft.com/office/powerpoint/2010/main" val="4241122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6718" y="662668"/>
            <a:ext cx="9902871" cy="5615696"/>
          </a:xfrm>
          <a:prstGeom prst="rect">
            <a:avLst/>
          </a:prstGeom>
        </p:spPr>
      </p:pic>
    </p:spTree>
    <p:extLst>
      <p:ext uri="{BB962C8B-B14F-4D97-AF65-F5344CB8AC3E}">
        <p14:creationId xmlns:p14="http://schemas.microsoft.com/office/powerpoint/2010/main" val="3183287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23406" y="823876"/>
            <a:ext cx="10270535" cy="5533381"/>
          </a:xfrm>
          <a:prstGeom prst="rect">
            <a:avLst/>
          </a:prstGeom>
        </p:spPr>
      </p:pic>
    </p:spTree>
    <p:extLst>
      <p:ext uri="{BB962C8B-B14F-4D97-AF65-F5344CB8AC3E}">
        <p14:creationId xmlns:p14="http://schemas.microsoft.com/office/powerpoint/2010/main" val="109392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914400" y="799393"/>
            <a:ext cx="10403068" cy="5654338"/>
          </a:xfrm>
          <a:prstGeom prst="rect">
            <a:avLst/>
          </a:prstGeom>
        </p:spPr>
      </p:pic>
    </p:spTree>
    <p:extLst>
      <p:ext uri="{BB962C8B-B14F-4D97-AF65-F5344CB8AC3E}">
        <p14:creationId xmlns:p14="http://schemas.microsoft.com/office/powerpoint/2010/main" val="1860174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Bahnschrift" panose="020B0502040204020203" pitchFamily="34" charset="0"/>
                <a:cs typeface="Times New Roman" panose="02020603050405020304" pitchFamily="18" charset="0"/>
                <a:sym typeface="+mn-ea"/>
              </a:rPr>
              <a:t>EDU-Revolution</a:t>
            </a:r>
            <a:endParaRPr lang="en-US" dirty="0"/>
          </a:p>
        </p:txBody>
      </p:sp>
      <p:sp>
        <p:nvSpPr>
          <p:cNvPr id="4" name="Slide Number Placeholder 3"/>
          <p:cNvSpPr>
            <a:spLocks noGrp="1"/>
          </p:cNvSpPr>
          <p:nvPr>
            <p:ph type="sldNum" idx="12"/>
          </p:nvPr>
        </p:nvSpPr>
        <p:spPr/>
        <p:txBody>
          <a:bodyPr/>
          <a:lstStyle/>
          <a:p>
            <a:fld id="{00000000-1234-1234-1234-123412341234}" type="slidenum">
              <a:rPr lang="en-US" smtClean="0"/>
              <a:t>29</a:t>
            </a:fld>
            <a:endParaRPr lang="en-US"/>
          </a:p>
        </p:txBody>
      </p:sp>
      <p:sp>
        <p:nvSpPr>
          <p:cNvPr id="3" name="Text Box 2"/>
          <p:cNvSpPr txBox="1"/>
          <p:nvPr/>
        </p:nvSpPr>
        <p:spPr>
          <a:xfrm>
            <a:off x="1146175" y="1591945"/>
            <a:ext cx="7855585" cy="521970"/>
          </a:xfrm>
          <a:prstGeom prst="rect">
            <a:avLst/>
          </a:prstGeom>
          <a:noFill/>
        </p:spPr>
        <p:txBody>
          <a:bodyPr wrap="square" rtlCol="0" anchor="t">
            <a:spAutoFit/>
          </a:bodyPr>
          <a:lstStyle/>
          <a:p>
            <a:r>
              <a:rPr lang="en-US" sz="2800" dirty="0">
                <a:latin typeface="Bahnschrift" panose="020B0502040204020203" pitchFamily="34" charset="0"/>
                <a:cs typeface="Times New Roman" panose="02020603050405020304" pitchFamily="18" charset="0"/>
                <a:sym typeface="+mn-ea"/>
              </a:rPr>
              <a:t>Applying for EDU-Revolution Initiatives</a:t>
            </a:r>
          </a:p>
        </p:txBody>
      </p:sp>
      <p:sp>
        <p:nvSpPr>
          <p:cNvPr id="6" name="Text Box 5"/>
          <p:cNvSpPr txBox="1"/>
          <p:nvPr/>
        </p:nvSpPr>
        <p:spPr>
          <a:xfrm>
            <a:off x="1278255" y="2553469"/>
            <a:ext cx="10224770" cy="2399665"/>
          </a:xfrm>
          <a:prstGeom prst="rect">
            <a:avLst/>
          </a:prstGeom>
          <a:noFill/>
        </p:spPr>
        <p:txBody>
          <a:bodyPr wrap="square" rtlCol="0" anchor="t">
            <a:spAutoFit/>
          </a:bodyPr>
          <a:lstStyle/>
          <a:p>
            <a:pPr>
              <a:lnSpc>
                <a:spcPct val="150000"/>
              </a:lnSpc>
              <a:spcBef>
                <a:spcPts val="0"/>
              </a:spcBef>
              <a:defRPr sz="2000"/>
            </a:pPr>
            <a:r>
              <a:rPr lang="en-US" sz="2000" b="1" dirty="0">
                <a:solidFill>
                  <a:srgbClr val="FF0000"/>
                </a:solidFill>
                <a:latin typeface="Bahnschrift" panose="020B0502040204020203" pitchFamily="34" charset="0"/>
                <a:cs typeface="Times New Roman" panose="02020603050405020304" pitchFamily="18" charset="0"/>
                <a:sym typeface="+mn-ea"/>
              </a:rPr>
              <a:t>How can students apply:</a:t>
            </a:r>
            <a:endParaRPr lang="en-US" sz="2000" b="1" dirty="0">
              <a:solidFill>
                <a:srgbClr val="FF0000"/>
              </a:solidFill>
              <a:latin typeface="Bahnschrift" panose="020B0502040204020203" pitchFamily="34" charset="0"/>
              <a:cs typeface="Times New Roman" panose="02020603050405020304" pitchFamily="18" charset="0"/>
            </a:endParaRPr>
          </a:p>
          <a:p>
            <a:pPr marL="0" indent="0">
              <a:lnSpc>
                <a:spcPct val="150000"/>
              </a:lnSpc>
              <a:spcBef>
                <a:spcPts val="0"/>
              </a:spcBef>
              <a:buNone/>
              <a:defRPr sz="2000"/>
            </a:pPr>
            <a:r>
              <a:rPr lang="en-US" sz="2000" b="1" dirty="0">
                <a:latin typeface="Bahnschrift" panose="020B0502040204020203" pitchFamily="34" charset="0"/>
                <a:cs typeface="Times New Roman" panose="02020603050405020304" pitchFamily="18" charset="0"/>
                <a:sym typeface="+mn-ea"/>
              </a:rPr>
              <a:t>Login UMS → LMS → EDU-Revolution: Be the Change → Apply for EDU- Revolution</a:t>
            </a:r>
            <a:endParaRPr lang="en-US" sz="2000" b="1" dirty="0">
              <a:latin typeface="Bahnschrift" panose="020B0502040204020203" pitchFamily="34" charset="0"/>
              <a:cs typeface="Times New Roman" panose="02020603050405020304" pitchFamily="18" charset="0"/>
            </a:endParaRPr>
          </a:p>
          <a:p>
            <a:pPr>
              <a:lnSpc>
                <a:spcPct val="150000"/>
              </a:lnSpc>
              <a:spcBef>
                <a:spcPts val="0"/>
              </a:spcBef>
              <a:defRPr sz="2000"/>
            </a:pPr>
            <a:endParaRPr lang="en-US" sz="2000" b="1" dirty="0">
              <a:solidFill>
                <a:srgbClr val="FF0000"/>
              </a:solidFill>
              <a:latin typeface="Bahnschrift" panose="020B0502040204020203" pitchFamily="34" charset="0"/>
              <a:cs typeface="Times New Roman" panose="02020603050405020304" pitchFamily="18" charset="0"/>
            </a:endParaRPr>
          </a:p>
          <a:p>
            <a:pPr>
              <a:lnSpc>
                <a:spcPct val="150000"/>
              </a:lnSpc>
              <a:spcBef>
                <a:spcPts val="0"/>
              </a:spcBef>
              <a:defRPr sz="2000"/>
            </a:pPr>
            <a:r>
              <a:rPr lang="en-US" sz="2000" b="1" dirty="0">
                <a:solidFill>
                  <a:srgbClr val="FF0000"/>
                </a:solidFill>
                <a:latin typeface="Bahnschrift" panose="020B0502040204020203" pitchFamily="34" charset="0"/>
                <a:cs typeface="Times New Roman" panose="02020603050405020304" pitchFamily="18" charset="0"/>
                <a:sym typeface="+mn-ea"/>
              </a:rPr>
              <a:t>Need Help:</a:t>
            </a:r>
            <a:endParaRPr lang="en-US" sz="2000" b="1" dirty="0">
              <a:solidFill>
                <a:srgbClr val="FF0000"/>
              </a:solidFill>
              <a:latin typeface="Bahnschrift" panose="020B0502040204020203" pitchFamily="34" charset="0"/>
              <a:cs typeface="Times New Roman" panose="02020603050405020304" pitchFamily="18" charset="0"/>
            </a:endParaRPr>
          </a:p>
          <a:p>
            <a:pPr marL="0" indent="0" algn="ctr">
              <a:lnSpc>
                <a:spcPct val="150000"/>
              </a:lnSpc>
              <a:spcBef>
                <a:spcPts val="0"/>
              </a:spcBef>
              <a:buNone/>
              <a:defRPr sz="2000"/>
            </a:pPr>
            <a:r>
              <a:rPr lang="en-US" sz="2000" b="1" dirty="0">
                <a:latin typeface="Bahnschrift" panose="020B0502040204020203" pitchFamily="34" charset="0"/>
                <a:cs typeface="Times New Roman" panose="02020603050405020304" pitchFamily="18" charset="0"/>
                <a:sym typeface="+mn-ea"/>
              </a:rPr>
              <a:t>Students can visit the EDU-Revolution Query &amp; Assistance Zone at Block 38-205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DDD22E-1EC0-6895-FE96-9345F8315C2A}"/>
              </a:ext>
            </a:extLst>
          </p:cNvPr>
          <p:cNvSpPr txBox="1"/>
          <p:nvPr/>
        </p:nvSpPr>
        <p:spPr>
          <a:xfrm>
            <a:off x="3048918" y="3247088"/>
            <a:ext cx="6097836" cy="369332"/>
          </a:xfrm>
          <a:prstGeom prst="rect">
            <a:avLst/>
          </a:prstGeom>
          <a:noFill/>
        </p:spPr>
        <p:txBody>
          <a:bodyPr wrap="square">
            <a:spAutoFit/>
          </a:bodyPr>
          <a:lstStyle/>
          <a:p>
            <a:endParaRPr lang="en-IN" dirty="0"/>
          </a:p>
        </p:txBody>
      </p:sp>
      <p:sp>
        <p:nvSpPr>
          <p:cNvPr id="9" name="TextBox 8">
            <a:extLst>
              <a:ext uri="{FF2B5EF4-FFF2-40B4-BE49-F238E27FC236}">
                <a16:creationId xmlns:a16="http://schemas.microsoft.com/office/drawing/2014/main" id="{75804C4A-1CDD-04DB-8322-AA0816314964}"/>
              </a:ext>
            </a:extLst>
          </p:cNvPr>
          <p:cNvSpPr txBox="1"/>
          <p:nvPr/>
        </p:nvSpPr>
        <p:spPr>
          <a:xfrm>
            <a:off x="3048918" y="3247088"/>
            <a:ext cx="6097836" cy="369332"/>
          </a:xfrm>
          <a:prstGeom prst="rect">
            <a:avLst/>
          </a:prstGeom>
          <a:noFill/>
        </p:spPr>
        <p:txBody>
          <a:bodyPr wrap="square">
            <a:spAutoFit/>
          </a:bodyPr>
          <a:lstStyle/>
          <a:p>
            <a:endParaRPr lang="en-IN" dirty="0"/>
          </a:p>
        </p:txBody>
      </p:sp>
      <p:pic>
        <p:nvPicPr>
          <p:cNvPr id="6" name="Picture 5">
            <a:extLst>
              <a:ext uri="{FF2B5EF4-FFF2-40B4-BE49-F238E27FC236}">
                <a16:creationId xmlns:a16="http://schemas.microsoft.com/office/drawing/2014/main" id="{D44AEDB1-2D81-4955-39EB-FD5B25E88E01}"/>
              </a:ext>
            </a:extLst>
          </p:cNvPr>
          <p:cNvPicPr>
            <a:picLocks noChangeAspect="1"/>
          </p:cNvPicPr>
          <p:nvPr/>
        </p:nvPicPr>
        <p:blipFill>
          <a:blip r:embed="rId2"/>
          <a:stretch>
            <a:fillRect/>
          </a:stretch>
        </p:blipFill>
        <p:spPr>
          <a:xfrm>
            <a:off x="0" y="713678"/>
            <a:ext cx="12192000" cy="6017322"/>
          </a:xfrm>
          <a:prstGeom prst="rect">
            <a:avLst/>
          </a:prstGeom>
        </p:spPr>
      </p:pic>
    </p:spTree>
    <p:extLst>
      <p:ext uri="{BB962C8B-B14F-4D97-AF65-F5344CB8AC3E}">
        <p14:creationId xmlns:p14="http://schemas.microsoft.com/office/powerpoint/2010/main" val="1515104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8F433-8C09-7049-6E63-3BDC0D1FAB3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2770604-474E-EB02-A4B1-49D7001218B2}"/>
              </a:ext>
            </a:extLst>
          </p:cNvPr>
          <p:cNvSpPr txBox="1"/>
          <p:nvPr/>
        </p:nvSpPr>
        <p:spPr>
          <a:xfrm>
            <a:off x="3048918" y="3247088"/>
            <a:ext cx="6097836" cy="369332"/>
          </a:xfrm>
          <a:prstGeom prst="rect">
            <a:avLst/>
          </a:prstGeom>
          <a:noFill/>
        </p:spPr>
        <p:txBody>
          <a:bodyPr wrap="square">
            <a:spAutoFit/>
          </a:bodyPr>
          <a:lstStyle/>
          <a:p>
            <a:endParaRPr lang="en-IN" dirty="0"/>
          </a:p>
        </p:txBody>
      </p:sp>
      <p:pic>
        <p:nvPicPr>
          <p:cNvPr id="6" name="Picture 5">
            <a:extLst>
              <a:ext uri="{FF2B5EF4-FFF2-40B4-BE49-F238E27FC236}">
                <a16:creationId xmlns:a16="http://schemas.microsoft.com/office/drawing/2014/main" id="{D2B387D5-72DA-AEF8-C652-F47E0BCBF83A}"/>
              </a:ext>
            </a:extLst>
          </p:cNvPr>
          <p:cNvPicPr>
            <a:picLocks noChangeAspect="1"/>
          </p:cNvPicPr>
          <p:nvPr/>
        </p:nvPicPr>
        <p:blipFill>
          <a:blip r:embed="rId2"/>
          <a:stretch>
            <a:fillRect/>
          </a:stretch>
        </p:blipFill>
        <p:spPr>
          <a:xfrm>
            <a:off x="5568" y="774700"/>
            <a:ext cx="12180864" cy="5943600"/>
          </a:xfrm>
          <a:prstGeom prst="rect">
            <a:avLst/>
          </a:prstGeom>
        </p:spPr>
      </p:pic>
    </p:spTree>
    <p:extLst>
      <p:ext uri="{BB962C8B-B14F-4D97-AF65-F5344CB8AC3E}">
        <p14:creationId xmlns:p14="http://schemas.microsoft.com/office/powerpoint/2010/main" val="1280276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8A36A-264B-7846-1224-05C0D1CA483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4FF8F51-513A-186A-A392-933EB1B5798C}"/>
              </a:ext>
            </a:extLst>
          </p:cNvPr>
          <p:cNvSpPr txBox="1"/>
          <p:nvPr/>
        </p:nvSpPr>
        <p:spPr>
          <a:xfrm>
            <a:off x="3048918" y="3247088"/>
            <a:ext cx="6097836" cy="369332"/>
          </a:xfrm>
          <a:prstGeom prst="rect">
            <a:avLst/>
          </a:prstGeom>
          <a:noFill/>
        </p:spPr>
        <p:txBody>
          <a:bodyPr wrap="square">
            <a:spAutoFit/>
          </a:bodyPr>
          <a:lstStyle/>
          <a:p>
            <a:endParaRPr lang="en-IN" dirty="0"/>
          </a:p>
        </p:txBody>
      </p:sp>
      <p:pic>
        <p:nvPicPr>
          <p:cNvPr id="4" name="Picture 3">
            <a:extLst>
              <a:ext uri="{FF2B5EF4-FFF2-40B4-BE49-F238E27FC236}">
                <a16:creationId xmlns:a16="http://schemas.microsoft.com/office/drawing/2014/main" id="{06174AF7-7296-CCB0-02A0-AD17DCCB8EA7}"/>
              </a:ext>
            </a:extLst>
          </p:cNvPr>
          <p:cNvPicPr>
            <a:picLocks noChangeAspect="1"/>
          </p:cNvPicPr>
          <p:nvPr/>
        </p:nvPicPr>
        <p:blipFill>
          <a:blip r:embed="rId2"/>
          <a:stretch>
            <a:fillRect/>
          </a:stretch>
        </p:blipFill>
        <p:spPr>
          <a:xfrm>
            <a:off x="0" y="723900"/>
            <a:ext cx="12192000" cy="6032500"/>
          </a:xfrm>
          <a:prstGeom prst="rect">
            <a:avLst/>
          </a:prstGeom>
        </p:spPr>
      </p:pic>
    </p:spTree>
    <p:extLst>
      <p:ext uri="{BB962C8B-B14F-4D97-AF65-F5344CB8AC3E}">
        <p14:creationId xmlns:p14="http://schemas.microsoft.com/office/powerpoint/2010/main" val="4113013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41C69-11B8-EFE5-11E1-E4609A4925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AF59EEA-83AB-C4AF-8C4E-32193F43368C}"/>
              </a:ext>
            </a:extLst>
          </p:cNvPr>
          <p:cNvSpPr txBox="1"/>
          <p:nvPr/>
        </p:nvSpPr>
        <p:spPr>
          <a:xfrm>
            <a:off x="3048918" y="3247088"/>
            <a:ext cx="6097836" cy="369332"/>
          </a:xfrm>
          <a:prstGeom prst="rect">
            <a:avLst/>
          </a:prstGeom>
          <a:noFill/>
        </p:spPr>
        <p:txBody>
          <a:bodyPr wrap="square">
            <a:spAutoFit/>
          </a:bodyPr>
          <a:lstStyle/>
          <a:p>
            <a:endParaRPr lang="en-IN" dirty="0"/>
          </a:p>
        </p:txBody>
      </p:sp>
      <p:sp>
        <p:nvSpPr>
          <p:cNvPr id="9" name="TextBox 8">
            <a:extLst>
              <a:ext uri="{FF2B5EF4-FFF2-40B4-BE49-F238E27FC236}">
                <a16:creationId xmlns:a16="http://schemas.microsoft.com/office/drawing/2014/main" id="{C5943D3B-5218-9A22-8737-B2D50CFAB2D5}"/>
              </a:ext>
            </a:extLst>
          </p:cNvPr>
          <p:cNvSpPr txBox="1"/>
          <p:nvPr/>
        </p:nvSpPr>
        <p:spPr>
          <a:xfrm>
            <a:off x="3048918" y="3247088"/>
            <a:ext cx="6097836" cy="369332"/>
          </a:xfrm>
          <a:prstGeom prst="rect">
            <a:avLst/>
          </a:prstGeom>
          <a:noFill/>
        </p:spPr>
        <p:txBody>
          <a:bodyPr wrap="square">
            <a:spAutoFit/>
          </a:bodyPr>
          <a:lstStyle/>
          <a:p>
            <a:endParaRPr lang="en-IN" dirty="0"/>
          </a:p>
        </p:txBody>
      </p:sp>
      <p:pic>
        <p:nvPicPr>
          <p:cNvPr id="4" name="Picture 3">
            <a:extLst>
              <a:ext uri="{FF2B5EF4-FFF2-40B4-BE49-F238E27FC236}">
                <a16:creationId xmlns:a16="http://schemas.microsoft.com/office/drawing/2014/main" id="{639E8EF4-3DC0-E1A9-C3E9-8F4346325881}"/>
              </a:ext>
            </a:extLst>
          </p:cNvPr>
          <p:cNvPicPr>
            <a:picLocks noChangeAspect="1"/>
          </p:cNvPicPr>
          <p:nvPr/>
        </p:nvPicPr>
        <p:blipFill>
          <a:blip r:embed="rId2"/>
          <a:stretch>
            <a:fillRect/>
          </a:stretch>
        </p:blipFill>
        <p:spPr>
          <a:xfrm>
            <a:off x="0" y="723900"/>
            <a:ext cx="12192000" cy="6007100"/>
          </a:xfrm>
          <a:prstGeom prst="rect">
            <a:avLst/>
          </a:prstGeom>
        </p:spPr>
      </p:pic>
    </p:spTree>
    <p:extLst>
      <p:ext uri="{BB962C8B-B14F-4D97-AF65-F5344CB8AC3E}">
        <p14:creationId xmlns:p14="http://schemas.microsoft.com/office/powerpoint/2010/main" val="1928215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6CC5-AD5C-22A0-8CD1-78C8F4F0F6A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E4BF74B-0204-2936-F05A-30F0C3B20036}"/>
              </a:ext>
            </a:extLst>
          </p:cNvPr>
          <p:cNvSpPr txBox="1"/>
          <p:nvPr/>
        </p:nvSpPr>
        <p:spPr>
          <a:xfrm>
            <a:off x="3048918" y="3247088"/>
            <a:ext cx="6097836" cy="369332"/>
          </a:xfrm>
          <a:prstGeom prst="rect">
            <a:avLst/>
          </a:prstGeom>
          <a:noFill/>
        </p:spPr>
        <p:txBody>
          <a:bodyPr wrap="square">
            <a:spAutoFit/>
          </a:bodyPr>
          <a:lstStyle/>
          <a:p>
            <a:endParaRPr lang="en-IN" dirty="0"/>
          </a:p>
        </p:txBody>
      </p:sp>
      <p:sp>
        <p:nvSpPr>
          <p:cNvPr id="9" name="TextBox 8">
            <a:extLst>
              <a:ext uri="{FF2B5EF4-FFF2-40B4-BE49-F238E27FC236}">
                <a16:creationId xmlns:a16="http://schemas.microsoft.com/office/drawing/2014/main" id="{F424BB6D-E74C-0F56-AE21-C2CE8A219ECF}"/>
              </a:ext>
            </a:extLst>
          </p:cNvPr>
          <p:cNvSpPr txBox="1"/>
          <p:nvPr/>
        </p:nvSpPr>
        <p:spPr>
          <a:xfrm>
            <a:off x="3048918" y="3247088"/>
            <a:ext cx="6097836" cy="369332"/>
          </a:xfrm>
          <a:prstGeom prst="rect">
            <a:avLst/>
          </a:prstGeom>
          <a:noFill/>
        </p:spPr>
        <p:txBody>
          <a:bodyPr wrap="square">
            <a:spAutoFit/>
          </a:bodyPr>
          <a:lstStyle/>
          <a:p>
            <a:endParaRPr lang="en-IN" dirty="0"/>
          </a:p>
        </p:txBody>
      </p:sp>
      <p:pic>
        <p:nvPicPr>
          <p:cNvPr id="4" name="Picture 3">
            <a:extLst>
              <a:ext uri="{FF2B5EF4-FFF2-40B4-BE49-F238E27FC236}">
                <a16:creationId xmlns:a16="http://schemas.microsoft.com/office/drawing/2014/main" id="{70F6A8BE-FF5E-67C0-4AA3-379A615456B2}"/>
              </a:ext>
            </a:extLst>
          </p:cNvPr>
          <p:cNvPicPr>
            <a:picLocks noChangeAspect="1"/>
          </p:cNvPicPr>
          <p:nvPr/>
        </p:nvPicPr>
        <p:blipFill>
          <a:blip r:embed="rId2"/>
          <a:stretch>
            <a:fillRect/>
          </a:stretch>
        </p:blipFill>
        <p:spPr>
          <a:xfrm>
            <a:off x="0" y="800100"/>
            <a:ext cx="12192000" cy="5930900"/>
          </a:xfrm>
          <a:prstGeom prst="rect">
            <a:avLst/>
          </a:prstGeom>
        </p:spPr>
      </p:pic>
    </p:spTree>
    <p:extLst>
      <p:ext uri="{BB962C8B-B14F-4D97-AF65-F5344CB8AC3E}">
        <p14:creationId xmlns:p14="http://schemas.microsoft.com/office/powerpoint/2010/main" val="1137702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5B39E-1AF6-960D-E9BA-85A2FB747F35}"/>
            </a:ext>
          </a:extLst>
        </p:cNvPr>
        <p:cNvGrpSpPr/>
        <p:nvPr/>
      </p:nvGrpSpPr>
      <p:grpSpPr>
        <a:xfrm>
          <a:off x="0" y="0"/>
          <a:ext cx="0" cy="0"/>
          <a:chOff x="0" y="0"/>
          <a:chExt cx="0" cy="0"/>
        </a:xfrm>
      </p:grpSpPr>
      <p:sp>
        <p:nvSpPr>
          <p:cNvPr id="20487" name="TextBox 7">
            <a:extLst>
              <a:ext uri="{FF2B5EF4-FFF2-40B4-BE49-F238E27FC236}">
                <a16:creationId xmlns:a16="http://schemas.microsoft.com/office/drawing/2014/main" id="{40DFC7D9-6091-71C5-DD27-0F6AF6705146}"/>
              </a:ext>
            </a:extLst>
          </p:cNvPr>
          <p:cNvSpPr txBox="1">
            <a:spLocks noChangeArrowheads="1"/>
          </p:cNvSpPr>
          <p:nvPr/>
        </p:nvSpPr>
        <p:spPr bwMode="auto">
          <a:xfrm>
            <a:off x="685800" y="723901"/>
            <a:ext cx="10820400" cy="71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endParaRPr lang="en-US" altLang="en-US" sz="4800" b="1" dirty="0">
              <a:solidFill>
                <a:srgbClr val="222222"/>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F000DA1-0D09-CD4A-76AD-1860BEB3556A}"/>
              </a:ext>
            </a:extLst>
          </p:cNvPr>
          <p:cNvSpPr txBox="1"/>
          <p:nvPr/>
        </p:nvSpPr>
        <p:spPr>
          <a:xfrm>
            <a:off x="3048918" y="3247088"/>
            <a:ext cx="6097836" cy="369332"/>
          </a:xfrm>
          <a:prstGeom prst="rect">
            <a:avLst/>
          </a:prstGeom>
          <a:noFill/>
        </p:spPr>
        <p:txBody>
          <a:bodyPr wrap="square">
            <a:spAutoFit/>
          </a:bodyPr>
          <a:lstStyle/>
          <a:p>
            <a:endParaRPr lang="en-IN" dirty="0"/>
          </a:p>
        </p:txBody>
      </p:sp>
      <p:sp>
        <p:nvSpPr>
          <p:cNvPr id="9" name="TextBox 8">
            <a:extLst>
              <a:ext uri="{FF2B5EF4-FFF2-40B4-BE49-F238E27FC236}">
                <a16:creationId xmlns:a16="http://schemas.microsoft.com/office/drawing/2014/main" id="{8B494DAB-8A81-E932-A8E8-38E955A0BB1C}"/>
              </a:ext>
            </a:extLst>
          </p:cNvPr>
          <p:cNvSpPr txBox="1"/>
          <p:nvPr/>
        </p:nvSpPr>
        <p:spPr>
          <a:xfrm>
            <a:off x="3048918" y="3247088"/>
            <a:ext cx="6097836" cy="369332"/>
          </a:xfrm>
          <a:prstGeom prst="rect">
            <a:avLst/>
          </a:prstGeom>
          <a:noFill/>
        </p:spPr>
        <p:txBody>
          <a:bodyPr wrap="square">
            <a:spAutoFit/>
          </a:bodyPr>
          <a:lstStyle/>
          <a:p>
            <a:endParaRPr lang="en-IN" dirty="0"/>
          </a:p>
        </p:txBody>
      </p:sp>
      <p:pic>
        <p:nvPicPr>
          <p:cNvPr id="4" name="Picture 3">
            <a:extLst>
              <a:ext uri="{FF2B5EF4-FFF2-40B4-BE49-F238E27FC236}">
                <a16:creationId xmlns:a16="http://schemas.microsoft.com/office/drawing/2014/main" id="{F3DE43DD-D1A5-CC96-B268-AD784A378DC8}"/>
              </a:ext>
            </a:extLst>
          </p:cNvPr>
          <p:cNvPicPr>
            <a:picLocks noChangeAspect="1"/>
          </p:cNvPicPr>
          <p:nvPr/>
        </p:nvPicPr>
        <p:blipFill>
          <a:blip r:embed="rId2"/>
          <a:stretch>
            <a:fillRect/>
          </a:stretch>
        </p:blipFill>
        <p:spPr>
          <a:xfrm>
            <a:off x="0" y="723901"/>
            <a:ext cx="12192000" cy="5981700"/>
          </a:xfrm>
          <a:prstGeom prst="rect">
            <a:avLst/>
          </a:prstGeom>
        </p:spPr>
      </p:pic>
    </p:spTree>
    <p:extLst>
      <p:ext uri="{BB962C8B-B14F-4D97-AF65-F5344CB8AC3E}">
        <p14:creationId xmlns:p14="http://schemas.microsoft.com/office/powerpoint/2010/main" val="34864663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p:cNvSpPr/>
          <p:nvPr/>
        </p:nvSpPr>
        <p:spPr>
          <a:xfrm>
            <a:off x="2672640" y="2274838"/>
            <a:ext cx="7111304" cy="2308324"/>
          </a:xfrm>
          <a:prstGeom prst="rect">
            <a:avLst/>
          </a:prstGeom>
          <a:ln>
            <a:noFill/>
          </a:ln>
        </p:spPr>
        <p:txBody>
          <a:bodyPr wrap="square" lIns="91440" tIns="45720" rIns="91440" bIns="45720">
            <a:spAutoFit/>
          </a:bodyPr>
          <a:lstStyle/>
          <a:p>
            <a:pPr algn="ctr"/>
            <a:r>
              <a:rPr lang="en-US" sz="72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THANKS</a:t>
            </a:r>
          </a:p>
          <a:p>
            <a:pPr algn="ctr"/>
            <a:r>
              <a:rPr lang="en-IN" sz="72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Any Queries!</a:t>
            </a:r>
            <a:endParaRPr lang="en-US" sz="72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3591892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Retrospect</Template>
  <TotalTime>3481</TotalTime>
  <Words>1536</Words>
  <Application>Microsoft Office PowerPoint</Application>
  <PresentationFormat>Widescreen</PresentationFormat>
  <Paragraphs>184</Paragraphs>
  <Slides>36</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Aptos</vt:lpstr>
      <vt:lpstr>Arial</vt:lpstr>
      <vt:lpstr>Bahnschrift</vt:lpstr>
      <vt:lpstr>Calibri</vt:lpstr>
      <vt:lpstr>Calibri Light</vt:lpstr>
      <vt:lpstr>Inter</vt:lpstr>
      <vt:lpstr>Times Neue Roman</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Additional Tools / Activities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EDU-Revolution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CSE211</dc:title>
  <dc:creator>lovi raj gupta</dc:creator>
  <cp:lastModifiedBy>Ajay Kumar Badhan</cp:lastModifiedBy>
  <cp:revision>193</cp:revision>
  <dcterms:created xsi:type="dcterms:W3CDTF">2024-12-19T08:47:23Z</dcterms:created>
  <dcterms:modified xsi:type="dcterms:W3CDTF">2026-07-27T06:46:09Z</dcterms:modified>
</cp:coreProperties>
</file>